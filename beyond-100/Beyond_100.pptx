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" Target="slide1.xml"/><Relationship Id="rId7" Type="http://schemas.openxmlformats.org/officeDocument/2006/relationships/slide" Target="slide2.xml"/><Relationship Id="rId8" Type="http://schemas.openxmlformats.org/officeDocument/2006/relationships/slide" Target="slide3.xml"/><Relationship Id="rId9" Type="http://schemas.openxmlformats.org/officeDocument/2006/relationships/slide" Target="slide4.xml"/><Relationship Id="rId10" Type="http://schemas.openxmlformats.org/officeDocument/2006/relationships/slide" Target="slide5.xml"/><Relationship Id="rId11" Type="http://schemas.openxmlformats.org/officeDocument/2006/relationships/slide" Target="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slide" Target="slide1.xml"/><Relationship Id="rId14" Type="http://schemas.openxmlformats.org/officeDocument/2006/relationships/slide" Target="slide2.xml"/><Relationship Id="rId15" Type="http://schemas.openxmlformats.org/officeDocument/2006/relationships/slide" Target="slide3.xml"/><Relationship Id="rId16" Type="http://schemas.openxmlformats.org/officeDocument/2006/relationships/slide" Target="slide4.xml"/><Relationship Id="rId17" Type="http://schemas.openxmlformats.org/officeDocument/2006/relationships/slide" Target="slide5.xml"/><Relationship Id="rId18" Type="http://schemas.openxmlformats.org/officeDocument/2006/relationships/slide" Target="slide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2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slide" Target="slide1.xml"/><Relationship Id="rId9" Type="http://schemas.openxmlformats.org/officeDocument/2006/relationships/slide" Target="slide2.xml"/><Relationship Id="rId10" Type="http://schemas.openxmlformats.org/officeDocument/2006/relationships/slide" Target="slide3.xml"/><Relationship Id="rId11" Type="http://schemas.openxmlformats.org/officeDocument/2006/relationships/slide" Target="slide4.xml"/><Relationship Id="rId12" Type="http://schemas.openxmlformats.org/officeDocument/2006/relationships/slide" Target="slide5.xml"/><Relationship Id="rId13" Type="http://schemas.openxmlformats.org/officeDocument/2006/relationships/slide" Target="slide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18.png"/><Relationship Id="rId8" Type="http://schemas.openxmlformats.org/officeDocument/2006/relationships/slide" Target="slide1.xml"/><Relationship Id="rId9" Type="http://schemas.openxmlformats.org/officeDocument/2006/relationships/slide" Target="slide2.xml"/><Relationship Id="rId10" Type="http://schemas.openxmlformats.org/officeDocument/2006/relationships/slide" Target="slide3.xml"/><Relationship Id="rId11" Type="http://schemas.openxmlformats.org/officeDocument/2006/relationships/slide" Target="slide4.xml"/><Relationship Id="rId12" Type="http://schemas.openxmlformats.org/officeDocument/2006/relationships/slide" Target="slide5.xml"/><Relationship Id="rId13" Type="http://schemas.openxmlformats.org/officeDocument/2006/relationships/slide" Target="slide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22.png"/><Relationship Id="rId7" Type="http://schemas.openxmlformats.org/officeDocument/2006/relationships/hyperlink" Target="https://www.python.org" TargetMode="External"/><Relationship Id="rId8" Type="http://schemas.openxmlformats.org/officeDocument/2006/relationships/image" Target="../media/image18.png"/><Relationship Id="rId9" Type="http://schemas.openxmlformats.org/officeDocument/2006/relationships/hyperlink" Target="https://pandas.pydata.org" TargetMode="External"/><Relationship Id="rId10" Type="http://schemas.openxmlformats.org/officeDocument/2006/relationships/image" Target="../media/image23.png"/><Relationship Id="rId11" Type="http://schemas.openxmlformats.org/officeDocument/2006/relationships/hyperlink" Target="https://scikit-learn.org" TargetMode="External"/><Relationship Id="rId12" Type="http://schemas.openxmlformats.org/officeDocument/2006/relationships/image" Target="../media/image10.png"/><Relationship Id="rId13" Type="http://schemas.openxmlformats.org/officeDocument/2006/relationships/hyperlink" Target="https://lightgbm.readthedocs.io" TargetMode="External"/><Relationship Id="rId14" Type="http://schemas.openxmlformats.org/officeDocument/2006/relationships/image" Target="../media/image9.png"/><Relationship Id="rId15" Type="http://schemas.openxmlformats.org/officeDocument/2006/relationships/hyperlink" Target="https://xgboost.readthedocs.io" TargetMode="External"/><Relationship Id="rId16" Type="http://schemas.openxmlformats.org/officeDocument/2006/relationships/image" Target="../media/image24.png"/><Relationship Id="rId17" Type="http://schemas.openxmlformats.org/officeDocument/2006/relationships/hyperlink" Target="https://pytorch.org" TargetMode="External"/><Relationship Id="rId18" Type="http://schemas.openxmlformats.org/officeDocument/2006/relationships/image" Target="../media/image25.png"/><Relationship Id="rId19" Type="http://schemas.openxmlformats.org/officeDocument/2006/relationships/hyperlink" Target="https://huggingface.co" TargetMode="External"/><Relationship Id="rId20" Type="http://schemas.openxmlformats.org/officeDocument/2006/relationships/slide" Target="slide1.xml"/><Relationship Id="rId21" Type="http://schemas.openxmlformats.org/officeDocument/2006/relationships/slide" Target="slide2.xml"/><Relationship Id="rId22" Type="http://schemas.openxmlformats.org/officeDocument/2006/relationships/slide" Target="slide3.xml"/><Relationship Id="rId23" Type="http://schemas.openxmlformats.org/officeDocument/2006/relationships/slide" Target="slide4.xml"/><Relationship Id="rId24" Type="http://schemas.openxmlformats.org/officeDocument/2006/relationships/slide" Target="slide5.xml"/><Relationship Id="rId25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slide" Target="slide1.xml"/><Relationship Id="rId9" Type="http://schemas.openxmlformats.org/officeDocument/2006/relationships/slide" Target="slide2.xml"/><Relationship Id="rId10" Type="http://schemas.openxmlformats.org/officeDocument/2006/relationships/slide" Target="slide3.xml"/><Relationship Id="rId11" Type="http://schemas.openxmlformats.org/officeDocument/2006/relationships/slide" Target="slide4.xml"/><Relationship Id="rId12" Type="http://schemas.openxmlformats.org/officeDocument/2006/relationships/slide" Target="slide5.xml"/><Relationship Id="rId13" Type="http://schemas.openxmlformats.org/officeDocument/2006/relationships/slide" Target="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554480"/>
            <a:ext cx="6126480" cy="1600200"/>
          </a:xfrm>
        </p:spPr>
        <p:txBody>
          <a:bodyPr wrap="square" lIns="0" tIns="0" rIns="0" bIns="0" anchor="t"/>
          <a:lstStyle/>
          <a:p>
            <a:pPr algn="l"/>
            <a:r>
              <a:rPr sz="4600" b="1" i="0">
                <a:solidFill>
                  <a:srgbClr val="FFFFFF"/>
                </a:solidFill>
                <a:latin typeface="Cambria"/>
              </a:rPr>
              <a:t>Can 100% Accuracy
Be Trusted?</a:t>
            </a:r>
          </a:p>
        </p:txBody>
      </p:sp>
      <p:sp>
        <p:nvSpPr>
          <p:cNvPr id="3" name="icon-bg-shield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2D7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icon-shield" descr="shield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" y="480060"/>
            <a:ext cx="265176" cy="2651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384048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spc="200">
                <a:solidFill>
                  <a:srgbClr val="FFFFFF"/>
                </a:solidFill>
                <a:latin typeface="Calibri"/>
              </a:rPr>
              <a:t>BEYOND 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84048"/>
            <a:ext cx="52395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9FB3CC"/>
                </a:solidFill>
                <a:latin typeface="Calibri"/>
              </a:rPr>
              <a:t>IEEE paper review  ·  Network anomaly detection</a:t>
            </a:r>
          </a:p>
        </p:txBody>
      </p:sp>
      <p:sp>
        <p:nvSpPr>
          <p:cNvPr id="7" name="kicker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F2A900"/>
                </a:solidFill>
                <a:latin typeface="Calibri"/>
              </a:rPr>
              <a:t>01  ·  THE PROBLEM</a:t>
            </a:r>
          </a:p>
        </p:txBody>
      </p:sp>
      <p:sp>
        <p:nvSpPr>
          <p:cNvPr id="8" name="icon-bg-warning"/>
          <p:cNvSpPr/>
          <p:nvPr/>
        </p:nvSpPr>
        <p:spPr>
          <a:xfrm>
            <a:off x="548640" y="3246120"/>
            <a:ext cx="512064" cy="512064"/>
          </a:xfrm>
          <a:prstGeom prst="ellipse">
            <a:avLst/>
          </a:prstGeom>
          <a:solidFill>
            <a:srgbClr val="2D7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icon-warning" descr="warning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173" y="3353653"/>
            <a:ext cx="296997" cy="2969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80160" y="3246120"/>
            <a:ext cx="51206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Network attacks are getting harder to detect</a:t>
            </a:r>
          </a:p>
        </p:txBody>
      </p:sp>
      <p:sp>
        <p:nvSpPr>
          <p:cNvPr id="11" name="icon-bg-chip"/>
          <p:cNvSpPr/>
          <p:nvPr/>
        </p:nvSpPr>
        <p:spPr>
          <a:xfrm>
            <a:off x="548640" y="3904487"/>
            <a:ext cx="512064" cy="512064"/>
          </a:xfrm>
          <a:prstGeom prst="ellipse">
            <a:avLst/>
          </a:prstGeom>
          <a:solidFill>
            <a:srgbClr val="2D7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con-chip" descr="chip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173" y="4012021"/>
            <a:ext cx="296997" cy="29699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80160" y="3904487"/>
            <a:ext cx="51206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Machine learning can flag unusual traffic</a:t>
            </a:r>
          </a:p>
        </p:txBody>
      </p:sp>
      <p:sp>
        <p:nvSpPr>
          <p:cNvPr id="14" name="icon-bg-paper"/>
          <p:cNvSpPr/>
          <p:nvPr/>
        </p:nvSpPr>
        <p:spPr>
          <a:xfrm>
            <a:off x="548640" y="4562856"/>
            <a:ext cx="512064" cy="512064"/>
          </a:xfrm>
          <a:prstGeom prst="ellipse">
            <a:avLst/>
          </a:prstGeom>
          <a:solidFill>
            <a:srgbClr val="2D7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con-paper" descr="paper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173" y="4670389"/>
            <a:ext cx="296997" cy="29699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80160" y="4562856"/>
            <a:ext cx="51206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A recent IEEE paper tested several ML models</a:t>
            </a:r>
          </a:p>
        </p:txBody>
      </p:sp>
      <p:sp>
        <p:nvSpPr>
          <p:cNvPr id="17" name="stat-card"/>
          <p:cNvSpPr/>
          <p:nvPr/>
        </p:nvSpPr>
        <p:spPr>
          <a:xfrm>
            <a:off x="6858000" y="1280160"/>
            <a:ext cx="4782312" cy="3931920"/>
          </a:xfrm>
          <a:prstGeom prst="roundRect">
            <a:avLst>
              <a:gd name="adj" fmla="val 5000"/>
            </a:avLst>
          </a:prstGeom>
          <a:solidFill>
            <a:srgbClr val="13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155448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9FB3CC"/>
                </a:solidFill>
                <a:latin typeface="Calibri"/>
              </a:rPr>
              <a:t>LightGBM on KDD'99  ·  as reported by the paper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011680"/>
            <a:ext cx="17830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mbria"/>
              </a:rPr>
              <a:t>1.00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971800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9FB3CC"/>
                </a:solidFill>
                <a:latin typeface="Calibri"/>
              </a:rPr>
              <a:t>Training accuracy</a:t>
            </a:r>
          </a:p>
        </p:txBody>
      </p:sp>
      <p:sp>
        <p:nvSpPr>
          <p:cNvPr id="21" name="arrow"/>
          <p:cNvSpPr/>
          <p:nvPr/>
        </p:nvSpPr>
        <p:spPr>
          <a:xfrm>
            <a:off x="8869680" y="2304288"/>
            <a:ext cx="777240" cy="384048"/>
          </a:xfrm>
          <a:prstGeom prst="rightArrow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2011680"/>
            <a:ext cx="15087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000" b="1" i="0">
                <a:solidFill>
                  <a:srgbClr val="F2A900"/>
                </a:solidFill>
                <a:latin typeface="Cambria"/>
              </a:rPr>
              <a:t>0.85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2971800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9FB3CC"/>
                </a:solidFill>
                <a:latin typeface="Calibri"/>
              </a:rPr>
              <a:t>Test accuracy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78040" y="3611880"/>
            <a:ext cx="4142232" cy="658368"/>
          </a:xfrm>
          <a:prstGeom prst="roundRect">
            <a:avLst>
              <a:gd name="adj" fmla="val 15000"/>
            </a:avLst>
          </a:prstGeom>
          <a:solidFill>
            <a:srgbClr val="1B4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600" b="1" i="0">
                <a:solidFill>
                  <a:srgbClr val="F2A900"/>
                </a:solidFill>
                <a:latin typeface="Calibri"/>
              </a:rPr>
              <a:t>15-point gap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 on the paper's own dataset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4480560"/>
            <a:ext cx="414223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FB3CC"/>
                </a:solidFill>
                <a:latin typeface="Calibri"/>
              </a:rPr>
              <a:t>Source: Ness et al., IEEE Access, vol. 13, pp. 16133–16149, 2025 (abstract)</a:t>
            </a:r>
          </a:p>
        </p:txBody>
      </p:sp>
      <p:sp>
        <p:nvSpPr>
          <p:cNvPr id="26" name="question-bar"/>
          <p:cNvSpPr/>
          <p:nvPr/>
        </p:nvSpPr>
        <p:spPr>
          <a:xfrm>
            <a:off x="548640" y="5440680"/>
            <a:ext cx="11091672" cy="749808"/>
          </a:xfrm>
          <a:prstGeom prst="roundRect">
            <a:avLst>
              <a:gd name="adj" fmla="val 12000"/>
            </a:avLst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0" rIns="182880" bIns="0"/>
          <a:lstStyle/>
          <a:p>
            <a:pPr algn="l"/>
            <a:r>
              <a:rPr sz="1800" b="1" i="0">
                <a:solidFill>
                  <a:srgbClr val="F2A900"/>
                </a:solidFill>
                <a:latin typeface="Calibri"/>
              </a:rPr>
              <a:t>Our question 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Does this performance remain good on new and different network traffic?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548640" y="6428232"/>
            <a:ext cx="84124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9FB3CC"/>
                </a:solidFill>
                <a:latin typeface="Calibri"/>
              </a:rPr>
              <a:t>Beyond 100%  ·  Testing and Improving ML-Based Network Attack Detection</a:t>
            </a:r>
          </a:p>
        </p:txBody>
      </p:sp>
      <p:sp>
        <p:nvSpPr>
          <p:cNvPr id="28" name="nav-1">
            <a:hlinkClick action="ppaction://hlinksldjump" r:id="rId6"/>
          </p:cNvPr>
          <p:cNvSpPr/>
          <p:nvPr/>
        </p:nvSpPr>
        <p:spPr>
          <a:xfrm>
            <a:off x="9628632" y="6400800"/>
            <a:ext cx="274320" cy="274320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29" name="nav-2">
            <a:hlinkClick action="ppaction://hlinksldjump" r:id="rId7"/>
          </p:cNvPr>
          <p:cNvSpPr/>
          <p:nvPr/>
        </p:nvSpPr>
        <p:spPr>
          <a:xfrm>
            <a:off x="9976104" y="6400800"/>
            <a:ext cx="274320" cy="274320"/>
          </a:xfrm>
          <a:prstGeom prst="ellipse">
            <a:avLst/>
          </a:prstGeom>
          <a:noFill/>
          <a:ln w="12700">
            <a:solidFill>
              <a:srgbClr val="9FB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9FB3CC"/>
                </a:solidFill>
                <a:latin typeface="Calibri"/>
              </a:rPr>
              <a:t>2</a:t>
            </a:r>
          </a:p>
        </p:txBody>
      </p:sp>
      <p:sp>
        <p:nvSpPr>
          <p:cNvPr id="30" name="nav-3">
            <a:hlinkClick action="ppaction://hlinksldjump" r:id="rId8"/>
          </p:cNvPr>
          <p:cNvSpPr/>
          <p:nvPr/>
        </p:nvSpPr>
        <p:spPr>
          <a:xfrm>
            <a:off x="10323576" y="6400800"/>
            <a:ext cx="274320" cy="274320"/>
          </a:xfrm>
          <a:prstGeom prst="ellipse">
            <a:avLst/>
          </a:prstGeom>
          <a:noFill/>
          <a:ln w="12700">
            <a:solidFill>
              <a:srgbClr val="9FB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9FB3CC"/>
                </a:solidFill>
                <a:latin typeface="Calibri"/>
              </a:rPr>
              <a:t>3</a:t>
            </a:r>
          </a:p>
        </p:txBody>
      </p:sp>
      <p:sp>
        <p:nvSpPr>
          <p:cNvPr id="31" name="nav-4">
            <a:hlinkClick action="ppaction://hlinksldjump" r:id="rId9"/>
          </p:cNvPr>
          <p:cNvSpPr/>
          <p:nvPr/>
        </p:nvSpPr>
        <p:spPr>
          <a:xfrm>
            <a:off x="10671048" y="6400800"/>
            <a:ext cx="274320" cy="274320"/>
          </a:xfrm>
          <a:prstGeom prst="ellipse">
            <a:avLst/>
          </a:prstGeom>
          <a:noFill/>
          <a:ln w="12700">
            <a:solidFill>
              <a:srgbClr val="9FB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9FB3CC"/>
                </a:solidFill>
                <a:latin typeface="Calibri"/>
              </a:rPr>
              <a:t>4</a:t>
            </a:r>
          </a:p>
        </p:txBody>
      </p:sp>
      <p:sp>
        <p:nvSpPr>
          <p:cNvPr id="32" name="nav-5">
            <a:hlinkClick action="ppaction://hlinksldjump" r:id="rId10"/>
          </p:cNvPr>
          <p:cNvSpPr/>
          <p:nvPr/>
        </p:nvSpPr>
        <p:spPr>
          <a:xfrm>
            <a:off x="11018519" y="6400800"/>
            <a:ext cx="274320" cy="274320"/>
          </a:xfrm>
          <a:prstGeom prst="ellipse">
            <a:avLst/>
          </a:prstGeom>
          <a:noFill/>
          <a:ln w="12700">
            <a:solidFill>
              <a:srgbClr val="9FB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9FB3CC"/>
                </a:solidFill>
                <a:latin typeface="Calibri"/>
              </a:rPr>
              <a:t>5</a:t>
            </a:r>
          </a:p>
        </p:txBody>
      </p:sp>
      <p:sp>
        <p:nvSpPr>
          <p:cNvPr id="33" name="nav-6">
            <a:hlinkClick action="ppaction://hlinksldjump" r:id="rId11"/>
          </p:cNvPr>
          <p:cNvSpPr/>
          <p:nvPr/>
        </p:nvSpPr>
        <p:spPr>
          <a:xfrm>
            <a:off x="11365992" y="6400800"/>
            <a:ext cx="274320" cy="274320"/>
          </a:xfrm>
          <a:prstGeom prst="ellipse">
            <a:avLst/>
          </a:prstGeom>
          <a:noFill/>
          <a:ln w="12700">
            <a:solidFill>
              <a:srgbClr val="9FB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9FB3C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66928"/>
            <a:ext cx="11064240" cy="731520"/>
          </a:xfrm>
        </p:spPr>
        <p:txBody>
          <a:bodyPr wrap="square" lIns="0" tIns="0" rIns="0" bIns="0" anchor="t"/>
          <a:lstStyle/>
          <a:p>
            <a:pPr algn="l"/>
            <a:r>
              <a:rPr sz="3600" b="1" i="0">
                <a:solidFill>
                  <a:srgbClr val="0B1F3A"/>
                </a:solidFill>
                <a:latin typeface="Cambria"/>
              </a:rPr>
              <a:t>What Did the Paper Do?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548640" y="3017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0B5CAD"/>
                </a:solidFill>
                <a:latin typeface="Calibri"/>
              </a:rPr>
              <a:t>02  ·  THE PAPER</a:t>
            </a:r>
          </a:p>
        </p:txBody>
      </p:sp>
      <p:sp>
        <p:nvSpPr>
          <p:cNvPr id="4" name="paper-card"/>
          <p:cNvSpPr/>
          <p:nvPr/>
        </p:nvSpPr>
        <p:spPr>
          <a:xfrm>
            <a:off x="548640" y="1463040"/>
            <a:ext cx="475488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con-bg-paper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-paper" descr="paper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1787652"/>
            <a:ext cx="265176" cy="2651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17320" y="1664208"/>
            <a:ext cx="37033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3233A"/>
                </a:solidFill>
                <a:latin typeface="Calibri"/>
              </a:rPr>
              <a:t>Anomaly Detection in Network Traffic Using Advanced Machine Learning Techniques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4297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A6B80"/>
                </a:solidFill>
                <a:latin typeface="Calibri"/>
              </a:rPr>
              <a:t>S. Ness et al.  ·  IEEE Access, vol. 13, pp. 16133–16149,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9184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5A6B80"/>
                </a:solidFill>
                <a:latin typeface="Calibri"/>
              </a:rPr>
              <a:t>DATASET</a:t>
            </a:r>
          </a:p>
        </p:txBody>
      </p:sp>
      <p:sp>
        <p:nvSpPr>
          <p:cNvPr id="10" name="icon-bg-db"/>
          <p:cNvSpPr/>
          <p:nvPr/>
        </p:nvSpPr>
        <p:spPr>
          <a:xfrm>
            <a:off x="777240" y="3493008"/>
            <a:ext cx="384048" cy="384048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-db" descr="db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90" y="3573658"/>
            <a:ext cx="222747" cy="22274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80160" y="3493008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13233A"/>
                </a:solidFill>
                <a:latin typeface="Calibri"/>
              </a:rPr>
              <a:t>KDD Cup 1999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463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3233A"/>
                </a:solidFill>
                <a:latin typeface="Calibri"/>
              </a:rPr>
              <a:t>Models compared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1828800"/>
            <a:ext cx="1874519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con-bg-isolation"/>
          <p:cNvSpPr/>
          <p:nvPr/>
        </p:nvSpPr>
        <p:spPr>
          <a:xfrm>
            <a:off x="5779008" y="2025395"/>
            <a:ext cx="384048" cy="384048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-isolation" descr="isolation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9658" y="2106046"/>
            <a:ext cx="222747" cy="22274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54496" y="1828800"/>
            <a:ext cx="1216151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3233A"/>
                </a:solidFill>
                <a:latin typeface="Calibri"/>
              </a:rPr>
              <a:t>Isolation Forest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17536" y="1828800"/>
            <a:ext cx="1874519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con-bg-venn"/>
          <p:cNvSpPr/>
          <p:nvPr/>
        </p:nvSpPr>
        <p:spPr>
          <a:xfrm>
            <a:off x="7827263" y="2025395"/>
            <a:ext cx="384048" cy="384048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con-venn" descr="venn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914" y="2106046"/>
            <a:ext cx="222747" cy="22274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02751" y="1828800"/>
            <a:ext cx="1216151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3233A"/>
                </a:solidFill>
                <a:latin typeface="Calibri"/>
              </a:rPr>
              <a:t>Naive Bayes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65792" y="1828800"/>
            <a:ext cx="1874519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con-bg-svm"/>
          <p:cNvSpPr/>
          <p:nvPr/>
        </p:nvSpPr>
        <p:spPr>
          <a:xfrm>
            <a:off x="9875519" y="2025395"/>
            <a:ext cx="384048" cy="384048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icon-svm" descr="svm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6170" y="2106046"/>
            <a:ext cx="222747" cy="22274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351007" y="1828800"/>
            <a:ext cx="1216151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3233A"/>
                </a:solidFill>
                <a:latin typeface="Calibri"/>
              </a:rPr>
              <a:t>SVM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0" y="2788920"/>
            <a:ext cx="1874519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con-bg-bolt"/>
          <p:cNvSpPr/>
          <p:nvPr/>
        </p:nvSpPr>
        <p:spPr>
          <a:xfrm>
            <a:off x="5779008" y="2985515"/>
            <a:ext cx="384048" cy="384048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icon-bolt" descr="bolt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9658" y="3066166"/>
            <a:ext cx="222747" cy="22274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254496" y="2788920"/>
            <a:ext cx="1216151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3233A"/>
                </a:solidFill>
                <a:latin typeface="Calibri"/>
              </a:rPr>
              <a:t>XGBoost</a:t>
            </a:r>
          </a:p>
        </p:txBody>
      </p:sp>
      <p:sp>
        <p:nvSpPr>
          <p:cNvPr id="30" name="lightgbm-chip"/>
          <p:cNvSpPr/>
          <p:nvPr/>
        </p:nvSpPr>
        <p:spPr>
          <a:xfrm>
            <a:off x="7717536" y="2788920"/>
            <a:ext cx="3922776" cy="777240"/>
          </a:xfrm>
          <a:prstGeom prst="roundRect">
            <a:avLst>
              <a:gd name="adj" fmla="val 20000"/>
            </a:avLst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con-bg-leaf"/>
          <p:cNvSpPr/>
          <p:nvPr/>
        </p:nvSpPr>
        <p:spPr>
          <a:xfrm>
            <a:off x="7827263" y="2985515"/>
            <a:ext cx="384048" cy="384048"/>
          </a:xfrm>
          <a:prstGeom prst="ellipse">
            <a:avLst/>
          </a:prstGeom>
          <a:solidFill>
            <a:srgbClr val="2D7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icon-leaf" descr="leaf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7914" y="3066166"/>
            <a:ext cx="222747" cy="22274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302752" y="2788920"/>
            <a:ext cx="32004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LightGBM</a:t>
            </a:r>
          </a:p>
          <a:p>
            <a:pPr algn="l"/>
            <a:r>
              <a:rPr sz="1200" b="0" i="0">
                <a:solidFill>
                  <a:srgbClr val="CFE0F5"/>
                </a:solidFill>
                <a:latin typeface="Calibri"/>
              </a:rPr>
              <a:t>best result in the paper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224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3233A"/>
                </a:solidFill>
                <a:latin typeface="Calibri"/>
              </a:rPr>
              <a:t>How they did 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572000"/>
            <a:ext cx="1920240" cy="8686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con-bg-db"/>
          <p:cNvSpPr/>
          <p:nvPr/>
        </p:nvSpPr>
        <p:spPr>
          <a:xfrm>
            <a:off x="676656" y="4796028"/>
            <a:ext cx="420624" cy="420624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con-db" descr="db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987" y="4884359"/>
            <a:ext cx="243961" cy="243961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188720" y="4572000"/>
            <a:ext cx="117043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3233A"/>
                </a:solidFill>
                <a:latin typeface="Calibri"/>
              </a:rPr>
              <a:t>Network data</a:t>
            </a:r>
          </a:p>
        </p:txBody>
      </p:sp>
      <p:cxnSp>
        <p:nvCxnSpPr>
          <p:cNvPr id="39" name="flow-arrow"/>
          <p:cNvCxnSpPr/>
          <p:nvPr/>
        </p:nvCxnSpPr>
        <p:spPr>
          <a:xfrm>
            <a:off x="2514600" y="5006340"/>
            <a:ext cx="281178" cy="0"/>
          </a:xfrm>
          <a:prstGeom prst="line">
            <a:avLst/>
          </a:prstGeom>
          <a:ln w="25400">
            <a:solidFill>
              <a:srgbClr val="5A6B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2841498" y="4572000"/>
            <a:ext cx="1920240" cy="8686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con-bg-gear"/>
          <p:cNvSpPr/>
          <p:nvPr/>
        </p:nvSpPr>
        <p:spPr>
          <a:xfrm>
            <a:off x="2969514" y="4796028"/>
            <a:ext cx="420624" cy="420624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icon-gear" descr="gear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57845" y="4884359"/>
            <a:ext cx="243961" cy="243961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481578" y="4572000"/>
            <a:ext cx="117043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3233A"/>
                </a:solidFill>
                <a:latin typeface="Calibri"/>
              </a:rPr>
              <a:t>Preprocessing</a:t>
            </a:r>
          </a:p>
        </p:txBody>
      </p:sp>
      <p:cxnSp>
        <p:nvCxnSpPr>
          <p:cNvPr id="44" name="flow-arrow"/>
          <p:cNvCxnSpPr/>
          <p:nvPr/>
        </p:nvCxnSpPr>
        <p:spPr>
          <a:xfrm>
            <a:off x="4807458" y="5006340"/>
            <a:ext cx="281178" cy="0"/>
          </a:xfrm>
          <a:prstGeom prst="line">
            <a:avLst/>
          </a:prstGeom>
          <a:ln w="25400">
            <a:solidFill>
              <a:srgbClr val="5A6B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5134356" y="4572000"/>
            <a:ext cx="1920240" cy="8686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con-bg-tree"/>
          <p:cNvSpPr/>
          <p:nvPr/>
        </p:nvSpPr>
        <p:spPr>
          <a:xfrm>
            <a:off x="5262372" y="4796028"/>
            <a:ext cx="420624" cy="420624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icon-tree" descr="tree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50703" y="4884359"/>
            <a:ext cx="243961" cy="243961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774436" y="4572000"/>
            <a:ext cx="117043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3233A"/>
                </a:solidFill>
                <a:latin typeface="Calibri"/>
              </a:rPr>
              <a:t>ML models</a:t>
            </a:r>
          </a:p>
        </p:txBody>
      </p:sp>
      <p:cxnSp>
        <p:nvCxnSpPr>
          <p:cNvPr id="49" name="flow-arrow"/>
          <p:cNvCxnSpPr/>
          <p:nvPr/>
        </p:nvCxnSpPr>
        <p:spPr>
          <a:xfrm>
            <a:off x="7100316" y="5006340"/>
            <a:ext cx="281178" cy="0"/>
          </a:xfrm>
          <a:prstGeom prst="line">
            <a:avLst/>
          </a:prstGeom>
          <a:ln w="25400">
            <a:solidFill>
              <a:srgbClr val="5A6B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7427214" y="4572000"/>
            <a:ext cx="1920240" cy="8686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con-bg-bars"/>
          <p:cNvSpPr/>
          <p:nvPr/>
        </p:nvSpPr>
        <p:spPr>
          <a:xfrm>
            <a:off x="7555230" y="4796028"/>
            <a:ext cx="420624" cy="420624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icon-bars" descr="bars ic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43561" y="4884359"/>
            <a:ext cx="243961" cy="243961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067294" y="4572000"/>
            <a:ext cx="117043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3233A"/>
                </a:solidFill>
                <a:latin typeface="Calibri"/>
              </a:rPr>
              <a:t>Compare results</a:t>
            </a:r>
          </a:p>
        </p:txBody>
      </p:sp>
      <p:cxnSp>
        <p:nvCxnSpPr>
          <p:cNvPr id="54" name="flow-arrow"/>
          <p:cNvCxnSpPr/>
          <p:nvPr/>
        </p:nvCxnSpPr>
        <p:spPr>
          <a:xfrm>
            <a:off x="9393174" y="5006340"/>
            <a:ext cx="281178" cy="0"/>
          </a:xfrm>
          <a:prstGeom prst="line">
            <a:avLst/>
          </a:prstGeom>
          <a:ln w="25400">
            <a:solidFill>
              <a:srgbClr val="5A6B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9720072" y="4572000"/>
            <a:ext cx="1920240" cy="868680"/>
          </a:xfrm>
          <a:prstGeom prst="roundRect">
            <a:avLst>
              <a:gd name="adj" fmla="val 14000"/>
            </a:avLst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con-bg-star"/>
          <p:cNvSpPr/>
          <p:nvPr/>
        </p:nvSpPr>
        <p:spPr>
          <a:xfrm>
            <a:off x="9848088" y="4796028"/>
            <a:ext cx="420624" cy="420624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icon-star" descr="star ico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36419" y="4884359"/>
            <a:ext cx="243961" cy="243961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360152" y="4572000"/>
            <a:ext cx="117043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Best: LightGBM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571500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B5CAD"/>
                </a:solidFill>
                <a:latin typeface="Calibri"/>
              </a:rPr>
              <a:t>Main finding  </a:t>
            </a:r>
            <a:r>
              <a:rPr sz="1600" b="0" i="0">
                <a:solidFill>
                  <a:srgbClr val="13233A"/>
                </a:solidFill>
                <a:latin typeface="Calibri"/>
              </a:rPr>
              <a:t>LightGBM performed extremely well on the tested dataset.</a:t>
            </a:r>
          </a:p>
        </p:txBody>
      </p:sp>
      <p:sp>
        <p:nvSpPr>
          <p:cNvPr id="60" name="footer"/>
          <p:cNvSpPr txBox="1"/>
          <p:nvPr/>
        </p:nvSpPr>
        <p:spPr>
          <a:xfrm>
            <a:off x="548640" y="6428232"/>
            <a:ext cx="84124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5A6B80"/>
                </a:solidFill>
                <a:latin typeface="Calibri"/>
              </a:rPr>
              <a:t>Beyond 100%  ·  Testing and Improving ML-Based Network Attack Detection</a:t>
            </a:r>
          </a:p>
        </p:txBody>
      </p:sp>
      <p:sp>
        <p:nvSpPr>
          <p:cNvPr id="61" name="nav-1">
            <a:hlinkClick action="ppaction://hlinksldjump" r:id="rId13"/>
          </p:cNvPr>
          <p:cNvSpPr/>
          <p:nvPr/>
        </p:nvSpPr>
        <p:spPr>
          <a:xfrm>
            <a:off x="9628632" y="6400800"/>
            <a:ext cx="274320" cy="274320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5A6B80"/>
                </a:solidFill>
                <a:latin typeface="Calibri"/>
              </a:rPr>
              <a:t>1</a:t>
            </a:r>
          </a:p>
        </p:txBody>
      </p:sp>
      <p:sp>
        <p:nvSpPr>
          <p:cNvPr id="62" name="nav-2">
            <a:hlinkClick action="ppaction://hlinksldjump" r:id="rId14"/>
          </p:cNvPr>
          <p:cNvSpPr/>
          <p:nvPr/>
        </p:nvSpPr>
        <p:spPr>
          <a:xfrm>
            <a:off x="9976104" y="6400800"/>
            <a:ext cx="274320" cy="27432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3" name="nav-3">
            <a:hlinkClick action="ppaction://hlinksldjump" r:id="rId15"/>
          </p:cNvPr>
          <p:cNvSpPr/>
          <p:nvPr/>
        </p:nvSpPr>
        <p:spPr>
          <a:xfrm>
            <a:off x="10323576" y="6400800"/>
            <a:ext cx="274320" cy="274320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5A6B80"/>
                </a:solidFill>
                <a:latin typeface="Calibri"/>
              </a:rPr>
              <a:t>3</a:t>
            </a:r>
          </a:p>
        </p:txBody>
      </p:sp>
      <p:sp>
        <p:nvSpPr>
          <p:cNvPr id="64" name="nav-4">
            <a:hlinkClick action="ppaction://hlinksldjump" r:id="rId16"/>
          </p:cNvPr>
          <p:cNvSpPr/>
          <p:nvPr/>
        </p:nvSpPr>
        <p:spPr>
          <a:xfrm>
            <a:off x="10671048" y="6400800"/>
            <a:ext cx="274320" cy="274320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5A6B80"/>
                </a:solidFill>
                <a:latin typeface="Calibri"/>
              </a:rPr>
              <a:t>4</a:t>
            </a:r>
          </a:p>
        </p:txBody>
      </p:sp>
      <p:sp>
        <p:nvSpPr>
          <p:cNvPr id="65" name="nav-5">
            <a:hlinkClick action="ppaction://hlinksldjump" r:id="rId17"/>
          </p:cNvPr>
          <p:cNvSpPr/>
          <p:nvPr/>
        </p:nvSpPr>
        <p:spPr>
          <a:xfrm>
            <a:off x="11018519" y="6400800"/>
            <a:ext cx="274320" cy="274320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5A6B80"/>
                </a:solidFill>
                <a:latin typeface="Calibri"/>
              </a:rPr>
              <a:t>5</a:t>
            </a:r>
          </a:p>
        </p:txBody>
      </p:sp>
      <p:sp>
        <p:nvSpPr>
          <p:cNvPr id="66" name="nav-6">
            <a:hlinkClick action="ppaction://hlinksldjump" r:id="rId18"/>
          </p:cNvPr>
          <p:cNvSpPr/>
          <p:nvPr/>
        </p:nvSpPr>
        <p:spPr>
          <a:xfrm>
            <a:off x="11365992" y="6400800"/>
            <a:ext cx="274320" cy="274320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5A6B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66928"/>
            <a:ext cx="11064240" cy="731520"/>
          </a:xfrm>
        </p:spPr>
        <p:txBody>
          <a:bodyPr wrap="square" lIns="0" tIns="0" rIns="0" bIns="0" anchor="t"/>
          <a:lstStyle/>
          <a:p>
            <a:pPr algn="l"/>
            <a:r>
              <a:rPr sz="3600" b="1" i="0">
                <a:solidFill>
                  <a:srgbClr val="0B1F3A"/>
                </a:solidFill>
                <a:latin typeface="Cambria"/>
              </a:rPr>
              <a:t>Where Is the Problem?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548640" y="3017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0B5CAD"/>
                </a:solidFill>
                <a:latin typeface="Calibri"/>
              </a:rPr>
              <a:t>03  ·  THE GAP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1874519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con-bg-db"/>
          <p:cNvSpPr/>
          <p:nvPr/>
        </p:nvSpPr>
        <p:spPr>
          <a:xfrm>
            <a:off x="1229868" y="1627632"/>
            <a:ext cx="512064" cy="512064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-db" descr="db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401" y="1735165"/>
            <a:ext cx="296997" cy="2969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" y="2240280"/>
            <a:ext cx="172821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3233A"/>
                </a:solidFill>
                <a:latin typeface="Calibri"/>
              </a:rPr>
              <a:t>Old data</a:t>
            </a:r>
          </a:p>
          <a:p>
            <a:pPr algn="ctr"/>
            <a:r>
              <a:rPr sz="1100" b="0" i="0">
                <a:solidFill>
                  <a:srgbClr val="5A6B80"/>
                </a:solidFill>
                <a:latin typeface="Calibri"/>
              </a:rPr>
              <a:t>KDD'99 · from 1999</a:t>
            </a:r>
          </a:p>
        </p:txBody>
      </p:sp>
      <p:cxnSp>
        <p:nvCxnSpPr>
          <p:cNvPr id="8" name="flow-arrow"/>
          <p:cNvCxnSpPr/>
          <p:nvPr/>
        </p:nvCxnSpPr>
        <p:spPr>
          <a:xfrm>
            <a:off x="2478024" y="2194560"/>
            <a:ext cx="320040" cy="0"/>
          </a:xfrm>
          <a:prstGeom prst="line">
            <a:avLst/>
          </a:prstGeom>
          <a:ln w="25400">
            <a:solidFill>
              <a:srgbClr val="5A6B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52928" y="1508760"/>
            <a:ext cx="1874519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con-bg-monitor"/>
          <p:cNvSpPr/>
          <p:nvPr/>
        </p:nvSpPr>
        <p:spPr>
          <a:xfrm>
            <a:off x="3534155" y="1627632"/>
            <a:ext cx="512064" cy="512064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-monitor" descr="monitor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1689" y="1735165"/>
            <a:ext cx="296997" cy="2969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926080" y="2240280"/>
            <a:ext cx="172821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3233A"/>
                </a:solidFill>
                <a:latin typeface="Calibri"/>
              </a:rPr>
              <a:t>New devices</a:t>
            </a:r>
          </a:p>
        </p:txBody>
      </p:sp>
      <p:cxnSp>
        <p:nvCxnSpPr>
          <p:cNvPr id="13" name="flow-arrow"/>
          <p:cNvCxnSpPr/>
          <p:nvPr/>
        </p:nvCxnSpPr>
        <p:spPr>
          <a:xfrm>
            <a:off x="4782312" y="2194560"/>
            <a:ext cx="320040" cy="0"/>
          </a:xfrm>
          <a:prstGeom prst="line">
            <a:avLst/>
          </a:prstGeom>
          <a:ln w="25400">
            <a:solidFill>
              <a:srgbClr val="5A6B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57216" y="1508760"/>
            <a:ext cx="1874519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con-bg-window"/>
          <p:cNvSpPr/>
          <p:nvPr/>
        </p:nvSpPr>
        <p:spPr>
          <a:xfrm>
            <a:off x="5838443" y="1627632"/>
            <a:ext cx="512064" cy="512064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-window" descr="window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5977" y="1735165"/>
            <a:ext cx="296997" cy="29699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230368" y="2240280"/>
            <a:ext cx="172821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3233A"/>
                </a:solidFill>
                <a:latin typeface="Calibri"/>
              </a:rPr>
              <a:t>New applications</a:t>
            </a:r>
          </a:p>
        </p:txBody>
      </p:sp>
      <p:cxnSp>
        <p:nvCxnSpPr>
          <p:cNvPr id="18" name="flow-arrow"/>
          <p:cNvCxnSpPr/>
          <p:nvPr/>
        </p:nvCxnSpPr>
        <p:spPr>
          <a:xfrm>
            <a:off x="7086599" y="2194560"/>
            <a:ext cx="320041" cy="0"/>
          </a:xfrm>
          <a:prstGeom prst="line">
            <a:avLst/>
          </a:prstGeom>
          <a:ln w="25400">
            <a:solidFill>
              <a:srgbClr val="5A6B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61504" y="1508760"/>
            <a:ext cx="1874519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con-bg-warning"/>
          <p:cNvSpPr/>
          <p:nvPr/>
        </p:nvSpPr>
        <p:spPr>
          <a:xfrm>
            <a:off x="8142732" y="1627632"/>
            <a:ext cx="512064" cy="512064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con-warning" descr="warning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0265" y="1735165"/>
            <a:ext cx="296997" cy="29699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534656" y="2240280"/>
            <a:ext cx="172821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3233A"/>
                </a:solidFill>
                <a:latin typeface="Calibri"/>
              </a:rPr>
              <a:t>New attack patterns</a:t>
            </a:r>
          </a:p>
        </p:txBody>
      </p:sp>
      <p:cxnSp>
        <p:nvCxnSpPr>
          <p:cNvPr id="23" name="flow-arrow"/>
          <p:cNvCxnSpPr/>
          <p:nvPr/>
        </p:nvCxnSpPr>
        <p:spPr>
          <a:xfrm>
            <a:off x="9390888" y="2194560"/>
            <a:ext cx="320040" cy="0"/>
          </a:xfrm>
          <a:prstGeom prst="line">
            <a:avLst/>
          </a:prstGeom>
          <a:ln w="25400">
            <a:solidFill>
              <a:srgbClr val="5A6B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765792" y="1508760"/>
            <a:ext cx="1874519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con-bg-network"/>
          <p:cNvSpPr/>
          <p:nvPr/>
        </p:nvSpPr>
        <p:spPr>
          <a:xfrm>
            <a:off x="10447020" y="1627632"/>
            <a:ext cx="512064" cy="512064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con-network" descr="network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4553" y="1735165"/>
            <a:ext cx="296997" cy="29699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838944" y="2240280"/>
            <a:ext cx="172821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3233A"/>
                </a:solidFill>
                <a:latin typeface="Calibri"/>
              </a:rPr>
              <a:t>A different network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1089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3233A"/>
                </a:solidFill>
                <a:latin typeface="Calibri"/>
              </a:rPr>
              <a:t>So the paper does not fully answer…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520440"/>
            <a:ext cx="260146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con-bg-db"/>
          <p:cNvSpPr/>
          <p:nvPr/>
        </p:nvSpPr>
        <p:spPr>
          <a:xfrm>
            <a:off x="731520" y="3840480"/>
            <a:ext cx="457200" cy="45720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icon-db" descr="db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" y="3936492"/>
            <a:ext cx="265176" cy="26517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325880" y="3520440"/>
            <a:ext cx="1687068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3233A"/>
                </a:solidFill>
                <a:latin typeface="Calibri"/>
              </a:rPr>
              <a:t>Does it work on newer datasets?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78708" y="3520440"/>
            <a:ext cx="260146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con-bg-network"/>
          <p:cNvSpPr/>
          <p:nvPr/>
        </p:nvSpPr>
        <p:spPr>
          <a:xfrm>
            <a:off x="3561588" y="3840480"/>
            <a:ext cx="457200" cy="45720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icon-network" descr="network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3936492"/>
            <a:ext cx="265176" cy="26517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155948" y="3520440"/>
            <a:ext cx="1687068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3233A"/>
                </a:solidFill>
                <a:latin typeface="Calibri"/>
              </a:rPr>
              <a:t>Does it work on a different network?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08776" y="3520440"/>
            <a:ext cx="260146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con-bg-warning"/>
          <p:cNvSpPr/>
          <p:nvPr/>
        </p:nvSpPr>
        <p:spPr>
          <a:xfrm>
            <a:off x="6391656" y="3840480"/>
            <a:ext cx="457200" cy="45720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icon-warning" descr="warning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7668" y="3936492"/>
            <a:ext cx="265176" cy="26517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986016" y="3520440"/>
            <a:ext cx="1687068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3233A"/>
                </a:solidFill>
                <a:latin typeface="Calibri"/>
              </a:rPr>
              <a:t>Does it detect new types of attacks?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38844" y="3520440"/>
            <a:ext cx="260146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con-bg-grid"/>
          <p:cNvSpPr/>
          <p:nvPr/>
        </p:nvSpPr>
        <p:spPr>
          <a:xfrm>
            <a:off x="9221724" y="3840480"/>
            <a:ext cx="457200" cy="45720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icon-grid" descr="grid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7736" y="3936492"/>
            <a:ext cx="265176" cy="26517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816084" y="3520440"/>
            <a:ext cx="1687068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3233A"/>
                </a:solidFill>
                <a:latin typeface="Calibri"/>
              </a:rPr>
              <a:t>What if important features change?</a:t>
            </a:r>
          </a:p>
        </p:txBody>
      </p:sp>
      <p:sp>
        <p:nvSpPr>
          <p:cNvPr id="45" name="research-gap"/>
          <p:cNvSpPr/>
          <p:nvPr/>
        </p:nvSpPr>
        <p:spPr>
          <a:xfrm>
            <a:off x="548640" y="4892040"/>
            <a:ext cx="11091672" cy="128016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" y="5029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F2A900"/>
                </a:solidFill>
                <a:latin typeface="Calibri"/>
              </a:rPr>
              <a:t>RESEARCH GAP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5321808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1">
                <a:solidFill>
                  <a:srgbClr val="FFFFFF"/>
                </a:solidFill>
                <a:latin typeface="Cambria"/>
              </a:rPr>
              <a:t>High accuracy on one dataset does not prove the model works on different network traffic.</a:t>
            </a:r>
          </a:p>
        </p:txBody>
      </p:sp>
      <p:sp>
        <p:nvSpPr>
          <p:cNvPr id="48" name="footer"/>
          <p:cNvSpPr txBox="1"/>
          <p:nvPr/>
        </p:nvSpPr>
        <p:spPr>
          <a:xfrm>
            <a:off x="548640" y="6428232"/>
            <a:ext cx="84124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5A6B80"/>
                </a:solidFill>
                <a:latin typeface="Calibri"/>
              </a:rPr>
              <a:t>Beyond 100%  ·  Testing and Improving ML-Based Network Attack Detection</a:t>
            </a:r>
          </a:p>
        </p:txBody>
      </p:sp>
      <p:sp>
        <p:nvSpPr>
          <p:cNvPr id="49" name="nav-1">
            <a:hlinkClick action="ppaction://hlinksldjump" r:id="rId8"/>
          </p:cNvPr>
          <p:cNvSpPr/>
          <p:nvPr/>
        </p:nvSpPr>
        <p:spPr>
          <a:xfrm>
            <a:off x="9628632" y="6400800"/>
            <a:ext cx="274320" cy="274320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5A6B80"/>
                </a:solidFill>
                <a:latin typeface="Calibri"/>
              </a:rPr>
              <a:t>1</a:t>
            </a:r>
          </a:p>
        </p:txBody>
      </p:sp>
      <p:sp>
        <p:nvSpPr>
          <p:cNvPr id="50" name="nav-2">
            <a:hlinkClick action="ppaction://hlinksldjump" r:id="rId9"/>
          </p:cNvPr>
          <p:cNvSpPr/>
          <p:nvPr/>
        </p:nvSpPr>
        <p:spPr>
          <a:xfrm>
            <a:off x="9976104" y="6400800"/>
            <a:ext cx="274320" cy="274320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5A6B80"/>
                </a:solidFill>
                <a:latin typeface="Calibri"/>
              </a:rPr>
              <a:t>2</a:t>
            </a:r>
          </a:p>
        </p:txBody>
      </p:sp>
      <p:sp>
        <p:nvSpPr>
          <p:cNvPr id="51" name="nav-3">
            <a:hlinkClick action="ppaction://hlinksldjump" r:id="rId10"/>
          </p:cNvPr>
          <p:cNvSpPr/>
          <p:nvPr/>
        </p:nvSpPr>
        <p:spPr>
          <a:xfrm>
            <a:off x="10323576" y="6400800"/>
            <a:ext cx="274320" cy="27432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2" name="nav-4">
            <a:hlinkClick action="ppaction://hlinksldjump" r:id="rId11"/>
          </p:cNvPr>
          <p:cNvSpPr/>
          <p:nvPr/>
        </p:nvSpPr>
        <p:spPr>
          <a:xfrm>
            <a:off x="10671048" y="6400800"/>
            <a:ext cx="274320" cy="274320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5A6B80"/>
                </a:solidFill>
                <a:latin typeface="Calibri"/>
              </a:rPr>
              <a:t>4</a:t>
            </a:r>
          </a:p>
        </p:txBody>
      </p:sp>
      <p:sp>
        <p:nvSpPr>
          <p:cNvPr id="53" name="nav-5">
            <a:hlinkClick action="ppaction://hlinksldjump" r:id="rId12"/>
          </p:cNvPr>
          <p:cNvSpPr/>
          <p:nvPr/>
        </p:nvSpPr>
        <p:spPr>
          <a:xfrm>
            <a:off x="11018519" y="6400800"/>
            <a:ext cx="274320" cy="274320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5A6B80"/>
                </a:solidFill>
                <a:latin typeface="Calibri"/>
              </a:rPr>
              <a:t>5</a:t>
            </a:r>
          </a:p>
        </p:txBody>
      </p:sp>
      <p:sp>
        <p:nvSpPr>
          <p:cNvPr id="54" name="nav-6">
            <a:hlinkClick action="ppaction://hlinksldjump" r:id="rId13"/>
          </p:cNvPr>
          <p:cNvSpPr/>
          <p:nvPr/>
        </p:nvSpPr>
        <p:spPr>
          <a:xfrm>
            <a:off x="11365992" y="6400800"/>
            <a:ext cx="274320" cy="274320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5A6B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66928"/>
            <a:ext cx="11064240" cy="731520"/>
          </a:xfrm>
        </p:spPr>
        <p:txBody>
          <a:bodyPr wrap="square" lIns="0" tIns="0" rIns="0" bIns="0" anchor="t"/>
          <a:lstStyle/>
          <a:p>
            <a:pPr algn="l"/>
            <a:r>
              <a:rPr sz="3600" b="1" i="0">
                <a:solidFill>
                  <a:srgbClr val="0B1F3A"/>
                </a:solidFill>
                <a:latin typeface="Cambria"/>
              </a:rPr>
              <a:t>Our Idea: Beyond 100%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548640" y="3017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0B5CAD"/>
                </a:solidFill>
                <a:latin typeface="Calibri"/>
              </a:rPr>
              <a:t>04  ·  OUR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5A6B80"/>
                </a:solidFill>
                <a:latin typeface="Calibri"/>
              </a:rPr>
              <a:t>Instead of replacing LightGBM, we make it smarter.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13716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con-bg-network"/>
          <p:cNvSpPr/>
          <p:nvPr/>
        </p:nvSpPr>
        <p:spPr>
          <a:xfrm>
            <a:off x="676656" y="2459736"/>
            <a:ext cx="384048" cy="384048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icon-network" descr="network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306" y="2540386"/>
            <a:ext cx="222747" cy="2227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52144" y="2194560"/>
            <a:ext cx="658368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3233A"/>
                </a:solidFill>
                <a:latin typeface="Calibri"/>
              </a:rPr>
              <a:t>Network flow</a:t>
            </a:r>
          </a:p>
        </p:txBody>
      </p:sp>
      <p:cxnSp>
        <p:nvCxnSpPr>
          <p:cNvPr id="9" name="flow-arrow"/>
          <p:cNvCxnSpPr/>
          <p:nvPr/>
        </p:nvCxnSpPr>
        <p:spPr>
          <a:xfrm>
            <a:off x="1965960" y="2651760"/>
            <a:ext cx="274320" cy="0"/>
          </a:xfrm>
          <a:prstGeom prst="line">
            <a:avLst/>
          </a:prstGeom>
          <a:ln w="25400">
            <a:solidFill>
              <a:srgbClr val="5A6B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286000" y="2194560"/>
            <a:ext cx="155448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con-bg-leaf"/>
          <p:cNvSpPr/>
          <p:nvPr/>
        </p:nvSpPr>
        <p:spPr>
          <a:xfrm>
            <a:off x="2414016" y="2459736"/>
            <a:ext cx="384048" cy="384048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con-leaf" descr="leaf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4666" y="2540386"/>
            <a:ext cx="222747" cy="22274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889504" y="2194560"/>
            <a:ext cx="841248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3233A"/>
                </a:solidFill>
                <a:latin typeface="Calibri"/>
              </a:rPr>
              <a:t>LightGBM</a:t>
            </a:r>
          </a:p>
          <a:p>
            <a:pPr algn="l"/>
            <a:r>
              <a:rPr sz="1100" b="0" i="0">
                <a:solidFill>
                  <a:srgbClr val="5A6B80"/>
                </a:solidFill>
                <a:latin typeface="Calibri"/>
              </a:rPr>
              <a:t>fast first pass</a:t>
            </a:r>
          </a:p>
        </p:txBody>
      </p:sp>
      <p:cxnSp>
        <p:nvCxnSpPr>
          <p:cNvPr id="14" name="flow-arrow"/>
          <p:cNvCxnSpPr/>
          <p:nvPr/>
        </p:nvCxnSpPr>
        <p:spPr>
          <a:xfrm>
            <a:off x="3886200" y="2651760"/>
            <a:ext cx="274320" cy="0"/>
          </a:xfrm>
          <a:prstGeom prst="line">
            <a:avLst/>
          </a:prstGeom>
          <a:ln w="25400">
            <a:solidFill>
              <a:srgbClr val="5A6B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ecision"/>
          <p:cNvSpPr/>
          <p:nvPr/>
        </p:nvSpPr>
        <p:spPr>
          <a:xfrm>
            <a:off x="4206240" y="1920240"/>
            <a:ext cx="1920240" cy="1463040"/>
          </a:xfrm>
          <a:prstGeom prst="flowChartDecision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0B1F3A"/>
                </a:solidFill>
                <a:latin typeface="Calibri"/>
              </a:rPr>
              <a:t>Confident?</a:t>
            </a:r>
          </a:p>
        </p:txBody>
      </p:sp>
      <p:cxnSp>
        <p:nvCxnSpPr>
          <p:cNvPr id="16" name="flow-arrow"/>
          <p:cNvCxnSpPr/>
          <p:nvPr/>
        </p:nvCxnSpPr>
        <p:spPr>
          <a:xfrm>
            <a:off x="6144768" y="2651760"/>
            <a:ext cx="329184" cy="0"/>
          </a:xfrm>
          <a:prstGeom prst="line">
            <a:avLst/>
          </a:prstGeom>
          <a:ln w="25400">
            <a:solidFill>
              <a:srgbClr val="0B7F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08192" y="2286000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0B7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2194560"/>
            <a:ext cx="1508760" cy="914400"/>
          </a:xfrm>
          <a:prstGeom prst="roundRect">
            <a:avLst>
              <a:gd name="adj" fmla="val 14000"/>
            </a:avLst>
          </a:prstGeom>
          <a:solidFill>
            <a:srgbClr val="0B7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con-bg-bolt"/>
          <p:cNvSpPr/>
          <p:nvPr/>
        </p:nvSpPr>
        <p:spPr>
          <a:xfrm>
            <a:off x="6620255" y="2459736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con-bolt" descr="bol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0906" y="2540386"/>
            <a:ext cx="222747" cy="22274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95743" y="2194560"/>
            <a:ext cx="795528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Fast result</a:t>
            </a:r>
          </a:p>
        </p:txBody>
      </p:sp>
      <p:cxnSp>
        <p:nvCxnSpPr>
          <p:cNvPr id="22" name="flow-arrow"/>
          <p:cNvCxnSpPr/>
          <p:nvPr/>
        </p:nvCxnSpPr>
        <p:spPr>
          <a:xfrm>
            <a:off x="5166360" y="3401568"/>
            <a:ext cx="0" cy="804672"/>
          </a:xfrm>
          <a:prstGeom prst="line">
            <a:avLst/>
          </a:prstGeom>
          <a:ln w="25400">
            <a:solidFill>
              <a:srgbClr val="B97A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285232" y="3611880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 i="0">
                <a:solidFill>
                  <a:srgbClr val="0B1F3A"/>
                </a:solidFill>
                <a:latin typeface="Calibri"/>
              </a:rPr>
              <a:t>NO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4251960"/>
            <a:ext cx="2011680" cy="914400"/>
          </a:xfrm>
          <a:prstGeom prst="roundRect">
            <a:avLst>
              <a:gd name="adj" fmla="val 14000"/>
            </a:avLst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con-bg-layers"/>
          <p:cNvSpPr/>
          <p:nvPr/>
        </p:nvSpPr>
        <p:spPr>
          <a:xfrm>
            <a:off x="4288536" y="4517136"/>
            <a:ext cx="384048" cy="384048"/>
          </a:xfrm>
          <a:prstGeom prst="ellipse">
            <a:avLst/>
          </a:prstGeom>
          <a:solidFill>
            <a:srgbClr val="2D7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con-layers" descr="layer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9186" y="4597786"/>
            <a:ext cx="222747" cy="22274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764023" y="4251960"/>
            <a:ext cx="1298448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Modern AI encoder</a:t>
            </a:r>
          </a:p>
          <a:p>
            <a:pPr algn="l"/>
            <a:r>
              <a:rPr sz="1100" b="0" i="0">
                <a:solidFill>
                  <a:srgbClr val="9FB3CC"/>
                </a:solidFill>
                <a:latin typeface="Calibri"/>
              </a:rPr>
              <a:t>deeper analysis</a:t>
            </a:r>
          </a:p>
        </p:txBody>
      </p:sp>
      <p:cxnSp>
        <p:nvCxnSpPr>
          <p:cNvPr id="28" name="flow-arrow"/>
          <p:cNvCxnSpPr/>
          <p:nvPr/>
        </p:nvCxnSpPr>
        <p:spPr>
          <a:xfrm>
            <a:off x="6217920" y="4709160"/>
            <a:ext cx="256032" cy="0"/>
          </a:xfrm>
          <a:prstGeom prst="line">
            <a:avLst/>
          </a:prstGeom>
          <a:ln w="25400">
            <a:solidFill>
              <a:srgbClr val="5A6B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492240" y="4251960"/>
            <a:ext cx="1508760" cy="914400"/>
          </a:xfrm>
          <a:prstGeom prst="roundRect">
            <a:avLst>
              <a:gd name="adj" fmla="val 14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con-bg-check"/>
          <p:cNvSpPr/>
          <p:nvPr/>
        </p:nvSpPr>
        <p:spPr>
          <a:xfrm>
            <a:off x="6620255" y="4517136"/>
            <a:ext cx="384048" cy="384048"/>
          </a:xfrm>
          <a:prstGeom prst="ellipse">
            <a:avLst/>
          </a:prstGeom>
          <a:solidFill>
            <a:srgbClr val="2D7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icon-check" descr="check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0906" y="4597786"/>
            <a:ext cx="222747" cy="22274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095743" y="4251960"/>
            <a:ext cx="795528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Final decision</a:t>
            </a:r>
          </a:p>
        </p:txBody>
      </p:sp>
      <p:sp>
        <p:nvSpPr>
          <p:cNvPr id="33" name="why-card"/>
          <p:cNvSpPr/>
          <p:nvPr/>
        </p:nvSpPr>
        <p:spPr>
          <a:xfrm>
            <a:off x="548640" y="3977639"/>
            <a:ext cx="32461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11480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3233A"/>
                </a:solidFill>
                <a:latin typeface="Calibri"/>
              </a:rPr>
              <a:t>Why LightGBM first?</a:t>
            </a:r>
          </a:p>
        </p:txBody>
      </p:sp>
      <p:sp>
        <p:nvSpPr>
          <p:cNvPr id="35" name="icon-bg-bolt"/>
          <p:cNvSpPr/>
          <p:nvPr/>
        </p:nvSpPr>
        <p:spPr>
          <a:xfrm>
            <a:off x="777240" y="4526280"/>
            <a:ext cx="347472" cy="347472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icon-bolt" descr="bol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209" y="4599249"/>
            <a:ext cx="201533" cy="20153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280160" y="4526280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3233A"/>
                </a:solidFill>
                <a:latin typeface="Calibri"/>
              </a:rPr>
              <a:t>Fast</a:t>
            </a:r>
          </a:p>
        </p:txBody>
      </p:sp>
      <p:sp>
        <p:nvSpPr>
          <p:cNvPr id="38" name="icon-bg-leaf"/>
          <p:cNvSpPr/>
          <p:nvPr/>
        </p:nvSpPr>
        <p:spPr>
          <a:xfrm>
            <a:off x="777240" y="5001768"/>
            <a:ext cx="347472" cy="347472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icon-leaf" descr="leaf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09" y="5074737"/>
            <a:ext cx="201533" cy="201533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280160" y="5001768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3233A"/>
                </a:solidFill>
                <a:latin typeface="Calibri"/>
              </a:rPr>
              <a:t>Lightweight</a:t>
            </a:r>
          </a:p>
        </p:txBody>
      </p:sp>
      <p:sp>
        <p:nvSpPr>
          <p:cNvPr id="41" name="icon-bg-grid"/>
          <p:cNvSpPr/>
          <p:nvPr/>
        </p:nvSpPr>
        <p:spPr>
          <a:xfrm>
            <a:off x="777240" y="5477256"/>
            <a:ext cx="347472" cy="347472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icon-grid" descr="grid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209" y="5550225"/>
            <a:ext cx="201533" cy="201533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280160" y="5477256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3233A"/>
                </a:solidFill>
                <a:latin typeface="Calibri"/>
              </a:rPr>
              <a:t>Good for network-flow data</a:t>
            </a:r>
          </a:p>
        </p:txBody>
      </p:sp>
      <p:sp>
        <p:nvSpPr>
          <p:cNvPr id="44" name="case-card-0"/>
          <p:cNvSpPr/>
          <p:nvPr/>
        </p:nvSpPr>
        <p:spPr>
          <a:xfrm>
            <a:off x="8321040" y="1920240"/>
            <a:ext cx="3319272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549640" y="2121408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0B7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SIMPLE CASES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25146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3233A"/>
                </a:solidFill>
                <a:latin typeface="Cambria"/>
              </a:rPr>
              <a:t>LightGBM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49640" y="310896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A6B80"/>
                </a:solidFill>
                <a:latin typeface="Calibri"/>
              </a:rPr>
              <a:t>Handles the easy flows quickly.</a:t>
            </a:r>
          </a:p>
        </p:txBody>
      </p:sp>
      <p:sp>
        <p:nvSpPr>
          <p:cNvPr id="48" name="case-card-1"/>
          <p:cNvSpPr/>
          <p:nvPr/>
        </p:nvSpPr>
        <p:spPr>
          <a:xfrm>
            <a:off x="8321040" y="4160520"/>
            <a:ext cx="3319272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549640" y="4361688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DIFFICULT CASES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49640" y="475488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3233A"/>
                </a:solidFill>
                <a:latin typeface="Cambria"/>
              </a:rPr>
              <a:t>Modern AI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49640" y="534924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A6B80"/>
                </a:solidFill>
                <a:latin typeface="Calibri"/>
              </a:rPr>
              <a:t>Deeper analysis, only when LightGBM is unsure.</a:t>
            </a:r>
          </a:p>
        </p:txBody>
      </p:sp>
      <p:sp>
        <p:nvSpPr>
          <p:cNvPr id="52" name="footer"/>
          <p:cNvSpPr txBox="1"/>
          <p:nvPr/>
        </p:nvSpPr>
        <p:spPr>
          <a:xfrm>
            <a:off x="548640" y="6428232"/>
            <a:ext cx="84124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5A6B80"/>
                </a:solidFill>
                <a:latin typeface="Calibri"/>
              </a:rPr>
              <a:t>Beyond 100%  ·  Testing and Improving ML-Based Network Attack Detection</a:t>
            </a:r>
          </a:p>
        </p:txBody>
      </p:sp>
      <p:sp>
        <p:nvSpPr>
          <p:cNvPr id="53" name="nav-1">
            <a:hlinkClick action="ppaction://hlinksldjump" r:id="rId8"/>
          </p:cNvPr>
          <p:cNvSpPr/>
          <p:nvPr/>
        </p:nvSpPr>
        <p:spPr>
          <a:xfrm>
            <a:off x="9628632" y="6400800"/>
            <a:ext cx="274320" cy="274320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5A6B80"/>
                </a:solidFill>
                <a:latin typeface="Calibri"/>
              </a:rPr>
              <a:t>1</a:t>
            </a:r>
          </a:p>
        </p:txBody>
      </p:sp>
      <p:sp>
        <p:nvSpPr>
          <p:cNvPr id="54" name="nav-2">
            <a:hlinkClick action="ppaction://hlinksldjump" r:id="rId9"/>
          </p:cNvPr>
          <p:cNvSpPr/>
          <p:nvPr/>
        </p:nvSpPr>
        <p:spPr>
          <a:xfrm>
            <a:off x="9976104" y="6400800"/>
            <a:ext cx="274320" cy="274320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5A6B80"/>
                </a:solidFill>
                <a:latin typeface="Calibri"/>
              </a:rPr>
              <a:t>2</a:t>
            </a:r>
          </a:p>
        </p:txBody>
      </p:sp>
      <p:sp>
        <p:nvSpPr>
          <p:cNvPr id="55" name="nav-3">
            <a:hlinkClick action="ppaction://hlinksldjump" r:id="rId10"/>
          </p:cNvPr>
          <p:cNvSpPr/>
          <p:nvPr/>
        </p:nvSpPr>
        <p:spPr>
          <a:xfrm>
            <a:off x="10323576" y="6400800"/>
            <a:ext cx="274320" cy="274320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5A6B80"/>
                </a:solidFill>
                <a:latin typeface="Calibri"/>
              </a:rPr>
              <a:t>3</a:t>
            </a:r>
          </a:p>
        </p:txBody>
      </p:sp>
      <p:sp>
        <p:nvSpPr>
          <p:cNvPr id="56" name="nav-4">
            <a:hlinkClick action="ppaction://hlinksldjump" r:id="rId11"/>
          </p:cNvPr>
          <p:cNvSpPr/>
          <p:nvPr/>
        </p:nvSpPr>
        <p:spPr>
          <a:xfrm>
            <a:off x="10671048" y="6400800"/>
            <a:ext cx="274320" cy="27432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7" name="nav-5">
            <a:hlinkClick action="ppaction://hlinksldjump" r:id="rId12"/>
          </p:cNvPr>
          <p:cNvSpPr/>
          <p:nvPr/>
        </p:nvSpPr>
        <p:spPr>
          <a:xfrm>
            <a:off x="11018519" y="6400800"/>
            <a:ext cx="274320" cy="274320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5A6B80"/>
                </a:solidFill>
                <a:latin typeface="Calibri"/>
              </a:rPr>
              <a:t>5</a:t>
            </a:r>
          </a:p>
        </p:txBody>
      </p:sp>
      <p:sp>
        <p:nvSpPr>
          <p:cNvPr id="58" name="nav-6">
            <a:hlinkClick action="ppaction://hlinksldjump" r:id="rId13"/>
          </p:cNvPr>
          <p:cNvSpPr/>
          <p:nvPr/>
        </p:nvSpPr>
        <p:spPr>
          <a:xfrm>
            <a:off x="11365992" y="6400800"/>
            <a:ext cx="274320" cy="274320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5A6B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66928"/>
            <a:ext cx="6858000" cy="731520"/>
          </a:xfrm>
        </p:spPr>
        <p:txBody>
          <a:bodyPr wrap="square" lIns="0" tIns="0" rIns="0" bIns="0" anchor="t"/>
          <a:lstStyle/>
          <a:p>
            <a:pPr algn="l"/>
            <a:r>
              <a:rPr sz="3600" b="1" i="0">
                <a:solidFill>
                  <a:srgbClr val="0B1F3A"/>
                </a:solidFill>
                <a:latin typeface="Cambria"/>
              </a:rPr>
              <a:t>How Will We Prove It?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548640" y="3017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0B5CAD"/>
                </a:solidFill>
                <a:latin typeface="Calibri"/>
              </a:rPr>
              <a:t>05  ·  THE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18120" y="640080"/>
            <a:ext cx="3822191" cy="384048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0B1F3A"/>
                </a:solidFill>
                <a:latin typeface="Calibri"/>
              </a:rPr>
              <a:t>Results: to be measured — none claimed yet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con-bg-flask"/>
          <p:cNvSpPr/>
          <p:nvPr/>
        </p:nvSpPr>
        <p:spPr>
          <a:xfrm>
            <a:off x="676656" y="1691640"/>
            <a:ext cx="457200" cy="45720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icon-flask" descr="flask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" y="1787652"/>
            <a:ext cx="265176" cy="2651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146304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B5CAD"/>
                </a:solidFill>
                <a:latin typeface="Calibri"/>
              </a:rPr>
              <a:t>STEP 1</a:t>
            </a:r>
          </a:p>
          <a:p>
            <a:pPr algn="l"/>
            <a:r>
              <a:rPr sz="1400" b="1" i="0">
                <a:solidFill>
                  <a:srgbClr val="13233A"/>
                </a:solidFill>
                <a:latin typeface="Calibri"/>
              </a:rPr>
              <a:t>Reproduce the paper's LightGBM</a:t>
            </a:r>
          </a:p>
        </p:txBody>
      </p:sp>
      <p:cxnSp>
        <p:nvCxnSpPr>
          <p:cNvPr id="9" name="flow-arrow"/>
          <p:cNvCxnSpPr/>
          <p:nvPr/>
        </p:nvCxnSpPr>
        <p:spPr>
          <a:xfrm>
            <a:off x="3063240" y="1920240"/>
            <a:ext cx="313944" cy="0"/>
          </a:xfrm>
          <a:prstGeom prst="line">
            <a:avLst/>
          </a:prstGeom>
          <a:ln w="25400">
            <a:solidFill>
              <a:srgbClr val="5A6B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22904" y="146304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con-bg-db"/>
          <p:cNvSpPr/>
          <p:nvPr/>
        </p:nvSpPr>
        <p:spPr>
          <a:xfrm>
            <a:off x="3550920" y="1691640"/>
            <a:ext cx="457200" cy="45720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con-db" descr="db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6932" y="1787652"/>
            <a:ext cx="265176" cy="2651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36136" y="146304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B5CAD"/>
                </a:solidFill>
                <a:latin typeface="Calibri"/>
              </a:rPr>
              <a:t>STEP 2</a:t>
            </a:r>
          </a:p>
          <a:p>
            <a:pPr algn="l"/>
            <a:r>
              <a:rPr sz="1400" b="1" i="0">
                <a:solidFill>
                  <a:srgbClr val="13233A"/>
                </a:solidFill>
                <a:latin typeface="Calibri"/>
              </a:rPr>
              <a:t>Test on newer datasets</a:t>
            </a:r>
          </a:p>
        </p:txBody>
      </p:sp>
      <p:cxnSp>
        <p:nvCxnSpPr>
          <p:cNvPr id="14" name="flow-arrow"/>
          <p:cNvCxnSpPr/>
          <p:nvPr/>
        </p:nvCxnSpPr>
        <p:spPr>
          <a:xfrm>
            <a:off x="5937504" y="1920240"/>
            <a:ext cx="313944" cy="0"/>
          </a:xfrm>
          <a:prstGeom prst="line">
            <a:avLst/>
          </a:prstGeom>
          <a:ln w="25400">
            <a:solidFill>
              <a:srgbClr val="5A6B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97168" y="146304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con-bg-warning"/>
          <p:cNvSpPr/>
          <p:nvPr/>
        </p:nvSpPr>
        <p:spPr>
          <a:xfrm>
            <a:off x="6425184" y="1691640"/>
            <a:ext cx="457200" cy="45720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icon-warning" descr="warning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196" y="1787652"/>
            <a:ext cx="265176" cy="2651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10400" y="146304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B5CAD"/>
                </a:solidFill>
                <a:latin typeface="Calibri"/>
              </a:rPr>
              <a:t>STEP 3</a:t>
            </a:r>
          </a:p>
          <a:p>
            <a:pPr algn="l"/>
            <a:r>
              <a:rPr sz="1400" b="1" i="0">
                <a:solidFill>
                  <a:srgbClr val="13233A"/>
                </a:solidFill>
                <a:latin typeface="Calibri"/>
              </a:rPr>
              <a:t>Test different situations</a:t>
            </a:r>
          </a:p>
        </p:txBody>
      </p:sp>
      <p:cxnSp>
        <p:nvCxnSpPr>
          <p:cNvPr id="19" name="flow-arrow"/>
          <p:cNvCxnSpPr/>
          <p:nvPr/>
        </p:nvCxnSpPr>
        <p:spPr>
          <a:xfrm>
            <a:off x="8811768" y="1920240"/>
            <a:ext cx="313943" cy="0"/>
          </a:xfrm>
          <a:prstGeom prst="line">
            <a:avLst/>
          </a:prstGeom>
          <a:ln w="25400">
            <a:solidFill>
              <a:srgbClr val="5A6B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71432" y="146304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con-bg-bars"/>
          <p:cNvSpPr/>
          <p:nvPr/>
        </p:nvSpPr>
        <p:spPr>
          <a:xfrm>
            <a:off x="9299448" y="1691640"/>
            <a:ext cx="457200" cy="45720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icon-bars" descr="bar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5460" y="1787652"/>
            <a:ext cx="265176" cy="26517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884663" y="146304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B5CAD"/>
                </a:solidFill>
                <a:latin typeface="Calibri"/>
              </a:rPr>
              <a:t>STEP 4</a:t>
            </a:r>
          </a:p>
          <a:p>
            <a:pPr algn="l"/>
            <a:r>
              <a:rPr sz="1400" b="1" i="0">
                <a:solidFill>
                  <a:srgbClr val="13233A"/>
                </a:solidFill>
                <a:latin typeface="Calibri"/>
              </a:rPr>
              <a:t>Compare three systems</a:t>
            </a:r>
          </a:p>
        </p:txBody>
      </p:sp>
      <p:graphicFrame>
        <p:nvGraphicFramePr>
          <p:cNvPr id="24" name="test-table"/>
          <p:cNvGraphicFramePr>
            <a:graphicFrameLocks noGrp="1"/>
          </p:cNvGraphicFramePr>
          <p:nvPr/>
        </p:nvGraphicFramePr>
        <p:xfrm>
          <a:off x="548640" y="2651760"/>
          <a:ext cx="6675120" cy="2578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389120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137160" marR="9144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Question we answer</a:t>
                      </a:r>
                    </a:p>
                  </a:txBody>
                  <a:tcPr marL="137160" marR="91440" anchor="ctr">
                    <a:solidFill>
                      <a:srgbClr val="0B1F3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3233A"/>
                          </a:solidFill>
                          <a:latin typeface="Calibri"/>
                        </a:rPr>
                        <a:t>Same dataset</a:t>
                      </a:r>
                    </a:p>
                  </a:txBody>
                  <a:tcPr marL="13716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3233A"/>
                          </a:solidFill>
                          <a:latin typeface="Calibri"/>
                        </a:rPr>
                        <a:t>Can we reproduce the paper?</a:t>
                      </a:r>
                    </a:p>
                  </a:txBody>
                  <a:tcPr marL="137160" marR="9144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3233A"/>
                          </a:solidFill>
                          <a:latin typeface="Calibri"/>
                        </a:rPr>
                        <a:t>New dataset</a:t>
                      </a:r>
                    </a:p>
                  </a:txBody>
                  <a:tcPr marL="137160" marR="91440" anchor="ctr"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3233A"/>
                          </a:solidFill>
                          <a:latin typeface="Calibri"/>
                        </a:rPr>
                        <a:t>Does it generalize?</a:t>
                      </a:r>
                    </a:p>
                  </a:txBody>
                  <a:tcPr marL="137160" marR="91440" anchor="ctr">
                    <a:solidFill>
                      <a:srgbClr val="E6EE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3233A"/>
                          </a:solidFill>
                          <a:latin typeface="Calibri"/>
                        </a:rPr>
                        <a:t>Different time period</a:t>
                      </a:r>
                    </a:p>
                  </a:txBody>
                  <a:tcPr marL="13716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3233A"/>
                          </a:solidFill>
                          <a:latin typeface="Calibri"/>
                        </a:rPr>
                        <a:t>Does it handle changing traffic?</a:t>
                      </a:r>
                    </a:p>
                  </a:txBody>
                  <a:tcPr marL="137160" marR="9144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3233A"/>
                          </a:solidFill>
                          <a:latin typeface="Calibri"/>
                        </a:rPr>
                        <a:t>New attack type</a:t>
                      </a:r>
                    </a:p>
                  </a:txBody>
                  <a:tcPr marL="137160" marR="91440" anchor="ctr"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3233A"/>
                          </a:solidFill>
                          <a:latin typeface="Calibri"/>
                        </a:rPr>
                        <a:t>Can it detect unfamiliar attacks?</a:t>
                      </a:r>
                    </a:p>
                  </a:txBody>
                  <a:tcPr marL="137160" marR="91440" anchor="ctr">
                    <a:solidFill>
                      <a:srgbClr val="E6EE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3233A"/>
                          </a:solidFill>
                          <a:latin typeface="Calibri"/>
                        </a:rPr>
                        <a:t>Reduced features</a:t>
                      </a:r>
                    </a:p>
                  </a:txBody>
                  <a:tcPr marL="13716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3233A"/>
                          </a:solidFill>
                          <a:latin typeface="Calibri"/>
                        </a:rPr>
                        <a:t>How dependent is it on specific features?</a:t>
                      </a:r>
                    </a:p>
                  </a:txBody>
                  <a:tcPr marL="13716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compare-card"/>
          <p:cNvSpPr/>
          <p:nvPr/>
        </p:nvSpPr>
        <p:spPr>
          <a:xfrm>
            <a:off x="7498079" y="2651760"/>
            <a:ext cx="4142232" cy="25786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26679" y="278892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5A6B80"/>
                </a:solidFill>
                <a:latin typeface="Calibri"/>
              </a:rPr>
              <a:t>COMPARE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26679" y="3090672"/>
            <a:ext cx="11887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13233A"/>
                </a:solidFill>
                <a:latin typeface="Calibri"/>
              </a:rPr>
              <a:t>LightGBM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34272" y="3090672"/>
            <a:ext cx="1188720" cy="566928"/>
          </a:xfrm>
          <a:prstGeom prst="roundRect">
            <a:avLst>
              <a:gd name="adj" fmla="val 50000"/>
            </a:avLst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Modern AI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41864" y="3090672"/>
            <a:ext cx="1097280" cy="566928"/>
          </a:xfrm>
          <a:prstGeom prst="roundRect">
            <a:avLst>
              <a:gd name="adj" fmla="val 50000"/>
            </a:avLst>
          </a:prstGeom>
          <a:solidFill>
            <a:srgbClr val="0B7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/>
            </a:r>
            <a:r>
              <a:rPr sz="1300" b="1" i="0">
                <a:solidFill>
                  <a:srgbClr val="FFFFFF"/>
                </a:solidFill>
                <a:latin typeface="Calibri"/>
              </a:rPr>
              <a:t>Combined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our approach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391363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5A6B80"/>
                </a:solidFill>
                <a:latin typeface="Calibri"/>
              </a:rPr>
              <a:t>MEASURE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26679" y="4206240"/>
            <a:ext cx="1170432" cy="365760"/>
          </a:xfrm>
          <a:prstGeom prst="roundRect">
            <a:avLst>
              <a:gd name="adj" fmla="val 50000"/>
            </a:avLst>
          </a:prstGeom>
          <a:solidFill>
            <a:srgbClr val="E6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13233A"/>
                </a:solidFill>
                <a:latin typeface="Calibri"/>
              </a:rPr>
              <a:t>Accuracy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88551" y="4206240"/>
            <a:ext cx="1170432" cy="365760"/>
          </a:xfrm>
          <a:prstGeom prst="roundRect">
            <a:avLst>
              <a:gd name="adj" fmla="val 50000"/>
            </a:avLst>
          </a:prstGeom>
          <a:solidFill>
            <a:srgbClr val="E6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13233A"/>
                </a:solidFill>
                <a:latin typeface="Calibri"/>
              </a:rPr>
              <a:t>Precision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50424" y="4206240"/>
            <a:ext cx="1170432" cy="365760"/>
          </a:xfrm>
          <a:prstGeom prst="roundRect">
            <a:avLst>
              <a:gd name="adj" fmla="val 50000"/>
            </a:avLst>
          </a:prstGeom>
          <a:solidFill>
            <a:srgbClr val="E6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13233A"/>
                </a:solidFill>
                <a:latin typeface="Calibri"/>
              </a:rPr>
              <a:t>Recall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26679" y="4681727"/>
            <a:ext cx="1170432" cy="365760"/>
          </a:xfrm>
          <a:prstGeom prst="roundRect">
            <a:avLst>
              <a:gd name="adj" fmla="val 50000"/>
            </a:avLst>
          </a:prstGeom>
          <a:solidFill>
            <a:srgbClr val="E6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13233A"/>
                </a:solidFill>
                <a:latin typeface="Calibri"/>
              </a:rPr>
              <a:t>F1-score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88551" y="4681727"/>
            <a:ext cx="1170432" cy="365760"/>
          </a:xfrm>
          <a:prstGeom prst="roundRect">
            <a:avLst>
              <a:gd name="adj" fmla="val 50000"/>
            </a:avLst>
          </a:prstGeom>
          <a:solidFill>
            <a:srgbClr val="E6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13233A"/>
                </a:solidFill>
                <a:latin typeface="Calibri"/>
              </a:rPr>
              <a:t>False alarms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50424" y="4681727"/>
            <a:ext cx="1170432" cy="365760"/>
          </a:xfrm>
          <a:prstGeom prst="roundRect">
            <a:avLst>
              <a:gd name="adj" fmla="val 50000"/>
            </a:avLst>
          </a:prstGeom>
          <a:solidFill>
            <a:srgbClr val="E6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13233A"/>
                </a:solidFill>
                <a:latin typeface="Calibri"/>
              </a:rPr>
              <a:t>Speed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44068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80">
                <a:solidFill>
                  <a:srgbClr val="5A6B80"/>
                </a:solidFill>
                <a:latin typeface="Calibri"/>
              </a:rPr>
              <a:t>TECH STACK  ·  click to open docs</a:t>
            </a:r>
          </a:p>
        </p:txBody>
      </p:sp>
      <p:sp>
        <p:nvSpPr>
          <p:cNvPr id="38" name="Rounded Rectangle 37">
            <a:hlinkClick r:id="rId7"/>
          </p:cNvPr>
          <p:cNvSpPr/>
          <p:nvPr/>
        </p:nvSpPr>
        <p:spPr>
          <a:xfrm>
            <a:off x="548640" y="5715000"/>
            <a:ext cx="1463040" cy="502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con-bg-code"/>
          <p:cNvSpPr/>
          <p:nvPr/>
        </p:nvSpPr>
        <p:spPr>
          <a:xfrm>
            <a:off x="640080" y="5811012"/>
            <a:ext cx="310896" cy="310896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icon-code" descr="cod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368" y="5876300"/>
            <a:ext cx="180319" cy="18031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24128" y="5715000"/>
            <a:ext cx="9692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3233A"/>
                </a:solidFill>
                <a:latin typeface="Calibri"/>
              </a:rPr>
              <a:t>Python</a:t>
            </a:r>
          </a:p>
        </p:txBody>
      </p:sp>
      <p:sp>
        <p:nvSpPr>
          <p:cNvPr id="42" name="Rounded Rectangle 41">
            <a:hlinkClick r:id="rId9"/>
          </p:cNvPr>
          <p:cNvSpPr/>
          <p:nvPr/>
        </p:nvSpPr>
        <p:spPr>
          <a:xfrm>
            <a:off x="2153412" y="5715000"/>
            <a:ext cx="1463040" cy="502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con-bg-grid"/>
          <p:cNvSpPr/>
          <p:nvPr/>
        </p:nvSpPr>
        <p:spPr>
          <a:xfrm>
            <a:off x="2244852" y="5811012"/>
            <a:ext cx="310896" cy="310896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icon-grid" descr="grid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10140" y="5876300"/>
            <a:ext cx="180319" cy="18031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2628900" y="5715000"/>
            <a:ext cx="9692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3233A"/>
                </a:solidFill>
                <a:latin typeface="Calibri"/>
              </a:rPr>
              <a:t>pandas</a:t>
            </a:r>
          </a:p>
        </p:txBody>
      </p:sp>
      <p:sp>
        <p:nvSpPr>
          <p:cNvPr id="46" name="Rounded Rectangle 45">
            <a:hlinkClick r:id="rId11"/>
          </p:cNvPr>
          <p:cNvSpPr/>
          <p:nvPr/>
        </p:nvSpPr>
        <p:spPr>
          <a:xfrm>
            <a:off x="3758184" y="5715000"/>
            <a:ext cx="1463040" cy="502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con-bg-scatter"/>
          <p:cNvSpPr/>
          <p:nvPr/>
        </p:nvSpPr>
        <p:spPr>
          <a:xfrm>
            <a:off x="3849624" y="5811012"/>
            <a:ext cx="310896" cy="310896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icon-scatter" descr="scatter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4912" y="5876300"/>
            <a:ext cx="180319" cy="180319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233672" y="5715000"/>
            <a:ext cx="9692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3233A"/>
                </a:solidFill>
                <a:latin typeface="Calibri"/>
              </a:rPr>
              <a:t>scikit-learn</a:t>
            </a:r>
          </a:p>
        </p:txBody>
      </p:sp>
      <p:sp>
        <p:nvSpPr>
          <p:cNvPr id="50" name="Rounded Rectangle 49">
            <a:hlinkClick r:id="rId13"/>
          </p:cNvPr>
          <p:cNvSpPr/>
          <p:nvPr/>
        </p:nvSpPr>
        <p:spPr>
          <a:xfrm>
            <a:off x="5362956" y="5715000"/>
            <a:ext cx="1463040" cy="502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con-bg-leaf"/>
          <p:cNvSpPr/>
          <p:nvPr/>
        </p:nvSpPr>
        <p:spPr>
          <a:xfrm>
            <a:off x="5454396" y="5811012"/>
            <a:ext cx="310896" cy="310896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icon-leaf" descr="leaf ico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19684" y="5876300"/>
            <a:ext cx="180319" cy="180319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838444" y="5715000"/>
            <a:ext cx="9692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3233A"/>
                </a:solidFill>
                <a:latin typeface="Calibri"/>
              </a:rPr>
              <a:t>LightGBM</a:t>
            </a:r>
          </a:p>
        </p:txBody>
      </p:sp>
      <p:sp>
        <p:nvSpPr>
          <p:cNvPr id="54" name="Rounded Rectangle 53">
            <a:hlinkClick r:id="rId15"/>
          </p:cNvPr>
          <p:cNvSpPr/>
          <p:nvPr/>
        </p:nvSpPr>
        <p:spPr>
          <a:xfrm>
            <a:off x="6967728" y="5715000"/>
            <a:ext cx="1463040" cy="502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con-bg-bolt"/>
          <p:cNvSpPr/>
          <p:nvPr/>
        </p:nvSpPr>
        <p:spPr>
          <a:xfrm>
            <a:off x="7059168" y="5811012"/>
            <a:ext cx="310896" cy="310896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icon-bolt" descr="bolt icon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24456" y="5876300"/>
            <a:ext cx="180319" cy="180319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443216" y="5715000"/>
            <a:ext cx="9692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3233A"/>
                </a:solidFill>
                <a:latin typeface="Calibri"/>
              </a:rPr>
              <a:t>XGBoost</a:t>
            </a:r>
          </a:p>
        </p:txBody>
      </p:sp>
      <p:sp>
        <p:nvSpPr>
          <p:cNvPr id="58" name="Rounded Rectangle 57">
            <a:hlinkClick r:id="rId17"/>
          </p:cNvPr>
          <p:cNvSpPr/>
          <p:nvPr/>
        </p:nvSpPr>
        <p:spPr>
          <a:xfrm>
            <a:off x="8572500" y="5715000"/>
            <a:ext cx="1463040" cy="502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icon-bg-flame"/>
          <p:cNvSpPr/>
          <p:nvPr/>
        </p:nvSpPr>
        <p:spPr>
          <a:xfrm>
            <a:off x="8663940" y="5811012"/>
            <a:ext cx="310896" cy="310896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icon-flame" descr="flame icon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29228" y="5876300"/>
            <a:ext cx="180319" cy="180319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9047988" y="5715000"/>
            <a:ext cx="9692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3233A"/>
                </a:solidFill>
                <a:latin typeface="Calibri"/>
              </a:rPr>
              <a:t>PyTorch</a:t>
            </a:r>
          </a:p>
        </p:txBody>
      </p:sp>
      <p:sp>
        <p:nvSpPr>
          <p:cNvPr id="62" name="Rounded Rectangle 61">
            <a:hlinkClick r:id="rId19"/>
          </p:cNvPr>
          <p:cNvSpPr/>
          <p:nvPr/>
        </p:nvSpPr>
        <p:spPr>
          <a:xfrm>
            <a:off x="10177272" y="5715000"/>
            <a:ext cx="1463040" cy="502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icon-bg-smile"/>
          <p:cNvSpPr/>
          <p:nvPr/>
        </p:nvSpPr>
        <p:spPr>
          <a:xfrm>
            <a:off x="10268712" y="5811012"/>
            <a:ext cx="310896" cy="310896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icon-smile" descr="smile icon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34000" y="5876300"/>
            <a:ext cx="180319" cy="180319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0652760" y="5715000"/>
            <a:ext cx="9692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3233A"/>
                </a:solidFill>
                <a:latin typeface="Calibri"/>
              </a:rPr>
              <a:t>Hugging Face</a:t>
            </a:r>
          </a:p>
        </p:txBody>
      </p:sp>
      <p:sp>
        <p:nvSpPr>
          <p:cNvPr id="66" name="footer"/>
          <p:cNvSpPr txBox="1"/>
          <p:nvPr/>
        </p:nvSpPr>
        <p:spPr>
          <a:xfrm>
            <a:off x="548640" y="6428232"/>
            <a:ext cx="84124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5A6B80"/>
                </a:solidFill>
                <a:latin typeface="Calibri"/>
              </a:rPr>
              <a:t>Beyond 100%  ·  Testing and Improving ML-Based Network Attack Detection</a:t>
            </a:r>
          </a:p>
        </p:txBody>
      </p:sp>
      <p:sp>
        <p:nvSpPr>
          <p:cNvPr id="67" name="nav-1">
            <a:hlinkClick action="ppaction://hlinksldjump" r:id="rId20"/>
          </p:cNvPr>
          <p:cNvSpPr/>
          <p:nvPr/>
        </p:nvSpPr>
        <p:spPr>
          <a:xfrm>
            <a:off x="9628632" y="6400800"/>
            <a:ext cx="274320" cy="274320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5A6B80"/>
                </a:solidFill>
                <a:latin typeface="Calibri"/>
              </a:rPr>
              <a:t>1</a:t>
            </a:r>
          </a:p>
        </p:txBody>
      </p:sp>
      <p:sp>
        <p:nvSpPr>
          <p:cNvPr id="68" name="nav-2">
            <a:hlinkClick action="ppaction://hlinksldjump" r:id="rId21"/>
          </p:cNvPr>
          <p:cNvSpPr/>
          <p:nvPr/>
        </p:nvSpPr>
        <p:spPr>
          <a:xfrm>
            <a:off x="9976104" y="6400800"/>
            <a:ext cx="274320" cy="274320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5A6B80"/>
                </a:solidFill>
                <a:latin typeface="Calibri"/>
              </a:rPr>
              <a:t>2</a:t>
            </a:r>
          </a:p>
        </p:txBody>
      </p:sp>
      <p:sp>
        <p:nvSpPr>
          <p:cNvPr id="69" name="nav-3">
            <a:hlinkClick action="ppaction://hlinksldjump" r:id="rId22"/>
          </p:cNvPr>
          <p:cNvSpPr/>
          <p:nvPr/>
        </p:nvSpPr>
        <p:spPr>
          <a:xfrm>
            <a:off x="10323576" y="6400800"/>
            <a:ext cx="274320" cy="274320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5A6B80"/>
                </a:solidFill>
                <a:latin typeface="Calibri"/>
              </a:rPr>
              <a:t>3</a:t>
            </a:r>
          </a:p>
        </p:txBody>
      </p:sp>
      <p:sp>
        <p:nvSpPr>
          <p:cNvPr id="70" name="nav-4">
            <a:hlinkClick action="ppaction://hlinksldjump" r:id="rId23"/>
          </p:cNvPr>
          <p:cNvSpPr/>
          <p:nvPr/>
        </p:nvSpPr>
        <p:spPr>
          <a:xfrm>
            <a:off x="10671048" y="6400800"/>
            <a:ext cx="274320" cy="274320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5A6B80"/>
                </a:solidFill>
                <a:latin typeface="Calibri"/>
              </a:rPr>
              <a:t>4</a:t>
            </a:r>
          </a:p>
        </p:txBody>
      </p:sp>
      <p:sp>
        <p:nvSpPr>
          <p:cNvPr id="71" name="nav-5">
            <a:hlinkClick action="ppaction://hlinksldjump" r:id="rId24"/>
          </p:cNvPr>
          <p:cNvSpPr/>
          <p:nvPr/>
        </p:nvSpPr>
        <p:spPr>
          <a:xfrm>
            <a:off x="11018519" y="6400800"/>
            <a:ext cx="274320" cy="27432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72" name="nav-6">
            <a:hlinkClick action="ppaction://hlinksldjump" r:id="rId25"/>
          </p:cNvPr>
          <p:cNvSpPr/>
          <p:nvPr/>
        </p:nvSpPr>
        <p:spPr>
          <a:xfrm>
            <a:off x="11365992" y="6400800"/>
            <a:ext cx="274320" cy="274320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5A6B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66928"/>
            <a:ext cx="11064240" cy="731520"/>
          </a:xfrm>
        </p:spPr>
        <p:txBody>
          <a:bodyPr wrap="square" lIns="0" tIns="0" rIns="0" bIns="0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From High Accuracy to Reliable Detection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548640" y="3017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F2A900"/>
                </a:solidFill>
                <a:latin typeface="Calibri"/>
              </a:rPr>
              <a:t>06  ·  THE GOAL</a:t>
            </a:r>
          </a:p>
        </p:txBody>
      </p:sp>
      <p:sp>
        <p:nvSpPr>
          <p:cNvPr id="4" name="goal"/>
          <p:cNvSpPr/>
          <p:nvPr/>
        </p:nvSpPr>
        <p:spPr>
          <a:xfrm>
            <a:off x="548640" y="1417320"/>
            <a:ext cx="11091672" cy="960120"/>
          </a:xfrm>
          <a:prstGeom prst="roundRect">
            <a:avLst>
              <a:gd name="adj" fmla="val 10000"/>
            </a:avLst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0" rIns="274320" bIns="0"/>
          <a:lstStyle/>
          <a:p>
            <a:pPr algn="l"/>
            <a:r>
              <a:rPr sz="2200" b="0" i="1">
                <a:solidFill>
                  <a:srgbClr val="FFFFFF"/>
                </a:solidFill>
                <a:latin typeface="Cambria"/>
              </a:rPr>
              <a:t>A network detector that knows when it is confident — and when it needs deeper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51760"/>
            <a:ext cx="4206240" cy="3154680"/>
          </a:xfrm>
          <a:prstGeom prst="roundRect">
            <a:avLst>
              <a:gd name="adj" fmla="val 5000"/>
            </a:avLst>
          </a:prstGeom>
          <a:solidFill>
            <a:srgbClr val="13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788920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F2A900"/>
                </a:solidFill>
                <a:latin typeface="Calibri"/>
              </a:rPr>
              <a:t>EXPECTED BENEFITS  (TO VALIDATE)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05755" y="2651760"/>
            <a:ext cx="3657600" cy="3154680"/>
          </a:xfrm>
          <a:prstGeom prst="roundRect">
            <a:avLst>
              <a:gd name="adj" fmla="val 5000"/>
            </a:avLst>
          </a:prstGeom>
          <a:solidFill>
            <a:srgbClr val="13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80075" y="2788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F2A900"/>
                </a:solidFill>
                <a:latin typeface="Calibri"/>
              </a:rPr>
              <a:t>APPLICATIONS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14232" y="2651760"/>
            <a:ext cx="2926080" cy="3154680"/>
          </a:xfrm>
          <a:prstGeom prst="roundRect">
            <a:avLst>
              <a:gd name="adj" fmla="val 5000"/>
            </a:avLst>
          </a:prstGeom>
          <a:solidFill>
            <a:srgbClr val="13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88552" y="278892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F2A900"/>
                </a:solidFill>
                <a:latin typeface="Calibri"/>
              </a:rPr>
              <a:t>FUTURE WORK</a:t>
            </a:r>
          </a:p>
        </p:txBody>
      </p:sp>
      <p:sp>
        <p:nvSpPr>
          <p:cNvPr id="11" name="icon-bg-check"/>
          <p:cNvSpPr/>
          <p:nvPr/>
        </p:nvSpPr>
        <p:spPr>
          <a:xfrm>
            <a:off x="822959" y="3200400"/>
            <a:ext cx="310896" cy="310896"/>
          </a:xfrm>
          <a:prstGeom prst="ellipse">
            <a:avLst/>
          </a:prstGeom>
          <a:solidFill>
            <a:srgbClr val="0B7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con-check" descr="check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248" y="3265688"/>
            <a:ext cx="180319" cy="18031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80160" y="3200400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Better performance on new traffic</a:t>
            </a:r>
          </a:p>
        </p:txBody>
      </p:sp>
      <p:sp>
        <p:nvSpPr>
          <p:cNvPr id="14" name="icon-bg-check"/>
          <p:cNvSpPr/>
          <p:nvPr/>
        </p:nvSpPr>
        <p:spPr>
          <a:xfrm>
            <a:off x="822959" y="3703320"/>
            <a:ext cx="310896" cy="310896"/>
          </a:xfrm>
          <a:prstGeom prst="ellipse">
            <a:avLst/>
          </a:prstGeom>
          <a:solidFill>
            <a:srgbClr val="0B7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con-check" descr="check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248" y="3768608"/>
            <a:ext cx="180319" cy="18031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80160" y="3703320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Fewer false alarms</a:t>
            </a:r>
          </a:p>
        </p:txBody>
      </p:sp>
      <p:sp>
        <p:nvSpPr>
          <p:cNvPr id="17" name="icon-bg-check"/>
          <p:cNvSpPr/>
          <p:nvPr/>
        </p:nvSpPr>
        <p:spPr>
          <a:xfrm>
            <a:off x="822959" y="4206240"/>
            <a:ext cx="310896" cy="310896"/>
          </a:xfrm>
          <a:prstGeom prst="ellipse">
            <a:avLst/>
          </a:prstGeom>
          <a:solidFill>
            <a:srgbClr val="0B7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icon-check" descr="check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248" y="4271528"/>
            <a:ext cx="180319" cy="18031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80160" y="4206240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Better handling of unfamiliar attacks</a:t>
            </a:r>
          </a:p>
        </p:txBody>
      </p:sp>
      <p:sp>
        <p:nvSpPr>
          <p:cNvPr id="20" name="icon-bg-check"/>
          <p:cNvSpPr/>
          <p:nvPr/>
        </p:nvSpPr>
        <p:spPr>
          <a:xfrm>
            <a:off x="822959" y="4709160"/>
            <a:ext cx="310896" cy="310896"/>
          </a:xfrm>
          <a:prstGeom prst="ellipse">
            <a:avLst/>
          </a:prstGeom>
          <a:solidFill>
            <a:srgbClr val="0B7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con-check" descr="check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248" y="4774448"/>
            <a:ext cx="180319" cy="18031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80160" y="4709160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Faster detection for normal cases</a:t>
            </a:r>
          </a:p>
        </p:txBody>
      </p:sp>
      <p:sp>
        <p:nvSpPr>
          <p:cNvPr id="23" name="icon-bg-check"/>
          <p:cNvSpPr/>
          <p:nvPr/>
        </p:nvSpPr>
        <p:spPr>
          <a:xfrm>
            <a:off x="822959" y="5212080"/>
            <a:ext cx="310896" cy="310896"/>
          </a:xfrm>
          <a:prstGeom prst="ellipse">
            <a:avLst/>
          </a:prstGeom>
          <a:solidFill>
            <a:srgbClr val="0B7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icon-check" descr="check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248" y="5277368"/>
            <a:ext cx="180319" cy="18031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80160" y="5212080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Deeper analysis only when necessary</a:t>
            </a:r>
          </a:p>
        </p:txBody>
      </p:sp>
      <p:sp>
        <p:nvSpPr>
          <p:cNvPr id="26" name="icon-bg-building"/>
          <p:cNvSpPr/>
          <p:nvPr/>
        </p:nvSpPr>
        <p:spPr>
          <a:xfrm>
            <a:off x="5180075" y="3172968"/>
            <a:ext cx="365760" cy="365760"/>
          </a:xfrm>
          <a:prstGeom prst="ellipse">
            <a:avLst/>
          </a:prstGeom>
          <a:solidFill>
            <a:srgbClr val="2D7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icon-building" descr="building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6885" y="3249777"/>
            <a:ext cx="212140" cy="2121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682995" y="317296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Enterprise networks</a:t>
            </a:r>
          </a:p>
        </p:txBody>
      </p:sp>
      <p:sp>
        <p:nvSpPr>
          <p:cNvPr id="29" name="icon-bg-server"/>
          <p:cNvSpPr/>
          <p:nvPr/>
        </p:nvSpPr>
        <p:spPr>
          <a:xfrm>
            <a:off x="5180075" y="3675888"/>
            <a:ext cx="365760" cy="365760"/>
          </a:xfrm>
          <a:prstGeom prst="ellipse">
            <a:avLst/>
          </a:prstGeom>
          <a:solidFill>
            <a:srgbClr val="2D7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icon-server" descr="server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6885" y="3752697"/>
            <a:ext cx="212140" cy="2121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682995" y="367588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Data centers</a:t>
            </a:r>
          </a:p>
        </p:txBody>
      </p:sp>
      <p:sp>
        <p:nvSpPr>
          <p:cNvPr id="32" name="icon-bg-cloud"/>
          <p:cNvSpPr/>
          <p:nvPr/>
        </p:nvSpPr>
        <p:spPr>
          <a:xfrm>
            <a:off x="5180075" y="4178808"/>
            <a:ext cx="365760" cy="365760"/>
          </a:xfrm>
          <a:prstGeom prst="ellipse">
            <a:avLst/>
          </a:prstGeom>
          <a:solidFill>
            <a:srgbClr val="2D7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icon-cloud" descr="cloud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6885" y="4255617"/>
            <a:ext cx="212140" cy="21214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682995" y="417880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Cloud networks</a:t>
            </a:r>
          </a:p>
        </p:txBody>
      </p:sp>
      <p:sp>
        <p:nvSpPr>
          <p:cNvPr id="35" name="icon-bg-eye"/>
          <p:cNvSpPr/>
          <p:nvPr/>
        </p:nvSpPr>
        <p:spPr>
          <a:xfrm>
            <a:off x="5180075" y="4681728"/>
            <a:ext cx="365760" cy="365760"/>
          </a:xfrm>
          <a:prstGeom prst="ellipse">
            <a:avLst/>
          </a:prstGeom>
          <a:solidFill>
            <a:srgbClr val="2D7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icon-eye" descr="ey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6885" y="4758537"/>
            <a:ext cx="212140" cy="21214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682995" y="468172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Security monitoring</a:t>
            </a:r>
          </a:p>
        </p:txBody>
      </p:sp>
      <p:sp>
        <p:nvSpPr>
          <p:cNvPr id="38" name="icon-bg-wifi"/>
          <p:cNvSpPr/>
          <p:nvPr/>
        </p:nvSpPr>
        <p:spPr>
          <a:xfrm>
            <a:off x="5180075" y="5184648"/>
            <a:ext cx="365760" cy="365760"/>
          </a:xfrm>
          <a:prstGeom prst="ellipse">
            <a:avLst/>
          </a:prstGeom>
          <a:solidFill>
            <a:srgbClr val="2D7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icon-wifi" descr="wifi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6885" y="5261457"/>
            <a:ext cx="212140" cy="21214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682995" y="518464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IoT environments</a:t>
            </a:r>
          </a:p>
        </p:txBody>
      </p:sp>
      <p:sp>
        <p:nvSpPr>
          <p:cNvPr id="41" name="Oval 40"/>
          <p:cNvSpPr/>
          <p:nvPr/>
        </p:nvSpPr>
        <p:spPr>
          <a:xfrm>
            <a:off x="9006840" y="3310128"/>
            <a:ext cx="109728" cy="109728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62872" y="3200400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Real-time deployment</a:t>
            </a:r>
          </a:p>
        </p:txBody>
      </p:sp>
      <p:sp>
        <p:nvSpPr>
          <p:cNvPr id="43" name="Oval 42"/>
          <p:cNvSpPr/>
          <p:nvPr/>
        </p:nvSpPr>
        <p:spPr>
          <a:xfrm>
            <a:off x="9006840" y="3813048"/>
            <a:ext cx="109728" cy="109728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62872" y="3703320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More datasets</a:t>
            </a:r>
          </a:p>
        </p:txBody>
      </p:sp>
      <p:sp>
        <p:nvSpPr>
          <p:cNvPr id="45" name="Oval 44"/>
          <p:cNvSpPr/>
          <p:nvPr/>
        </p:nvSpPr>
        <p:spPr>
          <a:xfrm>
            <a:off x="9006840" y="4315968"/>
            <a:ext cx="109728" cy="109728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62872" y="4206240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Online learning</a:t>
            </a:r>
          </a:p>
        </p:txBody>
      </p:sp>
      <p:sp>
        <p:nvSpPr>
          <p:cNvPr id="47" name="Oval 46"/>
          <p:cNvSpPr/>
          <p:nvPr/>
        </p:nvSpPr>
        <p:spPr>
          <a:xfrm>
            <a:off x="9006840" y="4818888"/>
            <a:ext cx="109728" cy="109728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62872" y="4709160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Zero-day attack detection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1">
                <a:solidFill>
                  <a:srgbClr val="FFFFFF"/>
                </a:solidFill>
                <a:latin typeface="Cambria"/>
              </a:rPr>
              <a:t>Accuracy alone isn't enough.</a:t>
            </a:r>
          </a:p>
        </p:txBody>
      </p:sp>
      <p:sp>
        <p:nvSpPr>
          <p:cNvPr id="50" name="footer"/>
          <p:cNvSpPr txBox="1"/>
          <p:nvPr/>
        </p:nvSpPr>
        <p:spPr>
          <a:xfrm>
            <a:off x="548640" y="6428232"/>
            <a:ext cx="84124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9FB3CC"/>
                </a:solidFill>
                <a:latin typeface="Calibri"/>
              </a:rPr>
              <a:t>Beyond 100%  ·  Testing and Improving ML-Based Network Attack Detection</a:t>
            </a:r>
          </a:p>
        </p:txBody>
      </p:sp>
      <p:sp>
        <p:nvSpPr>
          <p:cNvPr id="51" name="nav-1">
            <a:hlinkClick action="ppaction://hlinksldjump" r:id="rId8"/>
          </p:cNvPr>
          <p:cNvSpPr/>
          <p:nvPr/>
        </p:nvSpPr>
        <p:spPr>
          <a:xfrm>
            <a:off x="9628632" y="6400800"/>
            <a:ext cx="274320" cy="274320"/>
          </a:xfrm>
          <a:prstGeom prst="ellipse">
            <a:avLst/>
          </a:prstGeom>
          <a:noFill/>
          <a:ln w="12700">
            <a:solidFill>
              <a:srgbClr val="9FB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9FB3CC"/>
                </a:solidFill>
                <a:latin typeface="Calibri"/>
              </a:rPr>
              <a:t>1</a:t>
            </a:r>
          </a:p>
        </p:txBody>
      </p:sp>
      <p:sp>
        <p:nvSpPr>
          <p:cNvPr id="52" name="nav-2">
            <a:hlinkClick action="ppaction://hlinksldjump" r:id="rId9"/>
          </p:cNvPr>
          <p:cNvSpPr/>
          <p:nvPr/>
        </p:nvSpPr>
        <p:spPr>
          <a:xfrm>
            <a:off x="9976104" y="6400800"/>
            <a:ext cx="274320" cy="274320"/>
          </a:xfrm>
          <a:prstGeom prst="ellipse">
            <a:avLst/>
          </a:prstGeom>
          <a:noFill/>
          <a:ln w="12700">
            <a:solidFill>
              <a:srgbClr val="9FB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9FB3CC"/>
                </a:solidFill>
                <a:latin typeface="Calibri"/>
              </a:rPr>
              <a:t>2</a:t>
            </a:r>
          </a:p>
        </p:txBody>
      </p:sp>
      <p:sp>
        <p:nvSpPr>
          <p:cNvPr id="53" name="nav-3">
            <a:hlinkClick action="ppaction://hlinksldjump" r:id="rId10"/>
          </p:cNvPr>
          <p:cNvSpPr/>
          <p:nvPr/>
        </p:nvSpPr>
        <p:spPr>
          <a:xfrm>
            <a:off x="10323576" y="6400800"/>
            <a:ext cx="274320" cy="274320"/>
          </a:xfrm>
          <a:prstGeom prst="ellipse">
            <a:avLst/>
          </a:prstGeom>
          <a:noFill/>
          <a:ln w="12700">
            <a:solidFill>
              <a:srgbClr val="9FB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9FB3CC"/>
                </a:solidFill>
                <a:latin typeface="Calibri"/>
              </a:rPr>
              <a:t>3</a:t>
            </a:r>
          </a:p>
        </p:txBody>
      </p:sp>
      <p:sp>
        <p:nvSpPr>
          <p:cNvPr id="54" name="nav-4">
            <a:hlinkClick action="ppaction://hlinksldjump" r:id="rId11"/>
          </p:cNvPr>
          <p:cNvSpPr/>
          <p:nvPr/>
        </p:nvSpPr>
        <p:spPr>
          <a:xfrm>
            <a:off x="10671048" y="6400800"/>
            <a:ext cx="274320" cy="274320"/>
          </a:xfrm>
          <a:prstGeom prst="ellipse">
            <a:avLst/>
          </a:prstGeom>
          <a:noFill/>
          <a:ln w="12700">
            <a:solidFill>
              <a:srgbClr val="9FB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9FB3CC"/>
                </a:solidFill>
                <a:latin typeface="Calibri"/>
              </a:rPr>
              <a:t>4</a:t>
            </a:r>
          </a:p>
        </p:txBody>
      </p:sp>
      <p:sp>
        <p:nvSpPr>
          <p:cNvPr id="55" name="nav-5">
            <a:hlinkClick action="ppaction://hlinksldjump" r:id="rId12"/>
          </p:cNvPr>
          <p:cNvSpPr/>
          <p:nvPr/>
        </p:nvSpPr>
        <p:spPr>
          <a:xfrm>
            <a:off x="11018519" y="6400800"/>
            <a:ext cx="274320" cy="274320"/>
          </a:xfrm>
          <a:prstGeom prst="ellipse">
            <a:avLst/>
          </a:prstGeom>
          <a:noFill/>
          <a:ln w="12700">
            <a:solidFill>
              <a:srgbClr val="9FB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9FB3CC"/>
                </a:solidFill>
                <a:latin typeface="Calibri"/>
              </a:rPr>
              <a:t>5</a:t>
            </a:r>
          </a:p>
        </p:txBody>
      </p:sp>
      <p:sp>
        <p:nvSpPr>
          <p:cNvPr id="56" name="nav-6">
            <a:hlinkClick action="ppaction://hlinksldjump" r:id="rId13"/>
          </p:cNvPr>
          <p:cNvSpPr/>
          <p:nvPr/>
        </p:nvSpPr>
        <p:spPr>
          <a:xfrm>
            <a:off x="11365992" y="6400800"/>
            <a:ext cx="274320" cy="274320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0B1F3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100% - Testing and Improving ML-Based Network Attack Detection</dc:title>
  <dc:subject>IEEE paper review and research plan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