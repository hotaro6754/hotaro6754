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Training accuracy (practice)</c:v>
                </c:pt>
              </c:strCache>
            </c:strRef>
          </c:tx>
          <c:spPr>
            <a:solidFill>
              <a:srgbClr val="0B5CAD"/>
            </a:solidFill>
          </c:spPr>
          <c:cat>
            <c:strRef>
              <c:f>Sheet1!$A$2:$A$8</c:f>
              <c:strCache>
                <c:ptCount val="7"/>
                <c:pt idx="0">
                  <c:v>Isolation Forest</c:v>
                </c:pt>
                <c:pt idx="1">
                  <c:v>Naive Bayes</c:v>
                </c:pt>
                <c:pt idx="2">
                  <c:v>XGBoost</c:v>
                </c:pt>
                <c:pt idx="3">
                  <c:v>LightGBM*</c:v>
                </c:pt>
                <c:pt idx="4">
                  <c:v>SVM</c:v>
                </c:pt>
                <c:pt idx="5">
                  <c:v>Random Forest</c:v>
                </c:pt>
                <c:pt idx="6">
                  <c:v>Logistic Regr.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0.89</c:v>
                </c:pt>
                <c:pt idx="2">
                  <c:v>0.99</c:v>
                </c:pt>
                <c:pt idx="3">
                  <c:v>1.0</c:v>
                </c:pt>
                <c:pt idx="4">
                  <c:v>0.99</c:v>
                </c:pt>
                <c:pt idx="5">
                  <c:v>0.98</c:v>
                </c:pt>
                <c:pt idx="6">
                  <c:v>0.81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accuracy (exam)</c:v>
                </c:pt>
              </c:strCache>
            </c:strRef>
          </c:tx>
          <c:spPr>
            <a:solidFill>
              <a:srgbClr val="F2A900"/>
            </a:solidFill>
          </c:spPr>
          <c:cat>
            <c:strRef>
              <c:f>Sheet1!$A$2:$A$8</c:f>
              <c:strCache>
                <c:ptCount val="7"/>
                <c:pt idx="0">
                  <c:v>Isolation Forest</c:v>
                </c:pt>
                <c:pt idx="1">
                  <c:v>Naive Bayes</c:v>
                </c:pt>
                <c:pt idx="2">
                  <c:v>XGBoost</c:v>
                </c:pt>
                <c:pt idx="3">
                  <c:v>LightGBM*</c:v>
                </c:pt>
                <c:pt idx="4">
                  <c:v>SVM</c:v>
                </c:pt>
                <c:pt idx="5">
                  <c:v>Random Forest</c:v>
                </c:pt>
                <c:pt idx="6">
                  <c:v>Logistic Regr.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0.4</c:v>
                </c:pt>
                <c:pt idx="1">
                  <c:v>0.81</c:v>
                </c:pt>
                <c:pt idx="2">
                  <c:v>0.83</c:v>
                </c:pt>
                <c:pt idx="3">
                  <c:v>0.85</c:v>
                </c:pt>
                <c:pt idx="4">
                  <c:v>0.85</c:v>
                </c:pt>
                <c:pt idx="5">
                  <c:v>0.82</c:v>
                </c:pt>
                <c:pt idx="6">
                  <c:v>0.75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DCE8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13233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hyperlink" Target="https://ieeexplore.ieee.org/document/10833631" TargetMode="External"/><Relationship Id="rId4" Type="http://schemas.openxmlformats.org/officeDocument/2006/relationships/hyperlink" Target="https://doi.org/10.1109/ACCESS.2025.3526988" TargetMode="External"/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hyperlink" Target="https://doi.org/10.1109/ACCESS.2025.3526988" TargetMode="Externa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hyperlink" Target="https://archive.ics.uci.edu/dataset/130/kdd+cup+1999+data" TargetMode="External"/><Relationship Id="rId8" Type="http://schemas.openxmlformats.org/officeDocument/2006/relationships/slide" Target="slide1.xml"/><Relationship Id="rId9" Type="http://schemas.openxmlformats.org/officeDocument/2006/relationships/slide" Target="slide2.xml"/><Relationship Id="rId10" Type="http://schemas.openxmlformats.org/officeDocument/2006/relationships/slide" Target="slide3.xml"/><Relationship Id="rId11" Type="http://schemas.openxmlformats.org/officeDocument/2006/relationships/slide" Target="slide4.xml"/><Relationship Id="rId12" Type="http://schemas.openxmlformats.org/officeDocument/2006/relationships/slide" Target="slide5.xml"/><Relationship Id="rId13" Type="http://schemas.openxmlformats.org/officeDocument/2006/relationships/slide" Target="slide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hyperlink" Target="https://www.ibm.com/think/x-force/2026-cost-of-a-data-breach-ai-adversaries-enterprise-risk" TargetMode="External"/><Relationship Id="rId4" Type="http://schemas.openxmlformats.org/officeDocument/2006/relationships/hyperlink" Target="https://www.ic3.gov/AnnualReport/Reports/2025_IC3Report.pdf" TargetMode="External"/><Relationship Id="rId5" Type="http://schemas.openxmlformats.org/officeDocument/2006/relationships/slide" Target="slide1.xml"/><Relationship Id="rId6" Type="http://schemas.openxmlformats.org/officeDocument/2006/relationships/slide" Target="slide2.xml"/><Relationship Id="rId7" Type="http://schemas.openxmlformats.org/officeDocument/2006/relationships/slide" Target="slide3.xml"/><Relationship Id="rId8" Type="http://schemas.openxmlformats.org/officeDocument/2006/relationships/slide" Target="slide4.xml"/><Relationship Id="rId9" Type="http://schemas.openxmlformats.org/officeDocument/2006/relationships/slide" Target="slide5.xml"/><Relationship Id="rId10" Type="http://schemas.openxmlformats.org/officeDocument/2006/relationships/slide" Target="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slide" Target="slide1.xml"/><Relationship Id="rId9" Type="http://schemas.openxmlformats.org/officeDocument/2006/relationships/slide" Target="slide2.xml"/><Relationship Id="rId10" Type="http://schemas.openxmlformats.org/officeDocument/2006/relationships/slide" Target="slide3.xml"/><Relationship Id="rId11" Type="http://schemas.openxmlformats.org/officeDocument/2006/relationships/slide" Target="slide4.xml"/><Relationship Id="rId12" Type="http://schemas.openxmlformats.org/officeDocument/2006/relationships/slide" Target="slide5.xml"/><Relationship Id="rId13" Type="http://schemas.openxmlformats.org/officeDocument/2006/relationships/slide" Target="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proceedings.neurips.cc/paper/2017/file/6449f44a102fde848669bdd9eb6b76fa-Paper.pdf" TargetMode="Externa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9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hyperlink" Target="https://www.ibm.com/think/x-force/2026-cost-of-a-data-breach-ai-adversaries-enterprise-risk" TargetMode="External"/><Relationship Id="rId9" Type="http://schemas.openxmlformats.org/officeDocument/2006/relationships/slide" Target="slide1.xml"/><Relationship Id="rId10" Type="http://schemas.openxmlformats.org/officeDocument/2006/relationships/slide" Target="slide2.xml"/><Relationship Id="rId11" Type="http://schemas.openxmlformats.org/officeDocument/2006/relationships/slide" Target="slide3.xml"/><Relationship Id="rId12" Type="http://schemas.openxmlformats.org/officeDocument/2006/relationships/slide" Target="slide4.xml"/><Relationship Id="rId13" Type="http://schemas.openxmlformats.org/officeDocument/2006/relationships/slide" Target="slide5.xml"/><Relationship Id="rId14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5.png"/><Relationship Id="rId6" Type="http://schemas.openxmlformats.org/officeDocument/2006/relationships/hyperlink" Target="https://www.unb.ca/cic/datasets/ids-2017.html" TargetMode="External"/><Relationship Id="rId7" Type="http://schemas.openxmlformats.org/officeDocument/2006/relationships/image" Target="../media/image16.png"/><Relationship Id="rId8" Type="http://schemas.openxmlformats.org/officeDocument/2006/relationships/hyperlink" Target="https://www.python.org" TargetMode="External"/><Relationship Id="rId9" Type="http://schemas.openxmlformats.org/officeDocument/2006/relationships/image" Target="../media/image11.png"/><Relationship Id="rId10" Type="http://schemas.openxmlformats.org/officeDocument/2006/relationships/hyperlink" Target="https://lightgbm.readthedocs.io" TargetMode="External"/><Relationship Id="rId11" Type="http://schemas.openxmlformats.org/officeDocument/2006/relationships/image" Target="../media/image17.png"/><Relationship Id="rId12" Type="http://schemas.openxmlformats.org/officeDocument/2006/relationships/hyperlink" Target="https://pytorch.org" TargetMode="External"/><Relationship Id="rId13" Type="http://schemas.openxmlformats.org/officeDocument/2006/relationships/image" Target="../media/image18.png"/><Relationship Id="rId14" Type="http://schemas.openxmlformats.org/officeDocument/2006/relationships/hyperlink" Target="https://huggingface.co" TargetMode="External"/><Relationship Id="rId15" Type="http://schemas.openxmlformats.org/officeDocument/2006/relationships/hyperlink" Target="https://doi.org/10.1109/ACCESS.2025.3526988" TargetMode="External"/><Relationship Id="rId16" Type="http://schemas.openxmlformats.org/officeDocument/2006/relationships/hyperlink" Target="https://ieeexplore.ieee.org/document/10833631" TargetMode="External"/><Relationship Id="rId17" Type="http://schemas.openxmlformats.org/officeDocument/2006/relationships/hyperlink" Target="https://www.ibm.com/think/x-force/2026-cost-of-a-data-breach-ai-adversaries-enterprise-risk" TargetMode="External"/><Relationship Id="rId18" Type="http://schemas.openxmlformats.org/officeDocument/2006/relationships/hyperlink" Target="https://www.ic3.gov/AnnualReport/Reports/2025_IC3Report.pdf" TargetMode="External"/><Relationship Id="rId19" Type="http://schemas.openxmlformats.org/officeDocument/2006/relationships/hyperlink" Target="https://archive.ics.uci.edu/dataset/130/kdd+cup+1999+data" TargetMode="External"/><Relationship Id="rId20" Type="http://schemas.openxmlformats.org/officeDocument/2006/relationships/hyperlink" Target="https://proceedings.neurips.cc/paper/2017/file/6449f44a102fde848669bdd9eb6b76fa-Paper.pdf" TargetMode="External"/><Relationship Id="rId21" Type="http://schemas.openxmlformats.org/officeDocument/2006/relationships/slide" Target="slide1.xml"/><Relationship Id="rId22" Type="http://schemas.openxmlformats.org/officeDocument/2006/relationships/slide" Target="slide2.xml"/><Relationship Id="rId23" Type="http://schemas.openxmlformats.org/officeDocument/2006/relationships/slide" Target="slide3.xml"/><Relationship Id="rId24" Type="http://schemas.openxmlformats.org/officeDocument/2006/relationships/slide" Target="slide4.xml"/><Relationship Id="rId25" Type="http://schemas.openxmlformats.org/officeDocument/2006/relationships/slide" Target="slide5.xml"/><Relationship Id="rId26" Type="http://schemas.openxmlformats.org/officeDocument/2006/relationships/slide" Target="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097280"/>
            <a:ext cx="6949440" cy="1005840"/>
          </a:xfrm>
        </p:spPr>
        <p:txBody>
          <a:bodyPr wrap="square" lIns="0" tIns="0" rIns="0" bIns="0" anchor="t"/>
          <a:lstStyle/>
          <a:p>
            <a:pPr algn="l"/>
            <a:r>
              <a:rPr sz="6000" b="1" i="0">
                <a:solidFill>
                  <a:srgbClr val="FFFFFF"/>
                </a:solidFill>
                <a:latin typeface="Cambria"/>
              </a:rPr>
              <a:t>Beyond 100%</a:t>
            </a:r>
          </a:p>
        </p:txBody>
      </p:sp>
      <p:sp>
        <p:nvSpPr>
          <p:cNvPr id="3" name="icon-bg-shield"/>
          <p:cNvSpPr/>
          <p:nvPr/>
        </p:nvSpPr>
        <p:spPr>
          <a:xfrm>
            <a:off x="548640" y="384048"/>
            <a:ext cx="457200" cy="457200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icon-shield" descr="shield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" y="480060"/>
            <a:ext cx="265176" cy="2651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384048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 spc="200">
                <a:solidFill>
                  <a:srgbClr val="FFFFFF"/>
                </a:solidFill>
                <a:latin typeface="Calibri"/>
              </a:rPr>
              <a:t>IEEE PAPER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0" i="1">
                <a:solidFill>
                  <a:srgbClr val="9FB3CC"/>
                </a:solidFill>
                <a:latin typeface="Cambria"/>
              </a:rPr>
              <a:t>From high accuracy to reliable detection</a:t>
            </a:r>
          </a:p>
        </p:txBody>
      </p:sp>
      <p:cxnSp>
        <p:nvCxnSpPr>
          <p:cNvPr id="7" name="network-edge"/>
          <p:cNvCxnSpPr/>
          <p:nvPr/>
        </p:nvCxnSpPr>
        <p:spPr>
          <a:xfrm flipV="1">
            <a:off x="8101583" y="1189634"/>
            <a:ext cx="512065" cy="659740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network-edge"/>
          <p:cNvCxnSpPr/>
          <p:nvPr/>
        </p:nvCxnSpPr>
        <p:spPr>
          <a:xfrm>
            <a:off x="8101583" y="1849374"/>
            <a:ext cx="841249" cy="410108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network-edge"/>
          <p:cNvCxnSpPr/>
          <p:nvPr/>
        </p:nvCxnSpPr>
        <p:spPr>
          <a:xfrm>
            <a:off x="8613648" y="1189634"/>
            <a:ext cx="950976" cy="427939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network-edge"/>
          <p:cNvCxnSpPr/>
          <p:nvPr/>
        </p:nvCxnSpPr>
        <p:spPr>
          <a:xfrm flipV="1">
            <a:off x="8942832" y="1617573"/>
            <a:ext cx="621792" cy="641909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network-edge"/>
          <p:cNvCxnSpPr/>
          <p:nvPr/>
        </p:nvCxnSpPr>
        <p:spPr>
          <a:xfrm>
            <a:off x="9564624" y="1617573"/>
            <a:ext cx="402335" cy="855879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network-edge"/>
          <p:cNvCxnSpPr/>
          <p:nvPr/>
        </p:nvCxnSpPr>
        <p:spPr>
          <a:xfrm flipV="1">
            <a:off x="9564624" y="1082649"/>
            <a:ext cx="585216" cy="534924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network-edge"/>
          <p:cNvCxnSpPr/>
          <p:nvPr/>
        </p:nvCxnSpPr>
        <p:spPr>
          <a:xfrm>
            <a:off x="9564624" y="1617573"/>
            <a:ext cx="1170431" cy="231801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network-edge"/>
          <p:cNvCxnSpPr/>
          <p:nvPr/>
        </p:nvCxnSpPr>
        <p:spPr>
          <a:xfrm>
            <a:off x="10149840" y="1082649"/>
            <a:ext cx="1097279" cy="178308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network-edge"/>
          <p:cNvCxnSpPr/>
          <p:nvPr/>
        </p:nvCxnSpPr>
        <p:spPr>
          <a:xfrm flipV="1">
            <a:off x="10735055" y="1260957"/>
            <a:ext cx="512064" cy="588417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network-edge"/>
          <p:cNvCxnSpPr/>
          <p:nvPr/>
        </p:nvCxnSpPr>
        <p:spPr>
          <a:xfrm>
            <a:off x="10735055" y="1849374"/>
            <a:ext cx="658369" cy="445770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network-edge"/>
          <p:cNvCxnSpPr/>
          <p:nvPr/>
        </p:nvCxnSpPr>
        <p:spPr>
          <a:xfrm flipV="1">
            <a:off x="9966959" y="2295144"/>
            <a:ext cx="1426465" cy="178308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network-edge"/>
          <p:cNvCxnSpPr/>
          <p:nvPr/>
        </p:nvCxnSpPr>
        <p:spPr>
          <a:xfrm flipH="1">
            <a:off x="8321040" y="2259482"/>
            <a:ext cx="621792" cy="303124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network-edge"/>
          <p:cNvCxnSpPr/>
          <p:nvPr/>
        </p:nvCxnSpPr>
        <p:spPr>
          <a:xfrm>
            <a:off x="8101583" y="1849374"/>
            <a:ext cx="219457" cy="713232"/>
          </a:xfrm>
          <a:prstGeom prst="line">
            <a:avLst/>
          </a:prstGeom>
          <a:ln w="15875">
            <a:solidFill>
              <a:srgbClr val="1B4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network-node"/>
          <p:cNvSpPr/>
          <p:nvPr/>
        </p:nvSpPr>
        <p:spPr>
          <a:xfrm>
            <a:off x="8010144" y="1757934"/>
            <a:ext cx="182880" cy="182880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etwork-node"/>
          <p:cNvSpPr/>
          <p:nvPr/>
        </p:nvSpPr>
        <p:spPr>
          <a:xfrm>
            <a:off x="8549640" y="1125626"/>
            <a:ext cx="128016" cy="12801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etwork-node"/>
          <p:cNvSpPr/>
          <p:nvPr/>
        </p:nvSpPr>
        <p:spPr>
          <a:xfrm>
            <a:off x="8878824" y="2195474"/>
            <a:ext cx="128016" cy="12801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network-node"/>
          <p:cNvSpPr/>
          <p:nvPr/>
        </p:nvSpPr>
        <p:spPr>
          <a:xfrm>
            <a:off x="9473184" y="1526133"/>
            <a:ext cx="182880" cy="182880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network-node"/>
          <p:cNvSpPr/>
          <p:nvPr/>
        </p:nvSpPr>
        <p:spPr>
          <a:xfrm>
            <a:off x="9902951" y="2409444"/>
            <a:ext cx="128016" cy="12801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network-node"/>
          <p:cNvSpPr/>
          <p:nvPr/>
        </p:nvSpPr>
        <p:spPr>
          <a:xfrm>
            <a:off x="10085832" y="1018641"/>
            <a:ext cx="128016" cy="12801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nomaly-ring"/>
          <p:cNvSpPr/>
          <p:nvPr/>
        </p:nvSpPr>
        <p:spPr>
          <a:xfrm>
            <a:off x="10460735" y="1575054"/>
            <a:ext cx="548640" cy="548640"/>
          </a:xfrm>
          <a:prstGeom prst="ellipse">
            <a:avLst/>
          </a:prstGeom>
          <a:noFill/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nomaly-node"/>
          <p:cNvSpPr/>
          <p:nvPr/>
        </p:nvSpPr>
        <p:spPr>
          <a:xfrm>
            <a:off x="10616183" y="1730502"/>
            <a:ext cx="237744" cy="237744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etwork-node"/>
          <p:cNvSpPr/>
          <p:nvPr/>
        </p:nvSpPr>
        <p:spPr>
          <a:xfrm>
            <a:off x="11183111" y="1196949"/>
            <a:ext cx="128016" cy="12801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network-node"/>
          <p:cNvSpPr/>
          <p:nvPr/>
        </p:nvSpPr>
        <p:spPr>
          <a:xfrm>
            <a:off x="11329415" y="2231136"/>
            <a:ext cx="128016" cy="12801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network-node"/>
          <p:cNvSpPr/>
          <p:nvPr/>
        </p:nvSpPr>
        <p:spPr>
          <a:xfrm>
            <a:off x="8257031" y="2498598"/>
            <a:ext cx="128016" cy="12801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32135" y="2160270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F2A900"/>
                </a:solidFill>
                <a:latin typeface="Calibri"/>
              </a:rPr>
              <a:t>unusual traffic</a:t>
            </a:r>
          </a:p>
        </p:txBody>
      </p:sp>
      <p:sp>
        <p:nvSpPr>
          <p:cNvPr id="32" name="field-problem-title"/>
          <p:cNvSpPr/>
          <p:nvPr/>
        </p:nvSpPr>
        <p:spPr>
          <a:xfrm>
            <a:off x="548640" y="2788920"/>
            <a:ext cx="11091672" cy="621792"/>
          </a:xfrm>
          <a:prstGeom prst="roundRect">
            <a:avLst>
              <a:gd name="adj" fmla="val 10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2011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20">
                <a:solidFill>
                  <a:srgbClr val="F2A900"/>
                </a:solidFill>
                <a:latin typeface="Calibri"/>
              </a:rPr>
              <a:t>PROBLEM TITLE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26080" y="2788920"/>
            <a:ext cx="850392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Testing and Improving ML-Based Network Attack Detection</a:t>
            </a:r>
          </a:p>
        </p:txBody>
      </p:sp>
      <p:sp>
        <p:nvSpPr>
          <p:cNvPr id="35" name="field-ieee-paper"/>
          <p:cNvSpPr/>
          <p:nvPr/>
        </p:nvSpPr>
        <p:spPr>
          <a:xfrm>
            <a:off x="548640" y="3483864"/>
            <a:ext cx="11091672" cy="868680"/>
          </a:xfrm>
          <a:prstGeom prst="roundRect">
            <a:avLst>
              <a:gd name="adj" fmla="val 10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3483864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20">
                <a:solidFill>
                  <a:srgbClr val="F2A900"/>
                </a:solidFill>
                <a:latin typeface="Calibri"/>
              </a:rPr>
              <a:t>IEEE PAPER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26080" y="3483864"/>
            <a:ext cx="66751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Anomaly Detection in Network Traffic Using Advanced Machine Learning Techniques</a:t>
            </a:r>
          </a:p>
          <a:p>
            <a:pPr algn="l"/>
            <a:r>
              <a:rPr sz="1200" b="0" i="0">
                <a:solidFill>
                  <a:srgbClr val="9FB3CC"/>
                </a:solidFill>
                <a:latin typeface="Calibri"/>
              </a:rPr>
              <a:t>S. Ness et al.  ·  IEEE Access, 2025</a:t>
            </a:r>
          </a:p>
        </p:txBody>
      </p:sp>
      <p:sp>
        <p:nvSpPr>
          <p:cNvPr id="38" name="Rounded Rectangle 37">
            <a:hlinkClick r:id="rId3"/>
          </p:cNvPr>
          <p:cNvSpPr/>
          <p:nvPr/>
        </p:nvSpPr>
        <p:spPr>
          <a:xfrm>
            <a:off x="9829800" y="3735324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0B5CAD"/>
                </a:solidFill>
                <a:latin typeface="Calibri"/>
              </a:rPr>
              <a:t>IEEE Xplore ›</a:t>
            </a:r>
          </a:p>
        </p:txBody>
      </p:sp>
      <p:sp>
        <p:nvSpPr>
          <p:cNvPr id="39" name="field-paper-number"/>
          <p:cNvSpPr/>
          <p:nvPr/>
        </p:nvSpPr>
        <p:spPr>
          <a:xfrm>
            <a:off x="548640" y="4425696"/>
            <a:ext cx="11091672" cy="868680"/>
          </a:xfrm>
          <a:prstGeom prst="roundRect">
            <a:avLst>
              <a:gd name="adj" fmla="val 10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425696"/>
            <a:ext cx="20116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20">
                <a:solidFill>
                  <a:srgbClr val="F2A900"/>
                </a:solidFill>
                <a:latin typeface="Calibri"/>
              </a:rPr>
              <a:t>PAPER NUMBER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26080" y="4425696"/>
            <a:ext cx="66751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IEEE Access, vol. 13, pp. 16133–16149</a:t>
            </a:r>
          </a:p>
          <a:p>
            <a:pPr algn="l"/>
            <a:r>
              <a:rPr sz="1200" b="0" i="0">
                <a:solidFill>
                  <a:srgbClr val="9FB3CC"/>
                </a:solidFill>
                <a:latin typeface="Calibri"/>
              </a:rPr>
              <a:t>IEEE Xplore document 10833631  ·  DOI 10.1109/ACCESS.2025.3526988</a:t>
            </a:r>
          </a:p>
        </p:txBody>
      </p:sp>
      <p:sp>
        <p:nvSpPr>
          <p:cNvPr id="42" name="Rounded Rectangle 41">
            <a:hlinkClick r:id="rId4"/>
          </p:cNvPr>
          <p:cNvSpPr/>
          <p:nvPr/>
        </p:nvSpPr>
        <p:spPr>
          <a:xfrm>
            <a:off x="9829800" y="4677156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0B5CAD"/>
                </a:solidFill>
                <a:latin typeface="Calibri"/>
              </a:rPr>
              <a:t>Open DOI ›</a:t>
            </a:r>
          </a:p>
        </p:txBody>
      </p:sp>
      <p:sp>
        <p:nvSpPr>
          <p:cNvPr id="43" name="field-team-members"/>
          <p:cNvSpPr/>
          <p:nvPr/>
        </p:nvSpPr>
        <p:spPr>
          <a:xfrm>
            <a:off x="548640" y="5367528"/>
            <a:ext cx="11091672" cy="640080"/>
          </a:xfrm>
          <a:prstGeom prst="roundRect">
            <a:avLst>
              <a:gd name="adj" fmla="val 10000"/>
            </a:avLst>
          </a:prstGeom>
          <a:solidFill>
            <a:srgbClr val="132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367528"/>
            <a:ext cx="20116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20">
                <a:solidFill>
                  <a:srgbClr val="F2A900"/>
                </a:solidFill>
                <a:latin typeface="Calibri"/>
              </a:rPr>
              <a:t>TEAM MEMBERS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26080" y="5367528"/>
            <a:ext cx="85039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Mahidhar   ·   Sasikanth   ·   Harshith</a:t>
            </a:r>
          </a:p>
        </p:txBody>
      </p:sp>
      <p:sp>
        <p:nvSpPr>
          <p:cNvPr id="46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9FB3CC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47" name="nav-1">
            <a:hlinkClick action="ppaction://hlinksldjump" r:id="rId5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1</a:t>
            </a:r>
          </a:p>
        </p:txBody>
      </p:sp>
      <p:sp>
        <p:nvSpPr>
          <p:cNvPr id="48" name="nav-2">
            <a:hlinkClick action="ppaction://hlinksldjump" r:id="rId6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2</a:t>
            </a:r>
          </a:p>
        </p:txBody>
      </p:sp>
      <p:sp>
        <p:nvSpPr>
          <p:cNvPr id="49" name="nav-3">
            <a:hlinkClick action="ppaction://hlinksldjump" r:id="rId7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3</a:t>
            </a:r>
          </a:p>
        </p:txBody>
      </p:sp>
      <p:sp>
        <p:nvSpPr>
          <p:cNvPr id="50" name="nav-4">
            <a:hlinkClick action="ppaction://hlinksldjump" r:id="rId8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4</a:t>
            </a:r>
          </a:p>
        </p:txBody>
      </p:sp>
      <p:sp>
        <p:nvSpPr>
          <p:cNvPr id="51" name="nav-5">
            <a:hlinkClick action="ppaction://hlinksldjump" r:id="rId9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5</a:t>
            </a:r>
          </a:p>
        </p:txBody>
      </p:sp>
      <p:sp>
        <p:nvSpPr>
          <p:cNvPr id="52" name="nav-6">
            <a:hlinkClick action="ppaction://hlinksldjump" r:id="rId10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9FB3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9FB3C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Is This Paper?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02  ·  THE PAPER: WHAT, WHY, HOW</a:t>
            </a:r>
          </a:p>
        </p:txBody>
      </p:sp>
      <p:sp>
        <p:nvSpPr>
          <p:cNvPr id="4" name="paper-card"/>
          <p:cNvSpPr/>
          <p:nvPr/>
        </p:nvSpPr>
        <p:spPr>
          <a:xfrm>
            <a:off x="548640" y="1325880"/>
            <a:ext cx="11091672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-bg-paper"/>
          <p:cNvSpPr/>
          <p:nvPr/>
        </p:nvSpPr>
        <p:spPr>
          <a:xfrm>
            <a:off x="731520" y="146304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-paper" descr="paper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1559052"/>
            <a:ext cx="265176" cy="265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1325880"/>
            <a:ext cx="81381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Anomaly Detection in Network Traffic Using Advanced Machine Learning Techniques</a:t>
            </a:r>
          </a:p>
          <a:p>
            <a:pPr algn="l"/>
            <a:r>
              <a:rPr sz="1200" b="0" i="0">
                <a:solidFill>
                  <a:srgbClr val="5A6B80"/>
                </a:solidFill>
                <a:latin typeface="Calibri"/>
              </a:rPr>
              <a:t>S. Ness et al.  ·  IEEE Access, vol. 13, pp. 16133–16149, 2025</a:t>
            </a:r>
          </a:p>
        </p:txBody>
      </p:sp>
      <p:sp>
        <p:nvSpPr>
          <p:cNvPr id="8" name="Rounded Rectangle 7">
            <a:hlinkClick r:id="rId3"/>
          </p:cNvPr>
          <p:cNvSpPr/>
          <p:nvPr/>
        </p:nvSpPr>
        <p:spPr>
          <a:xfrm>
            <a:off x="9829800" y="1527048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Open paper [1] ›</a:t>
            </a:r>
          </a:p>
        </p:txBody>
      </p:sp>
      <p:sp>
        <p:nvSpPr>
          <p:cNvPr id="9" name="figure-frame"/>
          <p:cNvSpPr/>
          <p:nvPr/>
        </p:nvSpPr>
        <p:spPr>
          <a:xfrm>
            <a:off x="548640" y="2240280"/>
            <a:ext cx="4937760" cy="2926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aper-figure" descr="Paper Fig. 1: network traffic, dataset, preprocessing, feature extraction, ML detection, evalu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04" y="2286000"/>
            <a:ext cx="4763230" cy="2834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5212080"/>
            <a:ext cx="4937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6B80"/>
                </a:solidFill>
                <a:latin typeface="Calibri"/>
              </a:rPr>
              <a:t>The paper's own Fig. 1 (CC BY 4.0)</a:t>
            </a:r>
          </a:p>
        </p:txBody>
      </p:sp>
      <p:sp>
        <p:nvSpPr>
          <p:cNvPr id="12" name="what-card"/>
          <p:cNvSpPr/>
          <p:nvPr/>
        </p:nvSpPr>
        <p:spPr>
          <a:xfrm>
            <a:off x="5760720" y="2240280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con-bg-paper"/>
          <p:cNvSpPr/>
          <p:nvPr/>
        </p:nvSpPr>
        <p:spPr>
          <a:xfrm>
            <a:off x="5943600" y="24688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icon-paper" descr="paper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9612" y="2564892"/>
            <a:ext cx="265176" cy="2651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0" y="2240280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WHAT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Tests 7 machine-learning models on one job: is this network traffic normal or an attack?</a:t>
            </a:r>
          </a:p>
        </p:txBody>
      </p:sp>
      <p:sp>
        <p:nvSpPr>
          <p:cNvPr id="16" name="why-card"/>
          <p:cNvSpPr/>
          <p:nvPr/>
        </p:nvSpPr>
        <p:spPr>
          <a:xfrm>
            <a:off x="5760720" y="3264408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con-bg-warning"/>
          <p:cNvSpPr/>
          <p:nvPr/>
        </p:nvSpPr>
        <p:spPr>
          <a:xfrm>
            <a:off x="5943600" y="3493008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-warning" descr="warning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9612" y="3589020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83680" y="3264408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WHY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Attackers keep changing tactics. Fixed rules fall behind; models can learn from past traffic.</a:t>
            </a:r>
          </a:p>
        </p:txBody>
      </p:sp>
      <p:sp>
        <p:nvSpPr>
          <p:cNvPr id="20" name="how-card"/>
          <p:cNvSpPr/>
          <p:nvPr/>
        </p:nvSpPr>
        <p:spPr>
          <a:xfrm>
            <a:off x="5760720" y="4288536"/>
            <a:ext cx="5879592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icon-bg-gear"/>
          <p:cNvSpPr/>
          <p:nvPr/>
        </p:nvSpPr>
        <p:spPr>
          <a:xfrm>
            <a:off x="5943600" y="4517136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icon-gear" descr="gear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9612" y="4613148"/>
            <a:ext cx="265176" cy="26517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83680" y="4288536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spc="100">
                <a:solidFill>
                  <a:srgbClr val="0B5CAD"/>
                </a:solidFill>
                <a:latin typeface="Calibri"/>
              </a:rPr>
              <a:t>HOW</a:t>
            </a:r>
          </a:p>
          <a:p>
            <a:pPr algn="l"/>
            <a:r>
              <a:rPr sz="1400" b="0" i="0">
                <a:solidFill>
                  <a:srgbClr val="13233A"/>
                </a:solidFill>
                <a:latin typeface="Calibri"/>
              </a:rPr>
              <a:t>Clean old traffic records (KDD'99), train on most of them, test on the rest, compare scores.</a:t>
            </a:r>
          </a:p>
        </p:txBody>
      </p:sp>
      <p:sp>
        <p:nvSpPr>
          <p:cNvPr id="24" name="ref-4">
            <a:hlinkClick r:id="rId7"/>
          </p:cNvPr>
          <p:cNvSpPr/>
          <p:nvPr/>
        </p:nvSpPr>
        <p:spPr>
          <a:xfrm>
            <a:off x="11155680" y="4343400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[4]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86400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A6B80"/>
                </a:solidFill>
                <a:latin typeface="Calibri"/>
              </a:rPr>
              <a:t>WORDS TO KNOW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Anomaly = unusual traffic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92577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Training = practice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36515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Test = the exam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80452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Accuracy = % answered right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24390" y="5733288"/>
            <a:ext cx="2115921" cy="457200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False alarm = normal flagged</a:t>
            </a:r>
          </a:p>
        </p:txBody>
      </p:sp>
      <p:sp>
        <p:nvSpPr>
          <p:cNvPr id="31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Figures: S. Ness et al., IEEE Access 13 (2025), CC BY 4.0  ·  Beyond 100%</a:t>
            </a:r>
          </a:p>
        </p:txBody>
      </p:sp>
      <p:sp>
        <p:nvSpPr>
          <p:cNvPr id="32" name="nav-1">
            <a:hlinkClick action="ppaction://hlinksldjump" r:id="rId8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33" name="nav-2">
            <a:hlinkClick action="ppaction://hlinksldjump" r:id="rId9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nav-3">
            <a:hlinkClick action="ppaction://hlinksldjump" r:id="rId10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35" name="nav-4">
            <a:hlinkClick action="ppaction://hlinksldjump" r:id="rId11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36" name="nav-5">
            <a:hlinkClick action="ppaction://hlinksldjump" r:id="rId12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37" name="nav-6">
            <a:hlinkClick action="ppaction://hlinksldjump" r:id="rId13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Can 100% Accuracy Be Trusted?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03  ·  THE PAPER'S NUMBERS VS THE INDUSTRY'S LOSS</a:t>
            </a:r>
          </a:p>
        </p:txBody>
      </p:sp>
      <p:sp>
        <p:nvSpPr>
          <p:cNvPr id="4" name="panel-paper"/>
          <p:cNvSpPr/>
          <p:nvPr/>
        </p:nvSpPr>
        <p:spPr>
          <a:xfrm>
            <a:off x="548640" y="1371600"/>
            <a:ext cx="6720840" cy="39776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536192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 THE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508760"/>
            <a:ext cx="49377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Practice (training) vs exam (test) accuracy [1]</a:t>
            </a:r>
          </a:p>
        </p:txBody>
      </p:sp>
      <p:graphicFrame>
        <p:nvGraphicFramePr>
          <p:cNvPr id="7" name="chart" descr="Training vs test accuracy for 7 models; every model loses 6 to 16 points on the test"/>
          <p:cNvGraphicFramePr>
            <a:graphicFrameLocks noGrp="1"/>
          </p:cNvGraphicFramePr>
          <p:nvPr/>
        </p:nvGraphicFramePr>
        <p:xfrm>
          <a:off x="685800" y="1847088"/>
          <a:ext cx="64465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087368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6B80"/>
                </a:solidFill>
                <a:latin typeface="Calibri"/>
              </a:rPr>
              <a:t>*LightGBM: the abstract says 1.00 → 0.85. Tables 5, 6 and 8 print it reversed.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89120"/>
            <a:ext cx="2057400" cy="822960"/>
          </a:xfrm>
          <a:prstGeom prst="roundRect">
            <a:avLst>
              <a:gd name="adj" fmla="val 1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4416552"/>
            <a:ext cx="187451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0B5CAD"/>
                </a:solidFill>
                <a:latin typeface="Cambria"/>
              </a:rPr>
              <a:t>6–16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754880"/>
            <a:ext cx="187451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3233A"/>
                </a:solidFill>
                <a:latin typeface="Calibri"/>
              </a:rPr>
              <a:t>lost from practice to exam, in every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4389120"/>
            <a:ext cx="2057400" cy="822960"/>
          </a:xfrm>
          <a:prstGeom prst="roundRect">
            <a:avLst>
              <a:gd name="adj" fmla="val 1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4416552"/>
            <a:ext cx="187451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0B5CAD"/>
                </a:solidFill>
                <a:latin typeface="Cambria"/>
              </a:rPr>
              <a:t>1.00 vs 0.85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4754880"/>
            <a:ext cx="187451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3233A"/>
                </a:solidFill>
                <a:latin typeface="Calibri"/>
              </a:rPr>
              <a:t>LightGBM's test score, reported two ways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4389120"/>
            <a:ext cx="2057400" cy="822960"/>
          </a:xfrm>
          <a:prstGeom prst="roundRect">
            <a:avLst>
              <a:gd name="adj" fmla="val 1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8" y="4416552"/>
            <a:ext cx="1874519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1" i="0">
                <a:solidFill>
                  <a:srgbClr val="0B5CAD"/>
                </a:solidFill>
                <a:latin typeface="Cambria"/>
              </a:rPr>
              <a:t>15%  ·  12%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4754880"/>
            <a:ext cx="1874519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13233A"/>
                </a:solidFill>
                <a:latin typeface="Calibri"/>
              </a:rPr>
              <a:t>attacks missed · false alarms, LightGBM (our calculation)</a:t>
            </a:r>
          </a:p>
        </p:txBody>
      </p:sp>
      <p:sp>
        <p:nvSpPr>
          <p:cNvPr id="18" name="panel-industry"/>
          <p:cNvSpPr/>
          <p:nvPr/>
        </p:nvSpPr>
        <p:spPr>
          <a:xfrm>
            <a:off x="7452360" y="1371600"/>
            <a:ext cx="4187952" cy="3977639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0" y="1536192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 i="0">
                <a:solidFill>
                  <a:srgbClr val="0B1F3A"/>
                </a:solidFill>
                <a:latin typeface="Calibri"/>
              </a:rPr>
              <a:t>IN INDUSTRY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901952"/>
            <a:ext cx="374903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What failed defence costs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2860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F2A900"/>
                </a:solidFill>
                <a:latin typeface="Cambria"/>
              </a:rPr>
              <a:t>$4.99M</a:t>
            </a:r>
          </a:p>
        </p:txBody>
      </p:sp>
      <p:sp>
        <p:nvSpPr>
          <p:cNvPr id="22" name="ref-2">
            <a:hlinkClick r:id="rId3"/>
          </p:cNvPr>
          <p:cNvSpPr/>
          <p:nvPr/>
        </p:nvSpPr>
        <p:spPr>
          <a:xfrm>
            <a:off x="11109960" y="2377440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[2]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743200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average cost of one data breach worldwide, a record (+12%)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27355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F2A900"/>
                </a:solidFill>
                <a:latin typeface="Cambria"/>
              </a:rPr>
              <a:t>247 days</a:t>
            </a:r>
          </a:p>
        </p:txBody>
      </p:sp>
      <p:sp>
        <p:nvSpPr>
          <p:cNvPr id="25" name="ref-2">
            <a:hlinkClick r:id="rId3"/>
          </p:cNvPr>
          <p:cNvSpPr/>
          <p:nvPr/>
        </p:nvSpPr>
        <p:spPr>
          <a:xfrm>
            <a:off x="11109960" y="3364992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730752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average time to find and contain a breach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26110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600" b="1" i="0">
                <a:solidFill>
                  <a:srgbClr val="F2A900"/>
                </a:solidFill>
                <a:latin typeface="Cambria"/>
              </a:rPr>
              <a:t>$20.9B</a:t>
            </a:r>
          </a:p>
        </p:txBody>
      </p:sp>
      <p:sp>
        <p:nvSpPr>
          <p:cNvPr id="28" name="ref-3">
            <a:hlinkClick r:id="rId4"/>
          </p:cNvPr>
          <p:cNvSpPr/>
          <p:nvPr/>
        </p:nvSpPr>
        <p:spPr>
          <a:xfrm>
            <a:off x="11109960" y="4352544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[3]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718304"/>
            <a:ext cx="37490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cybercrime losses reported to the FBI in 2025 (+26%)</a:t>
            </a:r>
          </a:p>
        </p:txBody>
      </p:sp>
      <p:sp>
        <p:nvSpPr>
          <p:cNvPr id="30" name="link-badge"/>
          <p:cNvSpPr/>
          <p:nvPr/>
        </p:nvSpPr>
        <p:spPr>
          <a:xfrm>
            <a:off x="7114032" y="3200400"/>
            <a:ext cx="365760" cy="365760"/>
          </a:xfrm>
          <a:prstGeom prst="ellipse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600" b="1" i="0">
                <a:solidFill>
                  <a:srgbClr val="0B1F3A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86400"/>
            <a:ext cx="11091672" cy="713232"/>
          </a:xfrm>
          <a:prstGeom prst="roundRect">
            <a:avLst>
              <a:gd name="adj" fmla="val 8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228600" bIns="0"/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Every point lost on the exam is a missed attack or a false alarm in the real world, and that is where the money goes.</a:t>
            </a:r>
          </a:p>
        </p:txBody>
      </p:sp>
      <p:sp>
        <p:nvSpPr>
          <p:cNvPr id="32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33" name="nav-1">
            <a:hlinkClick action="ppaction://hlinksldjump" r:id="rId5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34" name="nav-2">
            <a:hlinkClick action="ppaction://hlinksldjump" r:id="rId6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35" name="nav-3">
            <a:hlinkClick action="ppaction://hlinksldjump" r:id="rId7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6" name="nav-4">
            <a:hlinkClick action="ppaction://hlinksldjump" r:id="rId8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37" name="nav-5">
            <a:hlinkClick action="ppaction://hlinksldjump" r:id="rId9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38" name="nav-6">
            <a:hlinkClick action="ppaction://hlinksldjump" r:id="rId10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Is the Paper Lacking?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04  ·  THE GAPS</a:t>
            </a:r>
          </a:p>
        </p:txBody>
      </p:sp>
      <p:sp>
        <p:nvSpPr>
          <p:cNvPr id="4" name="gap-card-1"/>
          <p:cNvSpPr/>
          <p:nvPr/>
        </p:nvSpPr>
        <p:spPr>
          <a:xfrm>
            <a:off x="548640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-bg-db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icon-db" descr="db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1650492"/>
            <a:ext cx="265176" cy="2651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Old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KDD'99 is from 1999. The paper itself calls it "more than two decades old".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p.16147</a:t>
            </a:r>
          </a:p>
        </p:txBody>
      </p:sp>
      <p:sp>
        <p:nvSpPr>
          <p:cNvPr id="10" name="gap-card-2"/>
          <p:cNvSpPr/>
          <p:nvPr/>
        </p:nvSpPr>
        <p:spPr>
          <a:xfrm>
            <a:off x="4322064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-bg-network"/>
          <p:cNvSpPr/>
          <p:nvPr/>
        </p:nvSpPr>
        <p:spPr>
          <a:xfrm>
            <a:off x="4504944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-network" descr="network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956" y="1650492"/>
            <a:ext cx="265176" cy="265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99304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One dataset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4944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No test on a different network, a new time period or new attack types.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4944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pp.16137, 16147</a:t>
            </a:r>
          </a:p>
        </p:txBody>
      </p:sp>
      <p:sp>
        <p:nvSpPr>
          <p:cNvPr id="16" name="gap-card-3"/>
          <p:cNvSpPr/>
          <p:nvPr/>
        </p:nvSpPr>
        <p:spPr>
          <a:xfrm>
            <a:off x="8095488" y="137160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con-bg-warning"/>
          <p:cNvSpPr/>
          <p:nvPr/>
        </p:nvSpPr>
        <p:spPr>
          <a:xfrm>
            <a:off x="8278367" y="155448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icon-warning" descr="warnin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4380" y="1650492"/>
            <a:ext cx="265176" cy="2651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72728" y="155448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Numbers disagree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8367" y="212140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LightGBM is 1.00 → 0.85 in one place and 0.85 → 1.00 in another. Table 8 uses the 100%.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8367" y="296265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pp.16133, 16145, 16147</a:t>
            </a:r>
          </a:p>
        </p:txBody>
      </p:sp>
      <p:sp>
        <p:nvSpPr>
          <p:cNvPr id="22" name="gap-card-4"/>
          <p:cNvSpPr/>
          <p:nvPr/>
        </p:nvSpPr>
        <p:spPr>
          <a:xfrm>
            <a:off x="548640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con-bg-grid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icon-grid" descr="grid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3662172"/>
            <a:ext cx="265176" cy="26517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25880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Unclear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Table 2 says a 70/30 split, the text says 80/20. The confusion matrices look built from rounded rates.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pp.16138, 16140, 16143</a:t>
            </a:r>
          </a:p>
        </p:txBody>
      </p:sp>
      <p:sp>
        <p:nvSpPr>
          <p:cNvPr id="28" name="gap-card-5"/>
          <p:cNvSpPr/>
          <p:nvPr/>
        </p:nvSpPr>
        <p:spPr>
          <a:xfrm>
            <a:off x="4322064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con-bg-bolt"/>
          <p:cNvSpPr/>
          <p:nvPr/>
        </p:nvSpPr>
        <p:spPr>
          <a:xfrm>
            <a:off x="4504944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icon-bolt" descr="bolt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0956" y="3662172"/>
            <a:ext cx="265176" cy="2651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99304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No cost numbers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4944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False alarms and speed are discussed but never measured. They are left for future work.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4944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p.16146</a:t>
            </a:r>
          </a:p>
        </p:txBody>
      </p:sp>
      <p:sp>
        <p:nvSpPr>
          <p:cNvPr id="34" name="gap-card-6"/>
          <p:cNvSpPr/>
          <p:nvPr/>
        </p:nvSpPr>
        <p:spPr>
          <a:xfrm>
            <a:off x="8095488" y="3383280"/>
            <a:ext cx="3544824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con-bg-gauge"/>
          <p:cNvSpPr/>
          <p:nvPr/>
        </p:nvSpPr>
        <p:spPr>
          <a:xfrm>
            <a:off x="8278367" y="3566160"/>
            <a:ext cx="457200" cy="45720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icon-gauge" descr="gaug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4380" y="3662172"/>
            <a:ext cx="265176" cy="26517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872728" y="3566160"/>
            <a:ext cx="2630424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libri"/>
              </a:rPr>
              <a:t>Never says "not sure"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8367" y="4133088"/>
            <a:ext cx="31790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>
                <a:solidFill>
                  <a:srgbClr val="13233A"/>
                </a:solidFill>
                <a:latin typeface="Calibri"/>
              </a:rPr>
              <a:t>Every flow gets a yes or no. No confidence level, no second look for hard cases.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8367" y="4974336"/>
            <a:ext cx="317906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method, Table 2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486400"/>
            <a:ext cx="11091672" cy="713232"/>
          </a:xfrm>
          <a:prstGeom prst="roundRect">
            <a:avLst>
              <a:gd name="adj" fmla="val 8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0" rIns="228600" bIns="0"/>
          <a:lstStyle/>
          <a:p>
            <a:pPr algn="l"/>
            <a:r>
              <a:rPr sz="1700" b="1" i="0">
                <a:solidFill>
                  <a:srgbClr val="F2A900"/>
                </a:solidFill>
                <a:latin typeface="Calibri"/>
              </a:rPr>
              <a:t>Not an accusation 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Each gap is a question we can test. Together they show why one high score is not enough.</a:t>
            </a:r>
          </a:p>
        </p:txBody>
      </p:sp>
      <p:sp>
        <p:nvSpPr>
          <p:cNvPr id="41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42" name="nav-1">
            <a:hlinkClick action="ppaction://hlinksldjump" r:id="rId8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43" name="nav-2">
            <a:hlinkClick action="ppaction://hlinksldjump" r:id="rId9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44" name="nav-3">
            <a:hlinkClick action="ppaction://hlinksldjump" r:id="rId10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45" name="nav-4">
            <a:hlinkClick action="ppaction://hlinksldjump" r:id="rId11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6" name="nav-5">
            <a:hlinkClick action="ppaction://hlinksldjump" r:id="rId12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47" name="nav-6">
            <a:hlinkClick action="ppaction://hlinksldjump" r:id="rId13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1106424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What Are We Solving?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05  ·  OUR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 i="0">
                <a:solidFill>
                  <a:srgbClr val="5A6B80"/>
                </a:solidFill>
                <a:latin typeface="Calibri"/>
              </a:rPr>
              <a:t>Make detection reliable, not just accurate. Keep LightGBM </a:t>
            </a:r>
            <a:r>
              <a:rPr sz="1600" b="0" i="0" u="sng">
                <a:solidFill>
                  <a:srgbClr val="0B5CAD"/>
                </a:solidFill>
                <a:latin typeface="Calibri"/>
                <a:hlinkClick r:id="rId2"/>
              </a:rPr>
              <a:t>[5]</a:t>
            </a:r>
            <a:r>
              <a:rPr sz="1600" b="0" i="0">
                <a:solidFill>
                  <a:srgbClr val="5A6B80"/>
                </a:solidFill>
                <a:latin typeface="Calibri"/>
              </a:rPr>
              <a:t>, add a second 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23444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-bg-network"/>
          <p:cNvSpPr/>
          <p:nvPr/>
        </p:nvSpPr>
        <p:spPr>
          <a:xfrm>
            <a:off x="640080" y="2290572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-network" descr="network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368" y="2355860"/>
            <a:ext cx="180319" cy="1803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24128" y="2011680"/>
            <a:ext cx="70408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Network flow</a:t>
            </a:r>
          </a:p>
        </p:txBody>
      </p:sp>
      <p:cxnSp>
        <p:nvCxnSpPr>
          <p:cNvPr id="9" name="flow-arrow"/>
          <p:cNvCxnSpPr/>
          <p:nvPr/>
        </p:nvCxnSpPr>
        <p:spPr>
          <a:xfrm>
            <a:off x="1810512" y="2446020"/>
            <a:ext cx="219456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057400" y="2011680"/>
            <a:ext cx="1371600" cy="86868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con-bg-leaf"/>
          <p:cNvSpPr/>
          <p:nvPr/>
        </p:nvSpPr>
        <p:spPr>
          <a:xfrm>
            <a:off x="2148840" y="2290572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icon-leaf" descr="leaf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4128" y="2355860"/>
            <a:ext cx="180319" cy="18031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32888" y="2011680"/>
            <a:ext cx="841247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13233A"/>
                </a:solidFill>
                <a:latin typeface="Calibri"/>
              </a:rPr>
              <a:t>LightGBM</a:t>
            </a:r>
          </a:p>
          <a:p>
            <a:pPr algn="l"/>
            <a:r>
              <a:rPr sz="1050" b="0" i="0">
                <a:solidFill>
                  <a:srgbClr val="5A6B80"/>
                </a:solidFill>
                <a:latin typeface="Calibri"/>
              </a:rPr>
              <a:t>fast, light</a:t>
            </a:r>
          </a:p>
        </p:txBody>
      </p:sp>
      <p:cxnSp>
        <p:nvCxnSpPr>
          <p:cNvPr id="14" name="flow-arrow"/>
          <p:cNvCxnSpPr/>
          <p:nvPr/>
        </p:nvCxnSpPr>
        <p:spPr>
          <a:xfrm>
            <a:off x="3456432" y="2446020"/>
            <a:ext cx="219455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"/>
          <p:cNvSpPr/>
          <p:nvPr/>
        </p:nvSpPr>
        <p:spPr>
          <a:xfrm>
            <a:off x="3703320" y="1783080"/>
            <a:ext cx="1737360" cy="1325880"/>
          </a:xfrm>
          <a:prstGeom prst="flowChartDecision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00" b="1" i="0">
                <a:solidFill>
                  <a:srgbClr val="0B1F3A"/>
                </a:solidFill>
                <a:latin typeface="Calibri"/>
              </a:rPr>
              <a:t>Sure?</a:t>
            </a:r>
          </a:p>
        </p:txBody>
      </p:sp>
      <p:cxnSp>
        <p:nvCxnSpPr>
          <p:cNvPr id="16" name="flow-arrow"/>
          <p:cNvCxnSpPr/>
          <p:nvPr/>
        </p:nvCxnSpPr>
        <p:spPr>
          <a:xfrm>
            <a:off x="5468112" y="2446020"/>
            <a:ext cx="310896" cy="0"/>
          </a:xfrm>
          <a:prstGeom prst="line">
            <a:avLst/>
          </a:prstGeom>
          <a:ln w="25400">
            <a:solidFill>
              <a:srgbClr val="0B7F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22392" y="2084831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0B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YES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06440" y="2011680"/>
            <a:ext cx="1600200" cy="868680"/>
          </a:xfrm>
          <a:prstGeom prst="roundRect">
            <a:avLst>
              <a:gd name="adj" fmla="val 14000"/>
            </a:avLst>
          </a:prstGeom>
          <a:solidFill>
            <a:srgbClr val="0B7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con-bg-bolt"/>
          <p:cNvSpPr/>
          <p:nvPr/>
        </p:nvSpPr>
        <p:spPr>
          <a:xfrm>
            <a:off x="5897879" y="2290572"/>
            <a:ext cx="310896" cy="310896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icon-bolt" descr="bolt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3168" y="2355860"/>
            <a:ext cx="180319" cy="18031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81927" y="2011680"/>
            <a:ext cx="106984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Fast result</a:t>
            </a:r>
          </a:p>
        </p:txBody>
      </p:sp>
      <p:cxnSp>
        <p:nvCxnSpPr>
          <p:cNvPr id="22" name="flow-arrow"/>
          <p:cNvCxnSpPr/>
          <p:nvPr/>
        </p:nvCxnSpPr>
        <p:spPr>
          <a:xfrm>
            <a:off x="4572000" y="3127248"/>
            <a:ext cx="0" cy="484632"/>
          </a:xfrm>
          <a:prstGeom prst="line">
            <a:avLst/>
          </a:prstGeom>
          <a:ln w="25400">
            <a:solidFill>
              <a:srgbClr val="B97A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63440" y="3246120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1F3A"/>
                </a:solidFill>
                <a:latin typeface="Calibri"/>
              </a:rPr>
              <a:t>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60" y="3639312"/>
            <a:ext cx="2011680" cy="868680"/>
          </a:xfrm>
          <a:prstGeom prst="roundRect">
            <a:avLst>
              <a:gd name="adj" fmla="val 14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con-bg-layers"/>
          <p:cNvSpPr/>
          <p:nvPr/>
        </p:nvSpPr>
        <p:spPr>
          <a:xfrm>
            <a:off x="3657600" y="3918204"/>
            <a:ext cx="310896" cy="31089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icon-layers" descr="layers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2888" y="3983492"/>
            <a:ext cx="180319" cy="1803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041648" y="3639312"/>
            <a:ext cx="148132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Modern AI</a:t>
            </a:r>
          </a:p>
          <a:p>
            <a:pPr algn="l"/>
            <a:r>
              <a:rPr sz="1050" b="0" i="0">
                <a:solidFill>
                  <a:srgbClr val="9FB3CC"/>
                </a:solidFill>
                <a:latin typeface="Calibri"/>
              </a:rPr>
              <a:t>deeper analysis</a:t>
            </a:r>
          </a:p>
        </p:txBody>
      </p:sp>
      <p:cxnSp>
        <p:nvCxnSpPr>
          <p:cNvPr id="28" name="flow-arrow"/>
          <p:cNvCxnSpPr/>
          <p:nvPr/>
        </p:nvCxnSpPr>
        <p:spPr>
          <a:xfrm>
            <a:off x="5596128" y="4073652"/>
            <a:ext cx="237744" cy="0"/>
          </a:xfrm>
          <a:prstGeom prst="line">
            <a:avLst/>
          </a:prstGeom>
          <a:ln w="25400">
            <a:solidFill>
              <a:srgbClr val="5A6B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852160" y="3639312"/>
            <a:ext cx="1554480" cy="868680"/>
          </a:xfrm>
          <a:prstGeom prst="roundRect">
            <a:avLst>
              <a:gd name="adj" fmla="val 14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icon-bg-check"/>
          <p:cNvSpPr/>
          <p:nvPr/>
        </p:nvSpPr>
        <p:spPr>
          <a:xfrm>
            <a:off x="5943600" y="3918204"/>
            <a:ext cx="310896" cy="310896"/>
          </a:xfrm>
          <a:prstGeom prst="ellipse">
            <a:avLst/>
          </a:prstGeom>
          <a:solidFill>
            <a:srgbClr val="2D7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icon-check" descr="check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08888" y="3983492"/>
            <a:ext cx="180319" cy="18031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327648" y="3639312"/>
            <a:ext cx="1024127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Final decision</a:t>
            </a:r>
          </a:p>
        </p:txBody>
      </p:sp>
      <p:sp>
        <p:nvSpPr>
          <p:cNvPr id="33" name="ibm-card"/>
          <p:cNvSpPr/>
          <p:nvPr/>
        </p:nvSpPr>
        <p:spPr>
          <a:xfrm>
            <a:off x="548640" y="3429000"/>
            <a:ext cx="274320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3429000"/>
            <a:ext cx="242316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0B5CAD"/>
                </a:solidFill>
                <a:latin typeface="Calibri"/>
              </a:rPr>
              <a:t>Why AI? </a:t>
            </a:r>
            <a:r>
              <a:rPr sz="1200" b="0" i="0">
                <a:solidFill>
                  <a:srgbClr val="13233A"/>
                </a:solidFill>
                <a:latin typeface="Calibri"/>
              </a:rPr>
              <a:t>Security AI and automation cut breach costs by $1.93M on average </a:t>
            </a:r>
          </a:p>
          <a:p>
            <a:pPr algn="l"/>
            <a:r>
              <a:rPr sz="1200" b="0" i="0" u="sng">
                <a:solidFill>
                  <a:srgbClr val="0B5CAD"/>
                </a:solidFill>
                <a:latin typeface="Calibri"/>
                <a:hlinkClick r:id="rId8"/>
              </a:rPr>
              <a:t>[2]</a:t>
            </a:r>
          </a:p>
        </p:txBody>
      </p:sp>
      <p:graphicFrame>
        <p:nvGraphicFramePr>
          <p:cNvPr id="35" name="paper-vs-ours"/>
          <p:cNvGraphicFramePr>
            <a:graphicFrameLocks noGrp="1"/>
          </p:cNvGraphicFramePr>
          <p:nvPr/>
        </p:nvGraphicFramePr>
        <p:xfrm>
          <a:off x="7680960" y="1783080"/>
          <a:ext cx="395935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30552"/>
              </a:tblGrid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The paper</a:t>
                      </a:r>
                    </a:p>
                  </a:txBody>
                  <a:tcPr marL="109728" marR="73152" marT="27432" marB="27432" anchor="ctr">
                    <a:solidFill>
                      <a:srgbClr val="5A6B8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We add</a:t>
                      </a:r>
                    </a:p>
                  </a:txBody>
                  <a:tcPr marL="109728" marR="73152" marT="27432" marB="27432" anchor="ctr">
                    <a:solidFill>
                      <a:srgbClr val="0B5CAD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old dataset (1999)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Newer datasets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random split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New time, network and attack tests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One model, always answers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LightGBM first, modern AI when unsure</a:t>
                      </a:r>
                    </a:p>
                  </a:txBody>
                  <a:tcPr marL="109728" marR="73152" marT="27432" marB="27432" anchor="ctr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13233A"/>
                          </a:solidFill>
                          <a:latin typeface="Calibri"/>
                        </a:rPr>
                        <a:t>Accuracy mostly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0B7F73"/>
                          </a:solidFill>
                          <a:latin typeface="Calibri"/>
                        </a:rPr>
                        <a:t>+ </a:t>
                      </a:r>
                      <a:r>
                        <a:rPr sz="1300" b="0" i="0">
                          <a:solidFill>
                            <a:srgbClr val="13233A"/>
                          </a:solidFill>
                          <a:latin typeface="Calibri"/>
                        </a:rPr>
                        <a:t>Missed attacks, false alarms, speed</a:t>
                      </a:r>
                    </a:p>
                  </a:txBody>
                  <a:tcPr marL="109728" marR="73152" marT="27432" marB="27432" anchor="ctr">
                    <a:solidFill>
                      <a:srgbClr val="E6EEF8"/>
                    </a:solidFill>
                  </a:tcPr>
                </a:tc>
              </a:tr>
            </a:tbl>
          </a:graphicData>
        </a:graphic>
      </p:graphicFrame>
      <p:sp>
        <p:nvSpPr>
          <p:cNvPr id="36" name="goal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13892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F2A900"/>
                </a:solidFill>
                <a:latin typeface="Calibri"/>
              </a:rPr>
              <a:t>THE GOAL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5440680"/>
            <a:ext cx="104241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  <a:latin typeface="Cambria"/>
              </a:rPr>
              <a:t>A detector that knows when it is confident, and when it needs a second look.</a:t>
            </a:r>
          </a:p>
        </p:txBody>
      </p:sp>
      <p:sp>
        <p:nvSpPr>
          <p:cNvPr id="39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40" name="nav-1">
            <a:hlinkClick action="ppaction://hlinksldjump" r:id="rId9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41" name="nav-2">
            <a:hlinkClick action="ppaction://hlinksldjump" r:id="rId10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42" name="nav-3">
            <a:hlinkClick action="ppaction://hlinksldjump" r:id="rId11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43" name="nav-4">
            <a:hlinkClick action="ppaction://hlinksldjump" r:id="rId12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44" name="nav-5">
            <a:hlinkClick action="ppaction://hlinksldjump" r:id="rId13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nav-6">
            <a:hlinkClick action="ppaction://hlinksldjump" r:id="rId14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566928"/>
            <a:ext cx="6858000" cy="731520"/>
          </a:xfrm>
        </p:spPr>
        <p:txBody>
          <a:bodyPr wrap="square" lIns="0" tIns="0" rIns="0" bIns="0" anchor="t"/>
          <a:lstStyle/>
          <a:p>
            <a:pPr algn="l"/>
            <a:r>
              <a:rPr sz="3600" b="1" i="0">
                <a:solidFill>
                  <a:srgbClr val="0B1F3A"/>
                </a:solidFill>
                <a:latin typeface="Cambria"/>
              </a:rPr>
              <a:t>How Will We Prove It?</a:t>
            </a:r>
          </a:p>
        </p:txBody>
      </p:sp>
      <p:sp>
        <p:nvSpPr>
          <p:cNvPr id="3" name="kicker"/>
          <p:cNvSpPr txBox="1"/>
          <p:nvPr/>
        </p:nvSpPr>
        <p:spPr>
          <a:xfrm>
            <a:off x="548640" y="3017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spc="150">
                <a:solidFill>
                  <a:srgbClr val="0B5CAD"/>
                </a:solidFill>
                <a:latin typeface="Calibri"/>
              </a:rPr>
              <a:t>06  ·  THE PLAN AND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818120" y="640080"/>
            <a:ext cx="3822191" cy="38404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0B1F3A"/>
                </a:solidFill>
                <a:latin typeface="Calibri"/>
              </a:rPr>
              <a:t>Results: to be measured — none claimed yet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-bg-flask"/>
          <p:cNvSpPr/>
          <p:nvPr/>
        </p:nvSpPr>
        <p:spPr>
          <a:xfrm>
            <a:off x="713232" y="152704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icon-flask" descr="flask ic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63" y="1615379"/>
            <a:ext cx="243961" cy="2439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80160" y="141732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1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Reproduce the paper's LightGBM and settle 1.00 vs 0.85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4884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con-bg-db"/>
          <p:cNvSpPr/>
          <p:nvPr/>
        </p:nvSpPr>
        <p:spPr>
          <a:xfrm>
            <a:off x="713232" y="225856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icon-db" descr="db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563" y="2346899"/>
            <a:ext cx="243961" cy="2439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80160" y="214884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2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Test on newer datasets, e.g. CIC-IDS2017 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8036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con-bg-warning"/>
          <p:cNvSpPr/>
          <p:nvPr/>
        </p:nvSpPr>
        <p:spPr>
          <a:xfrm>
            <a:off x="713232" y="299008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icon-warning" descr="warning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563" y="3078419"/>
            <a:ext cx="243961" cy="24396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80160" y="288036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3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Test a new time period, new attack types, fewer features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6035040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con-bg-bars"/>
          <p:cNvSpPr/>
          <p:nvPr/>
        </p:nvSpPr>
        <p:spPr>
          <a:xfrm>
            <a:off x="713232" y="3721608"/>
            <a:ext cx="420624" cy="420624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icon-bars" descr="bars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63" y="3809939"/>
            <a:ext cx="243961" cy="24396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80160" y="3611880"/>
            <a:ext cx="5212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0B5CAD"/>
                </a:solidFill>
                <a:latin typeface="Calibri"/>
              </a:rPr>
              <a:t>STEP 4</a:t>
            </a:r>
          </a:p>
          <a:p>
            <a:pPr algn="l"/>
            <a:r>
              <a:rPr sz="1400" b="1" i="0">
                <a:solidFill>
                  <a:srgbClr val="13233A"/>
                </a:solidFill>
                <a:latin typeface="Calibri"/>
              </a:rPr>
              <a:t>Compare LightGBM, modern AI and our combined approach</a:t>
            </a:r>
          </a:p>
        </p:txBody>
      </p:sp>
      <p:sp>
        <p:nvSpPr>
          <p:cNvPr id="21" name="ref-6">
            <a:hlinkClick r:id="rId6"/>
          </p:cNvPr>
          <p:cNvSpPr/>
          <p:nvPr/>
        </p:nvSpPr>
        <p:spPr>
          <a:xfrm>
            <a:off x="5989320" y="2331720"/>
            <a:ext cx="402336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B5C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 i="0">
                <a:solidFill>
                  <a:srgbClr val="0B5CAD"/>
                </a:solidFill>
                <a:latin typeface="Calibri"/>
              </a:rPr>
              <a:t>[6]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46227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100">
                <a:solidFill>
                  <a:srgbClr val="5A6B80"/>
                </a:solidFill>
                <a:latin typeface="Calibri"/>
              </a:rPr>
              <a:t>WE WILL 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Accuracy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060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Missed attacks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63440" y="468172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False alarms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F1-score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060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Speed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5093208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E6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00" b="1" i="0">
                <a:solidFill>
                  <a:srgbClr val="13233A"/>
                </a:solidFill>
                <a:latin typeface="Calibri"/>
              </a:rPr>
              <a:t>Share sent to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57784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">
                <a:solidFill>
                  <a:srgbClr val="5A6B80"/>
                </a:solidFill>
                <a:latin typeface="Calibri"/>
              </a:rPr>
              <a:t>TECH STACK  ·  click to open docs</a:t>
            </a:r>
          </a:p>
        </p:txBody>
      </p:sp>
      <p:sp>
        <p:nvSpPr>
          <p:cNvPr id="30" name="Rounded Rectangle 29">
            <a:hlinkClick r:id="rId8"/>
          </p:cNvPr>
          <p:cNvSpPr/>
          <p:nvPr/>
        </p:nvSpPr>
        <p:spPr>
          <a:xfrm>
            <a:off x="548640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icon-bg-code"/>
          <p:cNvSpPr/>
          <p:nvPr/>
        </p:nvSpPr>
        <p:spPr>
          <a:xfrm>
            <a:off x="630936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icon-code" descr="code ico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224" y="5926592"/>
            <a:ext cx="180319" cy="1803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05840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Python</a:t>
            </a:r>
          </a:p>
        </p:txBody>
      </p:sp>
      <p:sp>
        <p:nvSpPr>
          <p:cNvPr id="34" name="Rounded Rectangle 33">
            <a:hlinkClick r:id="rId10"/>
          </p:cNvPr>
          <p:cNvSpPr/>
          <p:nvPr/>
        </p:nvSpPr>
        <p:spPr>
          <a:xfrm>
            <a:off x="2084831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con-bg-leaf"/>
          <p:cNvSpPr/>
          <p:nvPr/>
        </p:nvSpPr>
        <p:spPr>
          <a:xfrm>
            <a:off x="2167127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icon-leaf" descr="leaf icon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2416" y="5926592"/>
            <a:ext cx="180319" cy="18031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542032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LightGBM</a:t>
            </a:r>
          </a:p>
        </p:txBody>
      </p:sp>
      <p:sp>
        <p:nvSpPr>
          <p:cNvPr id="38" name="Rounded Rectangle 37">
            <a:hlinkClick r:id="rId12"/>
          </p:cNvPr>
          <p:cNvSpPr/>
          <p:nvPr/>
        </p:nvSpPr>
        <p:spPr>
          <a:xfrm>
            <a:off x="3621024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icon-bg-flame"/>
          <p:cNvSpPr/>
          <p:nvPr/>
        </p:nvSpPr>
        <p:spPr>
          <a:xfrm>
            <a:off x="3703320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icon-flame" descr="flame icon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68608" y="5926592"/>
            <a:ext cx="180319" cy="18031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78224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PyTorch</a:t>
            </a:r>
          </a:p>
        </p:txBody>
      </p:sp>
      <p:sp>
        <p:nvSpPr>
          <p:cNvPr id="42" name="Rounded Rectangle 41">
            <a:hlinkClick r:id="rId14"/>
          </p:cNvPr>
          <p:cNvSpPr/>
          <p:nvPr/>
        </p:nvSpPr>
        <p:spPr>
          <a:xfrm>
            <a:off x="5157216" y="5788152"/>
            <a:ext cx="141732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icon-bg-smile"/>
          <p:cNvSpPr/>
          <p:nvPr/>
        </p:nvSpPr>
        <p:spPr>
          <a:xfrm>
            <a:off x="5239512" y="5861304"/>
            <a:ext cx="310896" cy="310896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icon-smile" descr="smile ic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04800" y="5926592"/>
            <a:ext cx="180319" cy="180319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5614416" y="5788152"/>
            <a:ext cx="932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13233A"/>
                </a:solidFill>
                <a:latin typeface="Calibri"/>
              </a:rPr>
              <a:t>Hugging Face</a:t>
            </a:r>
          </a:p>
        </p:txBody>
      </p:sp>
      <p:sp>
        <p:nvSpPr>
          <p:cNvPr id="46" name="references-card"/>
          <p:cNvSpPr/>
          <p:nvPr/>
        </p:nvSpPr>
        <p:spPr>
          <a:xfrm>
            <a:off x="6858000" y="1417320"/>
            <a:ext cx="4782312" cy="48280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3DC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86600" y="1508760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13233A"/>
                </a:solidFill>
                <a:latin typeface="Cambria"/>
              </a:rPr>
              <a:t>References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86600" y="1920240"/>
            <a:ext cx="4343400" cy="4251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[1]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S. Ness et al., "Anomaly Detection in Network Traffic Using Advanced Machine Learning Techniques," IEEE Access, vol. 13, pp. 16133–16149, 2025.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5"/>
              </a:rPr>
              <a:t>doi.org/10.1109/ACCESS.2025.3526988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;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6"/>
              </a:rPr>
              <a:t>IEEE Xplore 10833631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[2]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IBM and Ponemon Institute, "Cost of a Data Breach Report 2026."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7"/>
              </a:rPr>
              <a:t>ibm.com/think/x-force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[3]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FBI Internet Crime Complaint Center, "2025 Internet Crime Report."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8"/>
              </a:rPr>
              <a:t>ic3.gov/AnnualReport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[4]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"KDD Cup 1999 Data," UCI Machine Learning Repository.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19"/>
              </a:rPr>
              <a:t>archive.ics.uci.edu/dataset/130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[5]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G. Ke et al., "LightGBM: A Highly Efficient Gradient Boosting Decision Tree," NeurIPS, 2017.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20"/>
              </a:rPr>
              <a:t>proceedings.neurips.cc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13233A"/>
                </a:solidFill>
                <a:latin typeface="Calibri"/>
              </a:rPr>
              <a:t>[6] </a:t>
            </a:r>
            <a:r>
              <a:rPr sz="1300" b="0" i="0">
                <a:solidFill>
                  <a:srgbClr val="13233A"/>
                </a:solidFill>
                <a:latin typeface="Calibri"/>
              </a:rPr>
              <a:t>Canadian Institute for Cybersecurity, "Intrusion Detection Evaluation Dataset (CIC-IDS2017)," Univ. of New Brunswick. </a:t>
            </a:r>
            <a:r>
              <a:rPr sz="1300" b="0" i="0" u="sng">
                <a:solidFill>
                  <a:srgbClr val="0B5CAD"/>
                </a:solidFill>
                <a:latin typeface="Calibri"/>
                <a:hlinkClick r:id="rId6"/>
              </a:rPr>
              <a:t>unb.ca/cic/datasets</a:t>
            </a:r>
          </a:p>
        </p:txBody>
      </p:sp>
      <p:sp>
        <p:nvSpPr>
          <p:cNvPr id="49" name="footer"/>
          <p:cNvSpPr txBox="1"/>
          <p:nvPr/>
        </p:nvSpPr>
        <p:spPr>
          <a:xfrm>
            <a:off x="548640" y="6428232"/>
            <a:ext cx="71323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5A6B80"/>
                </a:solidFill>
                <a:latin typeface="Calibri"/>
              </a:rPr>
              <a:t>Beyond 100%  ·  Testing and Improving ML-Based Network Attack Detection</a:t>
            </a:r>
          </a:p>
        </p:txBody>
      </p:sp>
      <p:sp>
        <p:nvSpPr>
          <p:cNvPr id="50" name="nav-1">
            <a:hlinkClick action="ppaction://hlinksldjump" r:id="rId21"/>
          </p:cNvPr>
          <p:cNvSpPr/>
          <p:nvPr/>
        </p:nvSpPr>
        <p:spPr>
          <a:xfrm>
            <a:off x="9628632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1</a:t>
            </a:r>
          </a:p>
        </p:txBody>
      </p:sp>
      <p:sp>
        <p:nvSpPr>
          <p:cNvPr id="51" name="nav-2">
            <a:hlinkClick action="ppaction://hlinksldjump" r:id="rId22"/>
          </p:cNvPr>
          <p:cNvSpPr/>
          <p:nvPr/>
        </p:nvSpPr>
        <p:spPr>
          <a:xfrm>
            <a:off x="9976104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2</a:t>
            </a:r>
          </a:p>
        </p:txBody>
      </p:sp>
      <p:sp>
        <p:nvSpPr>
          <p:cNvPr id="52" name="nav-3">
            <a:hlinkClick action="ppaction://hlinksldjump" r:id="rId23"/>
          </p:cNvPr>
          <p:cNvSpPr/>
          <p:nvPr/>
        </p:nvSpPr>
        <p:spPr>
          <a:xfrm>
            <a:off x="10323576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3</a:t>
            </a:r>
          </a:p>
        </p:txBody>
      </p:sp>
      <p:sp>
        <p:nvSpPr>
          <p:cNvPr id="53" name="nav-4">
            <a:hlinkClick action="ppaction://hlinksldjump" r:id="rId24"/>
          </p:cNvPr>
          <p:cNvSpPr/>
          <p:nvPr/>
        </p:nvSpPr>
        <p:spPr>
          <a:xfrm>
            <a:off x="10671048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4</a:t>
            </a:r>
          </a:p>
        </p:txBody>
      </p:sp>
      <p:sp>
        <p:nvSpPr>
          <p:cNvPr id="54" name="nav-5">
            <a:hlinkClick action="ppaction://hlinksldjump" r:id="rId25"/>
          </p:cNvPr>
          <p:cNvSpPr/>
          <p:nvPr/>
        </p:nvSpPr>
        <p:spPr>
          <a:xfrm>
            <a:off x="11018519" y="6400800"/>
            <a:ext cx="274320" cy="274320"/>
          </a:xfrm>
          <a:prstGeom prst="ellipse">
            <a:avLst/>
          </a:prstGeom>
          <a:noFill/>
          <a:ln w="12700">
            <a:solidFill>
              <a:srgbClr val="5A6B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5A6B80"/>
                </a:solidFill>
                <a:latin typeface="Calibri"/>
              </a:rPr>
              <a:t>5</a:t>
            </a:r>
          </a:p>
        </p:txBody>
      </p:sp>
      <p:sp>
        <p:nvSpPr>
          <p:cNvPr id="55" name="nav-6">
            <a:hlinkClick action="ppaction://hlinksldjump" r:id="rId26"/>
          </p:cNvPr>
          <p:cNvSpPr/>
          <p:nvPr/>
        </p:nvSpPr>
        <p:spPr>
          <a:xfrm>
            <a:off x="11365992" y="6400800"/>
            <a:ext cx="274320" cy="274320"/>
          </a:xfrm>
          <a:prstGeom prst="ellipse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100% - Testing and Improving ML-Based Network Attack Detection</dc:title>
  <dc:subject>Audit of Ness et al. (IEEE Access 2025) and research plan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