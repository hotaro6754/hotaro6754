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Training accuracy (practice)</c:v>
                </c:pt>
              </c:strCache>
            </c:strRef>
          </c:tx>
          <c:spPr>
            <a:solidFill>
              <a:srgbClr val="0B5CAD"/>
            </a:solidFill>
          </c:spPr>
          <c:cat>
            <c:strRef>
              <c:f>Sheet1!$A$2:$A$8</c:f>
              <c:strCache>
                <c:ptCount val="7"/>
                <c:pt idx="0">
                  <c:v>Isolation Forest</c:v>
                </c:pt>
                <c:pt idx="1">
                  <c:v>Naive Bayes</c:v>
                </c:pt>
                <c:pt idx="2">
                  <c:v>XGBoost</c:v>
                </c:pt>
                <c:pt idx="3">
                  <c:v>LightGBM*</c:v>
                </c:pt>
                <c:pt idx="4">
                  <c:v>SVM</c:v>
                </c:pt>
                <c:pt idx="5">
                  <c:v>Random Forest</c:v>
                </c:pt>
                <c:pt idx="6">
                  <c:v>Logistic Regr.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</c:v>
                </c:pt>
                <c:pt idx="1">
                  <c:v>0.89</c:v>
                </c:pt>
                <c:pt idx="2">
                  <c:v>0.99</c:v>
                </c:pt>
                <c:pt idx="3">
                  <c:v>1.0</c:v>
                </c:pt>
                <c:pt idx="4">
                  <c:v>0.99</c:v>
                </c:pt>
                <c:pt idx="5">
                  <c:v>0.98</c:v>
                </c:pt>
                <c:pt idx="6">
                  <c:v>0.81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accuracy (exam)</c:v>
                </c:pt>
              </c:strCache>
            </c:strRef>
          </c:tx>
          <c:spPr>
            <a:solidFill>
              <a:srgbClr val="F2A900"/>
            </a:solidFill>
          </c:spPr>
          <c:cat>
            <c:strRef>
              <c:f>Sheet1!$A$2:$A$8</c:f>
              <c:strCache>
                <c:ptCount val="7"/>
                <c:pt idx="0">
                  <c:v>Isolation Forest</c:v>
                </c:pt>
                <c:pt idx="1">
                  <c:v>Naive Bayes</c:v>
                </c:pt>
                <c:pt idx="2">
                  <c:v>XGBoost</c:v>
                </c:pt>
                <c:pt idx="3">
                  <c:v>LightGBM*</c:v>
                </c:pt>
                <c:pt idx="4">
                  <c:v>SVM</c:v>
                </c:pt>
                <c:pt idx="5">
                  <c:v>Random Forest</c:v>
                </c:pt>
                <c:pt idx="6">
                  <c:v>Logistic Regr.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0.4</c:v>
                </c:pt>
                <c:pt idx="1">
                  <c:v>0.81</c:v>
                </c:pt>
                <c:pt idx="2">
                  <c:v>0.83</c:v>
                </c:pt>
                <c:pt idx="3">
                  <c:v>0.85</c:v>
                </c:pt>
                <c:pt idx="4">
                  <c:v>0.85</c:v>
                </c:pt>
                <c:pt idx="5">
                  <c:v>0.82</c:v>
                </c:pt>
                <c:pt idx="6">
                  <c:v>0.75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DCE8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13233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ibm.com/think/x-force/2026-cost-of-a-data-breach-ai-adversaries-enterprise-risk" TargetMode="External"/><Relationship Id="rId5" Type="http://schemas.openxmlformats.org/officeDocument/2006/relationships/hyperlink" Target="https://www.ic3.gov/AnnualReport/Reports/2025_IC3Report.pdf" TargetMode="External"/><Relationship Id="rId6" Type="http://schemas.openxmlformats.org/officeDocument/2006/relationships/slide" Target="slide1.xml"/><Relationship Id="rId7" Type="http://schemas.openxmlformats.org/officeDocument/2006/relationships/slide" Target="slide2.xml"/><Relationship Id="rId8" Type="http://schemas.openxmlformats.org/officeDocument/2006/relationships/slide" Target="slide3.xml"/><Relationship Id="rId9" Type="http://schemas.openxmlformats.org/officeDocument/2006/relationships/slide" Target="slide4.xml"/><Relationship Id="rId10" Type="http://schemas.openxmlformats.org/officeDocument/2006/relationships/slide" Target="slide5.xml"/><Relationship Id="rId11" Type="http://schemas.openxmlformats.org/officeDocument/2006/relationships/slide" Target="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hyperlink" Target="https://doi.org/10.1109/ACCESS.2025.3526988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5.png"/><Relationship Id="rId7" Type="http://schemas.openxmlformats.org/officeDocument/2006/relationships/hyperlink" Target="https://archive.ics.uci.edu/dataset/130/kdd+cup+1999+data" TargetMode="External"/><Relationship Id="rId8" Type="http://schemas.openxmlformats.org/officeDocument/2006/relationships/slide" Target="slide1.xml"/><Relationship Id="rId9" Type="http://schemas.openxmlformats.org/officeDocument/2006/relationships/slide" Target="slide2.xml"/><Relationship Id="rId10" Type="http://schemas.openxmlformats.org/officeDocument/2006/relationships/slide" Target="slide3.xml"/><Relationship Id="rId11" Type="http://schemas.openxmlformats.org/officeDocument/2006/relationships/slide" Target="slide4.xml"/><Relationship Id="rId12" Type="http://schemas.openxmlformats.org/officeDocument/2006/relationships/slide" Target="slide5.xml"/><Relationship Id="rId13" Type="http://schemas.openxmlformats.org/officeDocument/2006/relationships/slide" Target="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slide" Target="slide1.xml"/><Relationship Id="rId9" Type="http://schemas.openxmlformats.org/officeDocument/2006/relationships/slide" Target="slide2.xml"/><Relationship Id="rId10" Type="http://schemas.openxmlformats.org/officeDocument/2006/relationships/slide" Target="slide3.xml"/><Relationship Id="rId11" Type="http://schemas.openxmlformats.org/officeDocument/2006/relationships/slide" Target="slide4.xml"/><Relationship Id="rId12" Type="http://schemas.openxmlformats.org/officeDocument/2006/relationships/slide" Target="slide5.xml"/><Relationship Id="rId13" Type="http://schemas.openxmlformats.org/officeDocument/2006/relationships/slide" Target="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proceedings.neurips.cc/paper/2017/file/6449f44a102fde848669bdd9eb6b76fa-Paper.pdf" TargetMode="External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9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hyperlink" Target="https://www.ibm.com/think/x-force/2026-cost-of-a-data-breach-ai-adversaries-enterprise-risk" TargetMode="External"/><Relationship Id="rId9" Type="http://schemas.openxmlformats.org/officeDocument/2006/relationships/slide" Target="slide1.xml"/><Relationship Id="rId10" Type="http://schemas.openxmlformats.org/officeDocument/2006/relationships/slide" Target="slide2.xml"/><Relationship Id="rId11" Type="http://schemas.openxmlformats.org/officeDocument/2006/relationships/slide" Target="slide3.xml"/><Relationship Id="rId12" Type="http://schemas.openxmlformats.org/officeDocument/2006/relationships/slide" Target="slide4.xml"/><Relationship Id="rId13" Type="http://schemas.openxmlformats.org/officeDocument/2006/relationships/slide" Target="slide5.xml"/><Relationship Id="rId14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hyperlink" Target="https://www.unb.ca/cic/datasets/ids-2017.html" TargetMode="External"/><Relationship Id="rId7" Type="http://schemas.openxmlformats.org/officeDocument/2006/relationships/image" Target="../media/image16.png"/><Relationship Id="rId8" Type="http://schemas.openxmlformats.org/officeDocument/2006/relationships/hyperlink" Target="https://www.python.org" TargetMode="External"/><Relationship Id="rId9" Type="http://schemas.openxmlformats.org/officeDocument/2006/relationships/image" Target="../media/image11.png"/><Relationship Id="rId10" Type="http://schemas.openxmlformats.org/officeDocument/2006/relationships/hyperlink" Target="https://lightgbm.readthedocs.io" TargetMode="External"/><Relationship Id="rId11" Type="http://schemas.openxmlformats.org/officeDocument/2006/relationships/image" Target="../media/image17.png"/><Relationship Id="rId12" Type="http://schemas.openxmlformats.org/officeDocument/2006/relationships/hyperlink" Target="https://pytorch.org" TargetMode="External"/><Relationship Id="rId13" Type="http://schemas.openxmlformats.org/officeDocument/2006/relationships/image" Target="../media/image18.png"/><Relationship Id="rId14" Type="http://schemas.openxmlformats.org/officeDocument/2006/relationships/hyperlink" Target="https://huggingface.co" TargetMode="External"/><Relationship Id="rId15" Type="http://schemas.openxmlformats.org/officeDocument/2006/relationships/hyperlink" Target="https://doi.org/10.1109/ACCESS.2025.3526988" TargetMode="External"/><Relationship Id="rId16" Type="http://schemas.openxmlformats.org/officeDocument/2006/relationships/hyperlink" Target="https://www.ibm.com/think/x-force/2026-cost-of-a-data-breach-ai-adversaries-enterprise-risk" TargetMode="External"/><Relationship Id="rId17" Type="http://schemas.openxmlformats.org/officeDocument/2006/relationships/hyperlink" Target="https://www.ic3.gov/AnnualReport/Reports/2025_IC3Report.pdf" TargetMode="External"/><Relationship Id="rId18" Type="http://schemas.openxmlformats.org/officeDocument/2006/relationships/hyperlink" Target="https://archive.ics.uci.edu/dataset/130/kdd+cup+1999+data" TargetMode="External"/><Relationship Id="rId19" Type="http://schemas.openxmlformats.org/officeDocument/2006/relationships/hyperlink" Target="https://proceedings.neurips.cc/paper/2017/file/6449f44a102fde848669bdd9eb6b76fa-Paper.pdf" TargetMode="External"/><Relationship Id="rId20" Type="http://schemas.openxmlformats.org/officeDocument/2006/relationships/slide" Target="slide1.xml"/><Relationship Id="rId21" Type="http://schemas.openxmlformats.org/officeDocument/2006/relationships/slide" Target="slide2.xml"/><Relationship Id="rId22" Type="http://schemas.openxmlformats.org/officeDocument/2006/relationships/slide" Target="slide3.xml"/><Relationship Id="rId23" Type="http://schemas.openxmlformats.org/officeDocument/2006/relationships/slide" Target="slide4.xml"/><Relationship Id="rId24" Type="http://schemas.openxmlformats.org/officeDocument/2006/relationships/slide" Target="slide5.xml"/><Relationship Id="rId25" Type="http://schemas.openxmlformats.org/officeDocument/2006/relationships/slide" Target="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554480"/>
            <a:ext cx="5577840" cy="1600200"/>
          </a:xfrm>
        </p:spPr>
        <p:txBody>
          <a:bodyPr wrap="square" lIns="0" tIns="0" rIns="0" bIns="0" anchor="t"/>
          <a:lstStyle/>
          <a:p>
            <a:pPr algn="l"/>
            <a:r>
              <a:rPr sz="4600" b="1" i="0">
                <a:solidFill>
                  <a:srgbClr val="FFFFFF"/>
                </a:solidFill>
                <a:latin typeface="Cambria"/>
              </a:rPr>
              <a:t>Can 100% Accuracy
Be Trusted?</a:t>
            </a:r>
          </a:p>
        </p:txBody>
      </p:sp>
      <p:sp>
        <p:nvSpPr>
          <p:cNvPr id="3" name="icon-bg-shield"/>
          <p:cNvSpPr/>
          <p:nvPr/>
        </p:nvSpPr>
        <p:spPr>
          <a:xfrm>
            <a:off x="548640" y="384048"/>
            <a:ext cx="457200" cy="457200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icon-shield" descr="shield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" y="480060"/>
            <a:ext cx="265176" cy="2651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384048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spc="200">
                <a:solidFill>
                  <a:srgbClr val="FFFFFF"/>
                </a:solidFill>
                <a:latin typeface="Calibri"/>
              </a:rPr>
              <a:t>BEYOND 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384048"/>
            <a:ext cx="533095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0" i="0">
                <a:solidFill>
                  <a:srgbClr val="9FB3CC"/>
                </a:solidFill>
                <a:latin typeface="Calibri"/>
              </a:rPr>
              <a:t>Testing and improving ML-based network attack detection</a:t>
            </a:r>
          </a:p>
        </p:txBody>
      </p:sp>
      <p:sp>
        <p:nvSpPr>
          <p:cNvPr id="7" name="kicker"/>
          <p:cNvSpPr txBox="1"/>
          <p:nvPr/>
        </p:nvSpPr>
        <p:spPr>
          <a:xfrm>
            <a:off x="548640" y="1188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F2A900"/>
                </a:solidFill>
                <a:latin typeface="Calibri"/>
              </a:rPr>
              <a:t>01  ·  WHY IT MATTERS</a:t>
            </a:r>
          </a:p>
        </p:txBody>
      </p:sp>
      <p:sp>
        <p:nvSpPr>
          <p:cNvPr id="8" name="icon-bg-shield"/>
          <p:cNvSpPr/>
          <p:nvPr/>
        </p:nvSpPr>
        <p:spPr>
          <a:xfrm>
            <a:off x="548640" y="3429000"/>
            <a:ext cx="512064" cy="512064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icon-shield" descr="shield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73" y="3536533"/>
            <a:ext cx="296997" cy="2969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80160" y="3383280"/>
            <a:ext cx="42976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A detector watches network traffic and flags attacks.</a:t>
            </a:r>
          </a:p>
        </p:txBody>
      </p:sp>
      <p:sp>
        <p:nvSpPr>
          <p:cNvPr id="11" name="icon-bg-warning"/>
          <p:cNvSpPr/>
          <p:nvPr/>
        </p:nvSpPr>
        <p:spPr>
          <a:xfrm>
            <a:off x="548640" y="4297680"/>
            <a:ext cx="512064" cy="512064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icon-warning" descr="warning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73" y="4405213"/>
            <a:ext cx="296997" cy="2969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80160" y="4251960"/>
            <a:ext cx="42976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A missed attack costs money. A false alarm wastes analysts'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88720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F2A900"/>
                </a:solidFill>
                <a:latin typeface="Calibri"/>
              </a:rPr>
              <a:t>INDUSTRY LOSS  ·  WHAT FAILED DEFENCE COSTS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600200"/>
            <a:ext cx="5330952" cy="1097280"/>
          </a:xfrm>
          <a:prstGeom prst="roundRect">
            <a:avLst>
              <a:gd name="adj" fmla="val 8000"/>
            </a:avLst>
          </a:prstGeom>
          <a:solidFill>
            <a:srgbClr val="132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600200"/>
            <a:ext cx="21031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>
                <a:solidFill>
                  <a:srgbClr val="F2A900"/>
                </a:solidFill>
                <a:latin typeface="Cambria"/>
              </a:rPr>
              <a:t>$4.99M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709928"/>
            <a:ext cx="242316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average cost of one data breach worldwide, a record (+12%)</a:t>
            </a:r>
          </a:p>
        </p:txBody>
      </p:sp>
      <p:sp>
        <p:nvSpPr>
          <p:cNvPr id="18" name="ref-2">
            <a:hlinkClick r:id="rId4"/>
          </p:cNvPr>
          <p:cNvSpPr/>
          <p:nvPr/>
        </p:nvSpPr>
        <p:spPr>
          <a:xfrm>
            <a:off x="11155680" y="2020824"/>
            <a:ext cx="4023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5C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5CAD"/>
                </a:solidFill>
                <a:latin typeface="Calibri"/>
              </a:rPr>
              <a:t>[2]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834640"/>
            <a:ext cx="5330952" cy="1097280"/>
          </a:xfrm>
          <a:prstGeom prst="roundRect">
            <a:avLst>
              <a:gd name="adj" fmla="val 8000"/>
            </a:avLst>
          </a:prstGeom>
          <a:solidFill>
            <a:srgbClr val="132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834640"/>
            <a:ext cx="21031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>
                <a:solidFill>
                  <a:srgbClr val="F2A900"/>
                </a:solidFill>
                <a:latin typeface="Cambria"/>
              </a:rPr>
              <a:t>247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944368"/>
            <a:ext cx="242316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average time to find and contain a breach</a:t>
            </a:r>
          </a:p>
        </p:txBody>
      </p:sp>
      <p:sp>
        <p:nvSpPr>
          <p:cNvPr id="22" name="ref-2">
            <a:hlinkClick r:id="rId4"/>
          </p:cNvPr>
          <p:cNvSpPr/>
          <p:nvPr/>
        </p:nvSpPr>
        <p:spPr>
          <a:xfrm>
            <a:off x="11155680" y="3255264"/>
            <a:ext cx="4023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5C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5CAD"/>
                </a:solidFill>
                <a:latin typeface="Calibri"/>
              </a:rPr>
              <a:t>[2]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4069080"/>
            <a:ext cx="5330952" cy="1097280"/>
          </a:xfrm>
          <a:prstGeom prst="roundRect">
            <a:avLst>
              <a:gd name="adj" fmla="val 8000"/>
            </a:avLst>
          </a:prstGeom>
          <a:solidFill>
            <a:srgbClr val="132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069080"/>
            <a:ext cx="21031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>
                <a:solidFill>
                  <a:srgbClr val="F2A900"/>
                </a:solidFill>
                <a:latin typeface="Cambria"/>
              </a:rPr>
              <a:t>$20.9B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178808"/>
            <a:ext cx="242316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cybercrime losses reported to the FBI in 2025 (+26%)</a:t>
            </a:r>
          </a:p>
        </p:txBody>
      </p:sp>
      <p:sp>
        <p:nvSpPr>
          <p:cNvPr id="26" name="ref-3">
            <a:hlinkClick r:id="rId5"/>
          </p:cNvPr>
          <p:cNvSpPr/>
          <p:nvPr/>
        </p:nvSpPr>
        <p:spPr>
          <a:xfrm>
            <a:off x="11155680" y="4489704"/>
            <a:ext cx="4023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5C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5CAD"/>
                </a:solidFill>
                <a:latin typeface="Calibri"/>
              </a:rPr>
              <a:t>[3]</a:t>
            </a:r>
          </a:p>
        </p:txBody>
      </p:sp>
      <p:sp>
        <p:nvSpPr>
          <p:cNvPr id="27" name="question-bar"/>
          <p:cNvSpPr/>
          <p:nvPr/>
        </p:nvSpPr>
        <p:spPr>
          <a:xfrm>
            <a:off x="548640" y="544068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0" rIns="182880" bIns="0"/>
          <a:lstStyle/>
          <a:p>
            <a:pPr algn="l"/>
            <a:r>
              <a:rPr sz="1800" b="1" i="0">
                <a:solidFill>
                  <a:srgbClr val="F2A900"/>
                </a:solidFill>
                <a:latin typeface="Calibri"/>
              </a:rPr>
              <a:t>Our question 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Can we trust a detector's accuracy score, and does it hold on new traffic?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9FB3CC"/>
                </a:solidFill>
                <a:latin typeface="Calibri"/>
              </a:rPr>
              <a:t>Beyond 100%  ·  Testing and Improving ML-Based Network Attack Detection</a:t>
            </a:r>
          </a:p>
        </p:txBody>
      </p:sp>
      <p:sp>
        <p:nvSpPr>
          <p:cNvPr id="29" name="nav-1">
            <a:hlinkClick action="ppaction://hlinksldjump" r:id="rId6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1</a:t>
            </a:r>
          </a:p>
        </p:txBody>
      </p:sp>
      <p:sp>
        <p:nvSpPr>
          <p:cNvPr id="30" name="nav-2">
            <a:hlinkClick action="ppaction://hlinksldjump" r:id="rId7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noFill/>
          <a:ln w="12700">
            <a:solidFill>
              <a:srgbClr val="9FB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9FB3CC"/>
                </a:solidFill>
                <a:latin typeface="Calibri"/>
              </a:rPr>
              <a:t>2</a:t>
            </a:r>
          </a:p>
        </p:txBody>
      </p:sp>
      <p:sp>
        <p:nvSpPr>
          <p:cNvPr id="31" name="nav-3">
            <a:hlinkClick action="ppaction://hlinksldjump" r:id="rId8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noFill/>
          <a:ln w="12700">
            <a:solidFill>
              <a:srgbClr val="9FB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9FB3CC"/>
                </a:solidFill>
                <a:latin typeface="Calibri"/>
              </a:rPr>
              <a:t>3</a:t>
            </a:r>
          </a:p>
        </p:txBody>
      </p:sp>
      <p:sp>
        <p:nvSpPr>
          <p:cNvPr id="32" name="nav-4">
            <a:hlinkClick action="ppaction://hlinksldjump" r:id="rId9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noFill/>
          <a:ln w="12700">
            <a:solidFill>
              <a:srgbClr val="9FB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9FB3CC"/>
                </a:solidFill>
                <a:latin typeface="Calibri"/>
              </a:rPr>
              <a:t>4</a:t>
            </a:r>
          </a:p>
        </p:txBody>
      </p:sp>
      <p:sp>
        <p:nvSpPr>
          <p:cNvPr id="33" name="nav-5">
            <a:hlinkClick action="ppaction://hlinksldjump" r:id="rId10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noFill/>
          <a:ln w="12700">
            <a:solidFill>
              <a:srgbClr val="9FB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9FB3CC"/>
                </a:solidFill>
                <a:latin typeface="Calibri"/>
              </a:rPr>
              <a:t>5</a:t>
            </a:r>
          </a:p>
        </p:txBody>
      </p:sp>
      <p:sp>
        <p:nvSpPr>
          <p:cNvPr id="34" name="nav-6">
            <a:hlinkClick action="ppaction://hlinksldjump" r:id="rId11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noFill/>
          <a:ln w="12700">
            <a:solidFill>
              <a:srgbClr val="9FB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9FB3C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11064240" cy="731520"/>
          </a:xfrm>
        </p:spPr>
        <p:txBody>
          <a:bodyPr wrap="square" lIns="0" tIns="0" rIns="0" bIns="0" anchor="t"/>
          <a:lstStyle/>
          <a:p>
            <a:pPr algn="l"/>
            <a:r>
              <a:rPr sz="3600" b="1" i="0">
                <a:solidFill>
                  <a:srgbClr val="0B1F3A"/>
                </a:solidFill>
                <a:latin typeface="Cambria"/>
              </a:rPr>
              <a:t>What Is This Paper?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017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0B5CAD"/>
                </a:solidFill>
                <a:latin typeface="Calibri"/>
              </a:rPr>
              <a:t>02  ·  THE PAPER: WHAT, WHY, HOW</a:t>
            </a:r>
          </a:p>
        </p:txBody>
      </p:sp>
      <p:sp>
        <p:nvSpPr>
          <p:cNvPr id="4" name="paper-card"/>
          <p:cNvSpPr/>
          <p:nvPr/>
        </p:nvSpPr>
        <p:spPr>
          <a:xfrm>
            <a:off x="548640" y="1325880"/>
            <a:ext cx="11091672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-bg-paper"/>
          <p:cNvSpPr/>
          <p:nvPr/>
        </p:nvSpPr>
        <p:spPr>
          <a:xfrm>
            <a:off x="731520" y="146304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-paper" descr="paper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" y="1559052"/>
            <a:ext cx="265176" cy="2651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1325880"/>
            <a:ext cx="8138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Anomaly Detection in Network Traffic Using Advanced Machine Learning Techniques</a:t>
            </a:r>
          </a:p>
          <a:p>
            <a:pPr algn="l"/>
            <a:r>
              <a:rPr sz="1200" b="0" i="0">
                <a:solidFill>
                  <a:srgbClr val="5A6B80"/>
                </a:solidFill>
                <a:latin typeface="Calibri"/>
              </a:rPr>
              <a:t>S. Ness et al.  ·  IEEE Access, vol. 13, pp. 16133–16149, 2025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9829800" y="1527048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Open paper [1] ›</a:t>
            </a:r>
          </a:p>
        </p:txBody>
      </p:sp>
      <p:sp>
        <p:nvSpPr>
          <p:cNvPr id="9" name="figure-frame"/>
          <p:cNvSpPr/>
          <p:nvPr/>
        </p:nvSpPr>
        <p:spPr>
          <a:xfrm>
            <a:off x="548640" y="2240280"/>
            <a:ext cx="4937760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aper-figure" descr="Paper Fig. 1: network traffic, dataset, preprocessing, feature extraction, ML detection, evaluati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904" y="2286000"/>
            <a:ext cx="4763230" cy="2834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212080"/>
            <a:ext cx="4937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6B80"/>
                </a:solidFill>
                <a:latin typeface="Calibri"/>
              </a:rPr>
              <a:t>The paper's own Fig. 1 (CC BY 4.0)</a:t>
            </a:r>
          </a:p>
        </p:txBody>
      </p:sp>
      <p:sp>
        <p:nvSpPr>
          <p:cNvPr id="12" name="what-card"/>
          <p:cNvSpPr/>
          <p:nvPr/>
        </p:nvSpPr>
        <p:spPr>
          <a:xfrm>
            <a:off x="5760720" y="2240280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con-bg-paper"/>
          <p:cNvSpPr/>
          <p:nvPr/>
        </p:nvSpPr>
        <p:spPr>
          <a:xfrm>
            <a:off x="5943600" y="246888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icon-paper" descr="paper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9612" y="2564892"/>
            <a:ext cx="265176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0" y="2240280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00">
                <a:solidFill>
                  <a:srgbClr val="0B5CAD"/>
                </a:solidFill>
                <a:latin typeface="Calibri"/>
              </a:rPr>
              <a:t>WHAT</a:t>
            </a:r>
          </a:p>
          <a:p>
            <a:pPr algn="l"/>
            <a:r>
              <a:rPr sz="1400" b="0" i="0">
                <a:solidFill>
                  <a:srgbClr val="13233A"/>
                </a:solidFill>
                <a:latin typeface="Calibri"/>
              </a:rPr>
              <a:t>Tests 7 machine-learning models on one job: is this network traffic normal or an attack?</a:t>
            </a:r>
          </a:p>
        </p:txBody>
      </p:sp>
      <p:sp>
        <p:nvSpPr>
          <p:cNvPr id="16" name="why-card"/>
          <p:cNvSpPr/>
          <p:nvPr/>
        </p:nvSpPr>
        <p:spPr>
          <a:xfrm>
            <a:off x="5760720" y="3264408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con-bg-warning"/>
          <p:cNvSpPr/>
          <p:nvPr/>
        </p:nvSpPr>
        <p:spPr>
          <a:xfrm>
            <a:off x="5943600" y="3493008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icon-warning" descr="warning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9612" y="3589020"/>
            <a:ext cx="265176" cy="265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83680" y="3264408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00">
                <a:solidFill>
                  <a:srgbClr val="0B5CAD"/>
                </a:solidFill>
                <a:latin typeface="Calibri"/>
              </a:rPr>
              <a:t>WHY</a:t>
            </a:r>
          </a:p>
          <a:p>
            <a:pPr algn="l"/>
            <a:r>
              <a:rPr sz="1400" b="0" i="0">
                <a:solidFill>
                  <a:srgbClr val="13233A"/>
                </a:solidFill>
                <a:latin typeface="Calibri"/>
              </a:rPr>
              <a:t>Attackers keep changing tactics. Fixed rules fall behind; models can learn from past traffic.</a:t>
            </a:r>
          </a:p>
        </p:txBody>
      </p:sp>
      <p:sp>
        <p:nvSpPr>
          <p:cNvPr id="20" name="how-card"/>
          <p:cNvSpPr/>
          <p:nvPr/>
        </p:nvSpPr>
        <p:spPr>
          <a:xfrm>
            <a:off x="5760720" y="4288536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con-bg-gear"/>
          <p:cNvSpPr/>
          <p:nvPr/>
        </p:nvSpPr>
        <p:spPr>
          <a:xfrm>
            <a:off x="5943600" y="4517136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icon-gear" descr="gear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9612" y="4613148"/>
            <a:ext cx="265176" cy="26517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83680" y="4288536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00">
                <a:solidFill>
                  <a:srgbClr val="0B5CAD"/>
                </a:solidFill>
                <a:latin typeface="Calibri"/>
              </a:rPr>
              <a:t>HOW</a:t>
            </a:r>
          </a:p>
          <a:p>
            <a:pPr algn="l"/>
            <a:r>
              <a:rPr sz="1400" b="0" i="0">
                <a:solidFill>
                  <a:srgbClr val="13233A"/>
                </a:solidFill>
                <a:latin typeface="Calibri"/>
              </a:rPr>
              <a:t>Clean old traffic records (KDD'99), train on most of them, test on the rest, compare scores.</a:t>
            </a:r>
          </a:p>
        </p:txBody>
      </p:sp>
      <p:sp>
        <p:nvSpPr>
          <p:cNvPr id="24" name="ref-4">
            <a:hlinkClick r:id="rId7"/>
          </p:cNvPr>
          <p:cNvSpPr/>
          <p:nvPr/>
        </p:nvSpPr>
        <p:spPr>
          <a:xfrm>
            <a:off x="11155680" y="4343400"/>
            <a:ext cx="4023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5C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5CAD"/>
                </a:solidFill>
                <a:latin typeface="Calibri"/>
              </a:rPr>
              <a:t>[4]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8640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5A6B80"/>
                </a:solidFill>
                <a:latin typeface="Calibri"/>
              </a:rPr>
              <a:t>WORDS TO KNOW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733288"/>
            <a:ext cx="2115921" cy="457200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Anomaly = unusual traffic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92577" y="5733288"/>
            <a:ext cx="2115921" cy="457200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Training = practice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36515" y="5733288"/>
            <a:ext cx="2115921" cy="457200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Test = the exam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80452" y="5733288"/>
            <a:ext cx="2115921" cy="457200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Accuracy = % answered right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24390" y="5733288"/>
            <a:ext cx="2115921" cy="457200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False alarm = normal flagged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Figures: S. Ness et al., IEEE Access 13 (2025), CC BY 4.0  ·  Beyond 100%</a:t>
            </a:r>
          </a:p>
        </p:txBody>
      </p:sp>
      <p:sp>
        <p:nvSpPr>
          <p:cNvPr id="32" name="nav-1">
            <a:hlinkClick action="ppaction://hlinksldjump" r:id="rId8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1</a:t>
            </a:r>
          </a:p>
        </p:txBody>
      </p:sp>
      <p:sp>
        <p:nvSpPr>
          <p:cNvPr id="33" name="nav-2">
            <a:hlinkClick action="ppaction://hlinksldjump" r:id="rId9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4" name="nav-3">
            <a:hlinkClick action="ppaction://hlinksldjump" r:id="rId10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3</a:t>
            </a:r>
          </a:p>
        </p:txBody>
      </p:sp>
      <p:sp>
        <p:nvSpPr>
          <p:cNvPr id="35" name="nav-4">
            <a:hlinkClick action="ppaction://hlinksldjump" r:id="rId11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4</a:t>
            </a:r>
          </a:p>
        </p:txBody>
      </p:sp>
      <p:sp>
        <p:nvSpPr>
          <p:cNvPr id="36" name="nav-5">
            <a:hlinkClick action="ppaction://hlinksldjump" r:id="rId12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5</a:t>
            </a:r>
          </a:p>
        </p:txBody>
      </p:sp>
      <p:sp>
        <p:nvSpPr>
          <p:cNvPr id="37" name="nav-6">
            <a:hlinkClick action="ppaction://hlinksldjump" r:id="rId13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11064240" cy="731520"/>
          </a:xfrm>
        </p:spPr>
        <p:txBody>
          <a:bodyPr wrap="square" lIns="0" tIns="0" rIns="0" bIns="0" anchor="t"/>
          <a:lstStyle/>
          <a:p>
            <a:pPr algn="l"/>
            <a:r>
              <a:rPr sz="3600" b="1" i="0">
                <a:solidFill>
                  <a:srgbClr val="0B1F3A"/>
                </a:solidFill>
                <a:latin typeface="Cambria"/>
              </a:rPr>
              <a:t>The Paper's Numbers, and What Is Lost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017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0B5CAD"/>
                </a:solidFill>
                <a:latin typeface="Calibri"/>
              </a:rPr>
              <a:t>03  ·  PAPER NUMBERS AND LOSSES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949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Accuracy on practice (training) vs the exam (test), as reported [1]</a:t>
            </a:r>
          </a:p>
        </p:txBody>
      </p:sp>
      <p:graphicFrame>
        <p:nvGraphicFramePr>
          <p:cNvPr id="5" name="chart" descr="Training vs test accuracy for 7 models; every model loses 6 to 16 points on the test"/>
          <p:cNvGraphicFramePr>
            <a:graphicFrameLocks noGrp="1"/>
          </p:cNvGraphicFramePr>
          <p:nvPr/>
        </p:nvGraphicFramePr>
        <p:xfrm>
          <a:off x="548640" y="1645920"/>
          <a:ext cx="694944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919472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A6B80"/>
                </a:solidFill>
                <a:latin typeface="Calibri"/>
              </a:rPr>
              <a:t>*LightGBM: the abstract says 1.00 → 0.85. Tables 5, 6 and 8 print it reversed (test 1.00, training 0.85).</a:t>
            </a:r>
          </a:p>
        </p:txBody>
      </p:sp>
      <p:sp>
        <p:nvSpPr>
          <p:cNvPr id="7" name="loss-card-1"/>
          <p:cNvSpPr/>
          <p:nvPr/>
        </p:nvSpPr>
        <p:spPr>
          <a:xfrm>
            <a:off x="7818120" y="1371600"/>
            <a:ext cx="3822191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444752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0B5CAD"/>
                </a:solidFill>
                <a:latin typeface="Cambria"/>
              </a:rPr>
              <a:t>6–16 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965960"/>
            <a:ext cx="3429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3233A"/>
                </a:solidFill>
                <a:latin typeface="Calibri"/>
              </a:rPr>
              <a:t>lost from practice to exam, in every model</a:t>
            </a:r>
          </a:p>
        </p:txBody>
      </p:sp>
      <p:sp>
        <p:nvSpPr>
          <p:cNvPr id="10" name="loss-card-2"/>
          <p:cNvSpPr/>
          <p:nvPr/>
        </p:nvSpPr>
        <p:spPr>
          <a:xfrm>
            <a:off x="7818120" y="2743200"/>
            <a:ext cx="3822191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816352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0B5CAD"/>
                </a:solidFill>
                <a:latin typeface="Cambria"/>
              </a:rPr>
              <a:t>1.00 vs 0.85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337560"/>
            <a:ext cx="3429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3233A"/>
                </a:solidFill>
                <a:latin typeface="Calibri"/>
              </a:rPr>
              <a:t>LightGBM's test score is reported two ways in the same paper</a:t>
            </a:r>
          </a:p>
        </p:txBody>
      </p:sp>
      <p:sp>
        <p:nvSpPr>
          <p:cNvPr id="13" name="loss-card-3"/>
          <p:cNvSpPr/>
          <p:nvPr/>
        </p:nvSpPr>
        <p:spPr>
          <a:xfrm>
            <a:off x="7818120" y="4114800"/>
            <a:ext cx="3822191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4187952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0B5CAD"/>
                </a:solidFill>
                <a:latin typeface="Cambria"/>
              </a:rPr>
              <a:t>15%  ·  12%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709160"/>
            <a:ext cx="3429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3233A"/>
                </a:solidFill>
                <a:latin typeface="Calibri"/>
              </a:rPr>
              <a:t>of attacks missed, and of normal traffic falsely flagged, in LightGBM's own matrix (our calculation)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86400"/>
            <a:ext cx="11091672" cy="713232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0" rIns="228600" bIns="0"/>
          <a:lstStyle/>
          <a:p>
            <a:pPr algn="l"/>
            <a:r>
              <a:rPr sz="1700" b="1" i="0">
                <a:solidFill>
                  <a:srgbClr val="F2A900"/>
                </a:solidFill>
                <a:latin typeface="Calibri"/>
              </a:rPr>
              <a:t>Like this 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Scoring 100% on practice questions but 85% on the exam. How much more is lost on a new exam?</a:t>
            </a:r>
          </a:p>
        </p:txBody>
      </p:sp>
      <p:sp>
        <p:nvSpPr>
          <p:cNvPr id="17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Beyond 100%  ·  Testing and Improving ML-Based Network Attack Detection</a:t>
            </a:r>
          </a:p>
        </p:txBody>
      </p:sp>
      <p:sp>
        <p:nvSpPr>
          <p:cNvPr id="18" name="nav-1">
            <a:hlinkClick action="ppaction://hlinksldjump" r:id="rId3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1</a:t>
            </a:r>
          </a:p>
        </p:txBody>
      </p:sp>
      <p:sp>
        <p:nvSpPr>
          <p:cNvPr id="19" name="nav-2">
            <a:hlinkClick action="ppaction://hlinksldjump" r:id="rId4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2</a:t>
            </a:r>
          </a:p>
        </p:txBody>
      </p:sp>
      <p:sp>
        <p:nvSpPr>
          <p:cNvPr id="20" name="nav-3">
            <a:hlinkClick action="ppaction://hlinksldjump" r:id="rId5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nav-4">
            <a:hlinkClick action="ppaction://hlinksldjump" r:id="rId6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4</a:t>
            </a:r>
          </a:p>
        </p:txBody>
      </p:sp>
      <p:sp>
        <p:nvSpPr>
          <p:cNvPr id="22" name="nav-5">
            <a:hlinkClick action="ppaction://hlinksldjump" r:id="rId7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5</a:t>
            </a:r>
          </a:p>
        </p:txBody>
      </p:sp>
      <p:sp>
        <p:nvSpPr>
          <p:cNvPr id="23" name="nav-6">
            <a:hlinkClick action="ppaction://hlinksldjump" r:id="rId8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11064240" cy="731520"/>
          </a:xfrm>
        </p:spPr>
        <p:txBody>
          <a:bodyPr wrap="square" lIns="0" tIns="0" rIns="0" bIns="0" anchor="t"/>
          <a:lstStyle/>
          <a:p>
            <a:pPr algn="l"/>
            <a:r>
              <a:rPr sz="3600" b="1" i="0">
                <a:solidFill>
                  <a:srgbClr val="0B1F3A"/>
                </a:solidFill>
                <a:latin typeface="Cambria"/>
              </a:rPr>
              <a:t>What Is the Paper Lacking?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017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0B5CAD"/>
                </a:solidFill>
                <a:latin typeface="Calibri"/>
              </a:rPr>
              <a:t>04  ·  THE GAPS</a:t>
            </a:r>
          </a:p>
        </p:txBody>
      </p:sp>
      <p:sp>
        <p:nvSpPr>
          <p:cNvPr id="4" name="gap-card-1"/>
          <p:cNvSpPr/>
          <p:nvPr/>
        </p:nvSpPr>
        <p:spPr>
          <a:xfrm>
            <a:off x="548640" y="137160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-bg-db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-db" descr="db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" y="1650492"/>
            <a:ext cx="265176" cy="2651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155448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Old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2140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KDD'99 is from 1999. The paper itself calls it "more than two decades old".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6265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p.16147</a:t>
            </a:r>
          </a:p>
        </p:txBody>
      </p:sp>
      <p:sp>
        <p:nvSpPr>
          <p:cNvPr id="10" name="gap-card-2"/>
          <p:cNvSpPr/>
          <p:nvPr/>
        </p:nvSpPr>
        <p:spPr>
          <a:xfrm>
            <a:off x="4322064" y="137160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con-bg-network"/>
          <p:cNvSpPr/>
          <p:nvPr/>
        </p:nvSpPr>
        <p:spPr>
          <a:xfrm>
            <a:off x="4504944" y="155448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icon-network" descr="network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956" y="1650492"/>
            <a:ext cx="265176" cy="265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99304" y="155448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One dataset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4944" y="212140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No test on a different network, a new time period or new attack types.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4944" y="296265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pp.16137, 16147</a:t>
            </a:r>
          </a:p>
        </p:txBody>
      </p:sp>
      <p:sp>
        <p:nvSpPr>
          <p:cNvPr id="16" name="gap-card-3"/>
          <p:cNvSpPr/>
          <p:nvPr/>
        </p:nvSpPr>
        <p:spPr>
          <a:xfrm>
            <a:off x="8095488" y="137160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con-bg-warning"/>
          <p:cNvSpPr/>
          <p:nvPr/>
        </p:nvSpPr>
        <p:spPr>
          <a:xfrm>
            <a:off x="8278367" y="155448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icon-warning" descr="warning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4380" y="1650492"/>
            <a:ext cx="265176" cy="265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72728" y="155448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Numbers disagree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8367" y="212140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LightGBM is 1.00 → 0.85 in one place and 0.85 → 1.00 in another. Table 8 uses the 100%.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8367" y="296265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pp.16133, 16145, 16147</a:t>
            </a:r>
          </a:p>
        </p:txBody>
      </p:sp>
      <p:sp>
        <p:nvSpPr>
          <p:cNvPr id="22" name="gap-card-4"/>
          <p:cNvSpPr/>
          <p:nvPr/>
        </p:nvSpPr>
        <p:spPr>
          <a:xfrm>
            <a:off x="548640" y="338328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con-bg-grid"/>
          <p:cNvSpPr/>
          <p:nvPr/>
        </p:nvSpPr>
        <p:spPr>
          <a:xfrm>
            <a:off x="731520" y="356616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icon-grid" descr="grid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" y="3662172"/>
            <a:ext cx="265176" cy="2651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25880" y="356616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Unclear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13308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Table 2 says a 70/30 split, the text says 80/20. The confusion matrices look built from rounded rates.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97433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pp.16138, 16140, 16143</a:t>
            </a:r>
          </a:p>
        </p:txBody>
      </p:sp>
      <p:sp>
        <p:nvSpPr>
          <p:cNvPr id="28" name="gap-card-5"/>
          <p:cNvSpPr/>
          <p:nvPr/>
        </p:nvSpPr>
        <p:spPr>
          <a:xfrm>
            <a:off x="4322064" y="338328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con-bg-bolt"/>
          <p:cNvSpPr/>
          <p:nvPr/>
        </p:nvSpPr>
        <p:spPr>
          <a:xfrm>
            <a:off x="4504944" y="356616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on-bolt" descr="bolt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0956" y="3662172"/>
            <a:ext cx="265176" cy="26517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99304" y="356616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No cost numbers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4944" y="413308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False alarms and speed are discussed but never measured. They are left for future work.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4944" y="497433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p.16146</a:t>
            </a:r>
          </a:p>
        </p:txBody>
      </p:sp>
      <p:sp>
        <p:nvSpPr>
          <p:cNvPr id="34" name="gap-card-6"/>
          <p:cNvSpPr/>
          <p:nvPr/>
        </p:nvSpPr>
        <p:spPr>
          <a:xfrm>
            <a:off x="8095488" y="338328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icon-bg-gauge"/>
          <p:cNvSpPr/>
          <p:nvPr/>
        </p:nvSpPr>
        <p:spPr>
          <a:xfrm>
            <a:off x="8278367" y="356616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icon-gauge" descr="gauge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4380" y="3662172"/>
            <a:ext cx="265176" cy="26517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872728" y="356616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Never says "not sure"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8367" y="413308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Every flow gets a yes or no. No confidence level, no second look for hard cases.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8367" y="497433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method, Table 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486400"/>
            <a:ext cx="11091672" cy="713232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0" rIns="228600" bIns="0"/>
          <a:lstStyle/>
          <a:p>
            <a:pPr algn="l"/>
            <a:r>
              <a:rPr sz="1700" b="1" i="0">
                <a:solidFill>
                  <a:srgbClr val="F2A900"/>
                </a:solidFill>
                <a:latin typeface="Calibri"/>
              </a:rPr>
              <a:t>Not an accusation 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Each gap is a question we can test. Together they show why one high score is not enough.</a:t>
            </a:r>
          </a:p>
        </p:txBody>
      </p:sp>
      <p:sp>
        <p:nvSpPr>
          <p:cNvPr id="41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Beyond 100%  ·  Testing and Improving ML-Based Network Attack Detection</a:t>
            </a:r>
          </a:p>
        </p:txBody>
      </p:sp>
      <p:sp>
        <p:nvSpPr>
          <p:cNvPr id="42" name="nav-1">
            <a:hlinkClick action="ppaction://hlinksldjump" r:id="rId8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1</a:t>
            </a:r>
          </a:p>
        </p:txBody>
      </p:sp>
      <p:sp>
        <p:nvSpPr>
          <p:cNvPr id="43" name="nav-2">
            <a:hlinkClick action="ppaction://hlinksldjump" r:id="rId9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2</a:t>
            </a:r>
          </a:p>
        </p:txBody>
      </p:sp>
      <p:sp>
        <p:nvSpPr>
          <p:cNvPr id="44" name="nav-3">
            <a:hlinkClick action="ppaction://hlinksldjump" r:id="rId10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3</a:t>
            </a:r>
          </a:p>
        </p:txBody>
      </p:sp>
      <p:sp>
        <p:nvSpPr>
          <p:cNvPr id="45" name="nav-4">
            <a:hlinkClick action="ppaction://hlinksldjump" r:id="rId11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6" name="nav-5">
            <a:hlinkClick action="ppaction://hlinksldjump" r:id="rId12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5</a:t>
            </a:r>
          </a:p>
        </p:txBody>
      </p:sp>
      <p:sp>
        <p:nvSpPr>
          <p:cNvPr id="47" name="nav-6">
            <a:hlinkClick action="ppaction://hlinksldjump" r:id="rId13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11064240" cy="731520"/>
          </a:xfrm>
        </p:spPr>
        <p:txBody>
          <a:bodyPr wrap="square" lIns="0" tIns="0" rIns="0" bIns="0" anchor="t"/>
          <a:lstStyle/>
          <a:p>
            <a:pPr algn="l"/>
            <a:r>
              <a:rPr sz="3600" b="1" i="0">
                <a:solidFill>
                  <a:srgbClr val="0B1F3A"/>
                </a:solidFill>
                <a:latin typeface="Cambria"/>
              </a:rPr>
              <a:t>What Are We Solving?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017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0B5CAD"/>
                </a:solidFill>
                <a:latin typeface="Calibri"/>
              </a:rPr>
              <a:t>05  ·  OUR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5A6B80"/>
                </a:solidFill>
                <a:latin typeface="Calibri"/>
              </a:rPr>
              <a:t>Make detection reliable, not just accurate. Keep LightGBM </a:t>
            </a:r>
            <a:r>
              <a:rPr sz="1600" b="0" i="0" u="sng">
                <a:solidFill>
                  <a:srgbClr val="0B5CAD"/>
                </a:solidFill>
                <a:latin typeface="Calibri"/>
                <a:hlinkClick r:id="rId2"/>
              </a:rPr>
              <a:t>[5]</a:t>
            </a:r>
            <a:r>
              <a:rPr sz="1600" b="0" i="0">
                <a:solidFill>
                  <a:srgbClr val="5A6B80"/>
                </a:solidFill>
                <a:latin typeface="Calibri"/>
              </a:rPr>
              <a:t>, add a second look.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234440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-bg-network"/>
          <p:cNvSpPr/>
          <p:nvPr/>
        </p:nvSpPr>
        <p:spPr>
          <a:xfrm>
            <a:off x="640080" y="2290572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icon-network" descr="network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368" y="2355860"/>
            <a:ext cx="180319" cy="1803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24128" y="2011680"/>
            <a:ext cx="70408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3233A"/>
                </a:solidFill>
                <a:latin typeface="Calibri"/>
              </a:rPr>
              <a:t>Network flow</a:t>
            </a:r>
          </a:p>
        </p:txBody>
      </p:sp>
      <p:cxnSp>
        <p:nvCxnSpPr>
          <p:cNvPr id="9" name="flow-arrow"/>
          <p:cNvCxnSpPr/>
          <p:nvPr/>
        </p:nvCxnSpPr>
        <p:spPr>
          <a:xfrm>
            <a:off x="1810512" y="2446020"/>
            <a:ext cx="219456" cy="0"/>
          </a:xfrm>
          <a:prstGeom prst="line">
            <a:avLst/>
          </a:prstGeom>
          <a:ln w="25400">
            <a:solidFill>
              <a:srgbClr val="5A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057400" y="2011680"/>
            <a:ext cx="1371600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con-bg-leaf"/>
          <p:cNvSpPr/>
          <p:nvPr/>
        </p:nvSpPr>
        <p:spPr>
          <a:xfrm>
            <a:off x="2148840" y="2290572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icon-leaf" descr="leaf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128" y="2355860"/>
            <a:ext cx="180319" cy="18031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32888" y="2011680"/>
            <a:ext cx="841247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3233A"/>
                </a:solidFill>
                <a:latin typeface="Calibri"/>
              </a:rPr>
              <a:t>LightGBM</a:t>
            </a:r>
          </a:p>
          <a:p>
            <a:pPr algn="l"/>
            <a:r>
              <a:rPr sz="1050" b="0" i="0">
                <a:solidFill>
                  <a:srgbClr val="5A6B80"/>
                </a:solidFill>
                <a:latin typeface="Calibri"/>
              </a:rPr>
              <a:t>fast, light</a:t>
            </a:r>
          </a:p>
        </p:txBody>
      </p:sp>
      <p:cxnSp>
        <p:nvCxnSpPr>
          <p:cNvPr id="14" name="flow-arrow"/>
          <p:cNvCxnSpPr/>
          <p:nvPr/>
        </p:nvCxnSpPr>
        <p:spPr>
          <a:xfrm>
            <a:off x="3456432" y="2446020"/>
            <a:ext cx="219455" cy="0"/>
          </a:xfrm>
          <a:prstGeom prst="line">
            <a:avLst/>
          </a:prstGeom>
          <a:ln w="25400">
            <a:solidFill>
              <a:srgbClr val="5A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ecision"/>
          <p:cNvSpPr/>
          <p:nvPr/>
        </p:nvSpPr>
        <p:spPr>
          <a:xfrm>
            <a:off x="3703320" y="1783080"/>
            <a:ext cx="1737360" cy="1325880"/>
          </a:xfrm>
          <a:prstGeom prst="flowChartDecisi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00" b="1" i="0">
                <a:solidFill>
                  <a:srgbClr val="0B1F3A"/>
                </a:solidFill>
                <a:latin typeface="Calibri"/>
              </a:rPr>
              <a:t>Sure?</a:t>
            </a:r>
          </a:p>
        </p:txBody>
      </p:sp>
      <p:cxnSp>
        <p:nvCxnSpPr>
          <p:cNvPr id="16" name="flow-arrow"/>
          <p:cNvCxnSpPr/>
          <p:nvPr/>
        </p:nvCxnSpPr>
        <p:spPr>
          <a:xfrm>
            <a:off x="5468112" y="2446020"/>
            <a:ext cx="310896" cy="0"/>
          </a:xfrm>
          <a:prstGeom prst="line">
            <a:avLst/>
          </a:prstGeom>
          <a:ln w="25400">
            <a:solidFill>
              <a:srgbClr val="0B7F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22392" y="2084831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0B7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YES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011680"/>
            <a:ext cx="1600200" cy="868680"/>
          </a:xfrm>
          <a:prstGeom prst="roundRect">
            <a:avLst>
              <a:gd name="adj" fmla="val 14000"/>
            </a:avLst>
          </a:prstGeom>
          <a:solidFill>
            <a:srgbClr val="0B7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con-bg-bolt"/>
          <p:cNvSpPr/>
          <p:nvPr/>
        </p:nvSpPr>
        <p:spPr>
          <a:xfrm>
            <a:off x="5897879" y="2290572"/>
            <a:ext cx="310896" cy="310896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icon-bolt" descr="bolt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3168" y="2355860"/>
            <a:ext cx="180319" cy="18031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81927" y="2011680"/>
            <a:ext cx="106984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Fast result</a:t>
            </a:r>
          </a:p>
        </p:txBody>
      </p:sp>
      <p:cxnSp>
        <p:nvCxnSpPr>
          <p:cNvPr id="22" name="flow-arrow"/>
          <p:cNvCxnSpPr/>
          <p:nvPr/>
        </p:nvCxnSpPr>
        <p:spPr>
          <a:xfrm>
            <a:off x="4572000" y="3127248"/>
            <a:ext cx="0" cy="484632"/>
          </a:xfrm>
          <a:prstGeom prst="line">
            <a:avLst/>
          </a:prstGeom>
          <a:ln w="25400">
            <a:solidFill>
              <a:srgbClr val="B97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663440" y="3246120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60" y="3639312"/>
            <a:ext cx="2011680" cy="868680"/>
          </a:xfrm>
          <a:prstGeom prst="roundRect">
            <a:avLst>
              <a:gd name="adj" fmla="val 14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con-bg-layers"/>
          <p:cNvSpPr/>
          <p:nvPr/>
        </p:nvSpPr>
        <p:spPr>
          <a:xfrm>
            <a:off x="3657600" y="3918204"/>
            <a:ext cx="310896" cy="310896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icon-layers" descr="layers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2888" y="3983492"/>
            <a:ext cx="180319" cy="18031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041648" y="3639312"/>
            <a:ext cx="148132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Modern AI</a:t>
            </a:r>
          </a:p>
          <a:p>
            <a:pPr algn="l"/>
            <a:r>
              <a:rPr sz="1050" b="0" i="0">
                <a:solidFill>
                  <a:srgbClr val="9FB3CC"/>
                </a:solidFill>
                <a:latin typeface="Calibri"/>
              </a:rPr>
              <a:t>deeper analysis</a:t>
            </a:r>
          </a:p>
        </p:txBody>
      </p:sp>
      <p:cxnSp>
        <p:nvCxnSpPr>
          <p:cNvPr id="28" name="flow-arrow"/>
          <p:cNvCxnSpPr/>
          <p:nvPr/>
        </p:nvCxnSpPr>
        <p:spPr>
          <a:xfrm>
            <a:off x="5596128" y="4073652"/>
            <a:ext cx="237744" cy="0"/>
          </a:xfrm>
          <a:prstGeom prst="line">
            <a:avLst/>
          </a:prstGeom>
          <a:ln w="25400">
            <a:solidFill>
              <a:srgbClr val="5A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852160" y="3639312"/>
            <a:ext cx="1554480" cy="868680"/>
          </a:xfrm>
          <a:prstGeom prst="roundRect">
            <a:avLst>
              <a:gd name="adj" fmla="val 14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con-bg-check"/>
          <p:cNvSpPr/>
          <p:nvPr/>
        </p:nvSpPr>
        <p:spPr>
          <a:xfrm>
            <a:off x="5943600" y="3918204"/>
            <a:ext cx="310896" cy="310896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icon-check" descr="che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08888" y="3983492"/>
            <a:ext cx="180319" cy="18031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27648" y="3639312"/>
            <a:ext cx="1024127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Final decision</a:t>
            </a:r>
          </a:p>
        </p:txBody>
      </p:sp>
      <p:sp>
        <p:nvSpPr>
          <p:cNvPr id="33" name="ibm-card"/>
          <p:cNvSpPr/>
          <p:nvPr/>
        </p:nvSpPr>
        <p:spPr>
          <a:xfrm>
            <a:off x="548640" y="3429000"/>
            <a:ext cx="27432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3429000"/>
            <a:ext cx="242316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0B5CAD"/>
                </a:solidFill>
                <a:latin typeface="Calibri"/>
              </a:rPr>
              <a:t>Why AI? </a:t>
            </a:r>
            <a:r>
              <a:rPr sz="1200" b="0" i="0">
                <a:solidFill>
                  <a:srgbClr val="13233A"/>
                </a:solidFill>
                <a:latin typeface="Calibri"/>
              </a:rPr>
              <a:t>Security AI and automation cut breach costs by $1.93M on average </a:t>
            </a:r>
          </a:p>
          <a:p>
            <a:pPr algn="l"/>
            <a:r>
              <a:rPr sz="1200" b="0" i="0" u="sng">
                <a:solidFill>
                  <a:srgbClr val="0B5CAD"/>
                </a:solidFill>
                <a:latin typeface="Calibri"/>
                <a:hlinkClick r:id="rId8"/>
              </a:rPr>
              <a:t>[2]</a:t>
            </a:r>
          </a:p>
        </p:txBody>
      </p:sp>
      <p:graphicFrame>
        <p:nvGraphicFramePr>
          <p:cNvPr id="35" name="paper-vs-ours"/>
          <p:cNvGraphicFramePr>
            <a:graphicFrameLocks noGrp="1"/>
          </p:cNvGraphicFramePr>
          <p:nvPr/>
        </p:nvGraphicFramePr>
        <p:xfrm>
          <a:off x="7680960" y="1783080"/>
          <a:ext cx="3959352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30552"/>
              </a:tblGrid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The paper</a:t>
                      </a:r>
                    </a:p>
                  </a:txBody>
                  <a:tcPr marL="109728" marR="73152" marT="27432" marB="27432" anchor="ctr">
                    <a:solidFill>
                      <a:srgbClr val="5A6B8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We add</a:t>
                      </a:r>
                    </a:p>
                  </a:txBody>
                  <a:tcPr marL="109728" marR="73152" marT="27432" marB="27432" anchor="ctr">
                    <a:solidFill>
                      <a:srgbClr val="0B5CAD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3233A"/>
                          </a:solidFill>
                          <a:latin typeface="Calibri"/>
                        </a:rPr>
                        <a:t>One old dataset (1999)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7F73"/>
                          </a:solidFill>
                          <a:latin typeface="Calibri"/>
                        </a:rPr>
                        <a:t>+ </a:t>
                      </a:r>
                      <a:r>
                        <a:rPr sz="1300" b="0" i="0">
                          <a:solidFill>
                            <a:srgbClr val="13233A"/>
                          </a:solidFill>
                          <a:latin typeface="Calibri"/>
                        </a:rPr>
                        <a:t>Newer datasets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3233A"/>
                          </a:solidFill>
                          <a:latin typeface="Calibri"/>
                        </a:rPr>
                        <a:t>One random split</a:t>
                      </a:r>
                    </a:p>
                  </a:txBody>
                  <a:tcPr marL="109728" marR="73152" marT="27432" marB="27432" anchor="ctr"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7F73"/>
                          </a:solidFill>
                          <a:latin typeface="Calibri"/>
                        </a:rPr>
                        <a:t>+ </a:t>
                      </a:r>
                      <a:r>
                        <a:rPr sz="1300" b="0" i="0">
                          <a:solidFill>
                            <a:srgbClr val="13233A"/>
                          </a:solidFill>
                          <a:latin typeface="Calibri"/>
                        </a:rPr>
                        <a:t>New time, network and attack tests</a:t>
                      </a:r>
                    </a:p>
                  </a:txBody>
                  <a:tcPr marL="109728" marR="73152" marT="27432" marB="27432" anchor="ctr">
                    <a:solidFill>
                      <a:srgbClr val="E6EE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3233A"/>
                          </a:solidFill>
                          <a:latin typeface="Calibri"/>
                        </a:rPr>
                        <a:t>One model, always answers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7F73"/>
                          </a:solidFill>
                          <a:latin typeface="Calibri"/>
                        </a:rPr>
                        <a:t>+ </a:t>
                      </a:r>
                      <a:r>
                        <a:rPr sz="1300" b="0" i="0">
                          <a:solidFill>
                            <a:srgbClr val="13233A"/>
                          </a:solidFill>
                          <a:latin typeface="Calibri"/>
                        </a:rPr>
                        <a:t>LightGBM first, modern AI when unsure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3233A"/>
                          </a:solidFill>
                          <a:latin typeface="Calibri"/>
                        </a:rPr>
                        <a:t>Accuracy mostly</a:t>
                      </a:r>
                    </a:p>
                  </a:txBody>
                  <a:tcPr marL="109728" marR="73152" marT="27432" marB="27432" anchor="ctr"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7F73"/>
                          </a:solidFill>
                          <a:latin typeface="Calibri"/>
                        </a:rPr>
                        <a:t>+ </a:t>
                      </a:r>
                      <a:r>
                        <a:rPr sz="1300" b="0" i="0">
                          <a:solidFill>
                            <a:srgbClr val="13233A"/>
                          </a:solidFill>
                          <a:latin typeface="Calibri"/>
                        </a:rPr>
                        <a:t>Missed attacks, false alarms, speed</a:t>
                      </a:r>
                    </a:p>
                  </a:txBody>
                  <a:tcPr marL="109728" marR="73152" marT="27432" marB="27432" anchor="ctr">
                    <a:solidFill>
                      <a:srgbClr val="E6EEF8"/>
                    </a:solidFill>
                  </a:tcPr>
                </a:tc>
              </a:tr>
            </a:tbl>
          </a:graphicData>
        </a:graphic>
      </p:graphicFrame>
      <p:sp>
        <p:nvSpPr>
          <p:cNvPr id="36" name="goal"/>
          <p:cNvSpPr/>
          <p:nvPr/>
        </p:nvSpPr>
        <p:spPr>
          <a:xfrm>
            <a:off x="548640" y="5029200"/>
            <a:ext cx="11091672" cy="109728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13892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F2A900"/>
                </a:solidFill>
                <a:latin typeface="Calibri"/>
              </a:rPr>
              <a:t>THE GOAL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440680"/>
            <a:ext cx="104241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mbria"/>
              </a:rPr>
              <a:t>A detector that knows when it is confident, and when it needs a second look.</a:t>
            </a:r>
          </a:p>
        </p:txBody>
      </p:sp>
      <p:sp>
        <p:nvSpPr>
          <p:cNvPr id="39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Beyond 100%  ·  Testing and Improving ML-Based Network Attack Detection</a:t>
            </a:r>
          </a:p>
        </p:txBody>
      </p:sp>
      <p:sp>
        <p:nvSpPr>
          <p:cNvPr id="40" name="nav-1">
            <a:hlinkClick action="ppaction://hlinksldjump" r:id="rId9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1</a:t>
            </a:r>
          </a:p>
        </p:txBody>
      </p:sp>
      <p:sp>
        <p:nvSpPr>
          <p:cNvPr id="41" name="nav-2">
            <a:hlinkClick action="ppaction://hlinksldjump" r:id="rId10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2</a:t>
            </a:r>
          </a:p>
        </p:txBody>
      </p:sp>
      <p:sp>
        <p:nvSpPr>
          <p:cNvPr id="42" name="nav-3">
            <a:hlinkClick action="ppaction://hlinksldjump" r:id="rId11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3</a:t>
            </a:r>
          </a:p>
        </p:txBody>
      </p:sp>
      <p:sp>
        <p:nvSpPr>
          <p:cNvPr id="43" name="nav-4">
            <a:hlinkClick action="ppaction://hlinksldjump" r:id="rId12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4</a:t>
            </a:r>
          </a:p>
        </p:txBody>
      </p:sp>
      <p:sp>
        <p:nvSpPr>
          <p:cNvPr id="44" name="nav-5">
            <a:hlinkClick action="ppaction://hlinksldjump" r:id="rId13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nav-6">
            <a:hlinkClick action="ppaction://hlinksldjump" r:id="rId14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6858000" cy="731520"/>
          </a:xfrm>
        </p:spPr>
        <p:txBody>
          <a:bodyPr wrap="square" lIns="0" tIns="0" rIns="0" bIns="0" anchor="t"/>
          <a:lstStyle/>
          <a:p>
            <a:pPr algn="l"/>
            <a:r>
              <a:rPr sz="3600" b="1" i="0">
                <a:solidFill>
                  <a:srgbClr val="0B1F3A"/>
                </a:solidFill>
                <a:latin typeface="Cambria"/>
              </a:rPr>
              <a:t>How Will We Prove It?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017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0B5CAD"/>
                </a:solidFill>
                <a:latin typeface="Calibri"/>
              </a:rPr>
              <a:t>06  ·  THE PLAN AND 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18120" y="640080"/>
            <a:ext cx="3822191" cy="38404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0B1F3A"/>
                </a:solidFill>
                <a:latin typeface="Calibri"/>
              </a:rPr>
              <a:t>Results: to be measured — none claimed yet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60350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-bg-flask"/>
          <p:cNvSpPr/>
          <p:nvPr/>
        </p:nvSpPr>
        <p:spPr>
          <a:xfrm>
            <a:off x="713232" y="1527048"/>
            <a:ext cx="420624" cy="420624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icon-flask" descr="flask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63" y="1615379"/>
            <a:ext cx="243961" cy="2439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80160" y="1417320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0B5CAD"/>
                </a:solidFill>
                <a:latin typeface="Calibri"/>
              </a:rPr>
              <a:t>STEP 1</a:t>
            </a:r>
          </a:p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Reproduce the paper's LightGBM and settle 1.00 vs 0.85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60350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con-bg-db"/>
          <p:cNvSpPr/>
          <p:nvPr/>
        </p:nvSpPr>
        <p:spPr>
          <a:xfrm>
            <a:off x="713232" y="2258568"/>
            <a:ext cx="420624" cy="420624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icon-db" descr="db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563" y="2346899"/>
            <a:ext cx="243961" cy="2439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80160" y="2148840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0B5CAD"/>
                </a:solidFill>
                <a:latin typeface="Calibri"/>
              </a:rPr>
              <a:t>STEP 2</a:t>
            </a:r>
          </a:p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Test on newer datasets, e.g. CIC-IDS2017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880360"/>
            <a:ext cx="60350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con-bg-warning"/>
          <p:cNvSpPr/>
          <p:nvPr/>
        </p:nvSpPr>
        <p:spPr>
          <a:xfrm>
            <a:off x="713232" y="2990088"/>
            <a:ext cx="420624" cy="420624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icon-warning" descr="warning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563" y="3078419"/>
            <a:ext cx="243961" cy="24396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80160" y="2880360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0B5CAD"/>
                </a:solidFill>
                <a:latin typeface="Calibri"/>
              </a:rPr>
              <a:t>STEP 3</a:t>
            </a:r>
          </a:p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Test a new time period, new attack types, fewer features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11880"/>
            <a:ext cx="60350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con-bg-bars"/>
          <p:cNvSpPr/>
          <p:nvPr/>
        </p:nvSpPr>
        <p:spPr>
          <a:xfrm>
            <a:off x="713232" y="3721608"/>
            <a:ext cx="420624" cy="420624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icon-bars" descr="bars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563" y="3809939"/>
            <a:ext cx="243961" cy="24396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80160" y="3611880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0B5CAD"/>
                </a:solidFill>
                <a:latin typeface="Calibri"/>
              </a:rPr>
              <a:t>STEP 4</a:t>
            </a:r>
          </a:p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Compare LightGBM, modern AI and our combined approach</a:t>
            </a:r>
          </a:p>
        </p:txBody>
      </p:sp>
      <p:sp>
        <p:nvSpPr>
          <p:cNvPr id="21" name="ref-6">
            <a:hlinkClick r:id="rId6"/>
          </p:cNvPr>
          <p:cNvSpPr/>
          <p:nvPr/>
        </p:nvSpPr>
        <p:spPr>
          <a:xfrm>
            <a:off x="5989320" y="2331720"/>
            <a:ext cx="4023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5C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5CAD"/>
                </a:solidFill>
                <a:latin typeface="Calibri"/>
              </a:rPr>
              <a:t>[6]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46227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5A6B80"/>
                </a:solidFill>
                <a:latin typeface="Calibri"/>
              </a:rPr>
              <a:t>WE WILL 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8172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Accuracy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06040" y="468172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Missed attacks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468172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False alarms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09320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F1-score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06040" y="509320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Speed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509320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Share sent to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57784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">
                <a:solidFill>
                  <a:srgbClr val="5A6B80"/>
                </a:solidFill>
                <a:latin typeface="Calibri"/>
              </a:rPr>
              <a:t>TECH STACK  ·  click to open docs</a:t>
            </a:r>
          </a:p>
        </p:txBody>
      </p:sp>
      <p:sp>
        <p:nvSpPr>
          <p:cNvPr id="30" name="Rounded Rectangle 29">
            <a:hlinkClick r:id="rId8"/>
          </p:cNvPr>
          <p:cNvSpPr/>
          <p:nvPr/>
        </p:nvSpPr>
        <p:spPr>
          <a:xfrm>
            <a:off x="548640" y="5788152"/>
            <a:ext cx="141732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icon-bg-code"/>
          <p:cNvSpPr/>
          <p:nvPr/>
        </p:nvSpPr>
        <p:spPr>
          <a:xfrm>
            <a:off x="630936" y="5861304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icon-code" descr="code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224" y="5926592"/>
            <a:ext cx="180319" cy="18031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05840" y="5788152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3233A"/>
                </a:solidFill>
                <a:latin typeface="Calibri"/>
              </a:rPr>
              <a:t>Python</a:t>
            </a:r>
          </a:p>
        </p:txBody>
      </p:sp>
      <p:sp>
        <p:nvSpPr>
          <p:cNvPr id="34" name="Rounded Rectangle 33">
            <a:hlinkClick r:id="rId10"/>
          </p:cNvPr>
          <p:cNvSpPr/>
          <p:nvPr/>
        </p:nvSpPr>
        <p:spPr>
          <a:xfrm>
            <a:off x="2084831" y="5788152"/>
            <a:ext cx="141732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icon-bg-leaf"/>
          <p:cNvSpPr/>
          <p:nvPr/>
        </p:nvSpPr>
        <p:spPr>
          <a:xfrm>
            <a:off x="2167127" y="5861304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icon-leaf" descr="leaf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2416" y="5926592"/>
            <a:ext cx="180319" cy="18031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542032" y="5788152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3233A"/>
                </a:solidFill>
                <a:latin typeface="Calibri"/>
              </a:rPr>
              <a:t>LightGBM</a:t>
            </a:r>
          </a:p>
        </p:txBody>
      </p:sp>
      <p:sp>
        <p:nvSpPr>
          <p:cNvPr id="38" name="Rounded Rectangle 37">
            <a:hlinkClick r:id="rId12"/>
          </p:cNvPr>
          <p:cNvSpPr/>
          <p:nvPr/>
        </p:nvSpPr>
        <p:spPr>
          <a:xfrm>
            <a:off x="3621024" y="5788152"/>
            <a:ext cx="141732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icon-bg-flame"/>
          <p:cNvSpPr/>
          <p:nvPr/>
        </p:nvSpPr>
        <p:spPr>
          <a:xfrm>
            <a:off x="3703320" y="5861304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icon-flame" descr="flame ic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68608" y="5926592"/>
            <a:ext cx="180319" cy="18031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78224" y="5788152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3233A"/>
                </a:solidFill>
                <a:latin typeface="Calibri"/>
              </a:rPr>
              <a:t>PyTorch</a:t>
            </a:r>
          </a:p>
        </p:txBody>
      </p:sp>
      <p:sp>
        <p:nvSpPr>
          <p:cNvPr id="42" name="Rounded Rectangle 41">
            <a:hlinkClick r:id="rId14"/>
          </p:cNvPr>
          <p:cNvSpPr/>
          <p:nvPr/>
        </p:nvSpPr>
        <p:spPr>
          <a:xfrm>
            <a:off x="5157216" y="5788152"/>
            <a:ext cx="141732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icon-bg-smile"/>
          <p:cNvSpPr/>
          <p:nvPr/>
        </p:nvSpPr>
        <p:spPr>
          <a:xfrm>
            <a:off x="5239512" y="5861304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icon-smile" descr="smile ico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04800" y="5926592"/>
            <a:ext cx="180319" cy="180319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5614416" y="5788152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3233A"/>
                </a:solidFill>
                <a:latin typeface="Calibri"/>
              </a:rPr>
              <a:t>Hugging Face</a:t>
            </a:r>
          </a:p>
        </p:txBody>
      </p:sp>
      <p:sp>
        <p:nvSpPr>
          <p:cNvPr id="46" name="references-card"/>
          <p:cNvSpPr/>
          <p:nvPr/>
        </p:nvSpPr>
        <p:spPr>
          <a:xfrm>
            <a:off x="6858000" y="1417320"/>
            <a:ext cx="4782312" cy="4828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86600" y="1508760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mbria"/>
              </a:rPr>
              <a:t>References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86600" y="1920240"/>
            <a:ext cx="4343400" cy="4251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[1]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S. Ness et al., "Anomaly Detection in Network Traffic Using Advanced Machine Learning Techniques," IEEE Access, vol. 13, pp. 16133–16149, 2025.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15"/>
              </a:rPr>
              <a:t>doi.org/10.1109/ACCESS.2025.3526988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[2]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IBM and Ponemon Institute, "Cost of a Data Breach Report 2026."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16"/>
              </a:rPr>
              <a:t>ibm.com/think/x-force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[3]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FBI Internet Crime Complaint Center, "2025 Internet Crime Report."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17"/>
              </a:rPr>
              <a:t>ic3.gov/AnnualReport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[4]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"KDD Cup 1999 Data," UCI Machine Learning Repository.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18"/>
              </a:rPr>
              <a:t>archive.ics.uci.edu/dataset/130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[5]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G. Ke et al., "LightGBM: A Highly Efficient Gradient Boosting Decision Tree," NeurIPS, 2017.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19"/>
              </a:rPr>
              <a:t>proceedings.neurips.cc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[6]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Canadian Institute for Cybersecurity, "Intrusion Detection Evaluation Dataset (CIC-IDS2017)," Univ. of New Brunswick.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6"/>
              </a:rPr>
              <a:t>unb.ca/cic/datasets</a:t>
            </a:r>
          </a:p>
        </p:txBody>
      </p:sp>
      <p:sp>
        <p:nvSpPr>
          <p:cNvPr id="49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Beyond 100%  ·  Testing and Improving ML-Based Network Attack Detection</a:t>
            </a:r>
          </a:p>
        </p:txBody>
      </p:sp>
      <p:sp>
        <p:nvSpPr>
          <p:cNvPr id="50" name="nav-1">
            <a:hlinkClick action="ppaction://hlinksldjump" r:id="rId20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1</a:t>
            </a:r>
          </a:p>
        </p:txBody>
      </p:sp>
      <p:sp>
        <p:nvSpPr>
          <p:cNvPr id="51" name="nav-2">
            <a:hlinkClick action="ppaction://hlinksldjump" r:id="rId21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2</a:t>
            </a:r>
          </a:p>
        </p:txBody>
      </p:sp>
      <p:sp>
        <p:nvSpPr>
          <p:cNvPr id="52" name="nav-3">
            <a:hlinkClick action="ppaction://hlinksldjump" r:id="rId22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3</a:t>
            </a:r>
          </a:p>
        </p:txBody>
      </p:sp>
      <p:sp>
        <p:nvSpPr>
          <p:cNvPr id="53" name="nav-4">
            <a:hlinkClick action="ppaction://hlinksldjump" r:id="rId23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4</a:t>
            </a:r>
          </a:p>
        </p:txBody>
      </p:sp>
      <p:sp>
        <p:nvSpPr>
          <p:cNvPr id="54" name="nav-5">
            <a:hlinkClick action="ppaction://hlinksldjump" r:id="rId24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5</a:t>
            </a:r>
          </a:p>
        </p:txBody>
      </p:sp>
      <p:sp>
        <p:nvSpPr>
          <p:cNvPr id="55" name="nav-6">
            <a:hlinkClick action="ppaction://hlinksldjump" r:id="rId25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100% - Testing and Improving ML-Based Network Attack Detection</dc:title>
  <dc:subject>Audit of Ness et al. (IEEE Access 2025) and research plan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