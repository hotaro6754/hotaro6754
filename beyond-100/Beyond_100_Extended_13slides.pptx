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B5CAD"/>
            </a:solidFill>
          </c:spPr>
          <c:dPt>
            <c:idx val="1"/>
            <c:spPr>
              <a:solidFill>
                <a:srgbClr val="F2A900"/>
              </a:solidFill>
            </c:spPr>
          </c:dPt>
          <c:cat>
            <c:strRef>
              <c:f>Sheet1!$A$2:$A$8</c:f>
              <c:strCache>
                <c:ptCount val="7"/>
                <c:pt idx="0">
                  <c:v>Iso. Forest</c:v>
                </c:pt>
                <c:pt idx="1">
                  <c:v>LightGBM</c:v>
                </c:pt>
                <c:pt idx="2">
                  <c:v>Naive Bayes</c:v>
                </c:pt>
                <c:pt idx="3">
                  <c:v>XGBoost</c:v>
                </c:pt>
                <c:pt idx="4">
                  <c:v>SVM</c:v>
                </c:pt>
                <c:pt idx="5">
                  <c:v>Rand. Forest</c:v>
                </c:pt>
                <c:pt idx="6">
                  <c:v>Log. Regr.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</c:v>
                </c:pt>
                <c:pt idx="1">
                  <c:v>1.0</c:v>
                </c:pt>
                <c:pt idx="2">
                  <c:v>0.81</c:v>
                </c:pt>
                <c:pt idx="3">
                  <c:v>0.83</c:v>
                </c:pt>
                <c:pt idx="4">
                  <c:v>0.85</c:v>
                </c:pt>
                <c:pt idx="5">
                  <c:v>0.82</c:v>
                </c:pt>
                <c:pt idx="6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B7F73"/>
            </a:solidFill>
          </c:spPr>
          <c:cat>
            <c:strRef>
              <c:f>Sheet1!$A$2:$A$8</c:f>
              <c:strCache>
                <c:ptCount val="7"/>
                <c:pt idx="0">
                  <c:v>Iso. Forest</c:v>
                </c:pt>
                <c:pt idx="1">
                  <c:v>LightGBM</c:v>
                </c:pt>
                <c:pt idx="2">
                  <c:v>Naive Bayes</c:v>
                </c:pt>
                <c:pt idx="3">
                  <c:v>XGBoost</c:v>
                </c:pt>
                <c:pt idx="4">
                  <c:v>SVM</c:v>
                </c:pt>
                <c:pt idx="5">
                  <c:v>Rand. Forest</c:v>
                </c:pt>
                <c:pt idx="6">
                  <c:v>Log. Regr.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</c:v>
                </c:pt>
                <c:pt idx="1">
                  <c:v>0.85</c:v>
                </c:pt>
                <c:pt idx="2">
                  <c:v>0.81</c:v>
                </c:pt>
                <c:pt idx="3">
                  <c:v>0.84</c:v>
                </c:pt>
                <c:pt idx="4">
                  <c:v>0.86</c:v>
                </c:pt>
                <c:pt idx="5">
                  <c:v>0.83</c:v>
                </c:pt>
                <c:pt idx="6">
                  <c:v>0.75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8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1323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False-alarm rate</c:v>
                </c:pt>
              </c:strCache>
            </c:strRef>
          </c:tx>
          <c:spPr>
            <a:solidFill>
              <a:srgbClr val="0B5CAD"/>
            </a:solidFill>
          </c:spPr>
          <c:cat>
            <c:strRef>
              <c:f>Sheet1!$A$2:$A$6</c:f>
              <c:strCache>
                <c:ptCount val="5"/>
                <c:pt idx="0">
                  <c:v>Isolation Forest</c:v>
                </c:pt>
                <c:pt idx="1">
                  <c:v>Naive Bayes</c:v>
                </c:pt>
                <c:pt idx="2">
                  <c:v>XGBoost</c:v>
                </c:pt>
                <c:pt idx="3">
                  <c:v>LightGBM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</c:v>
                </c:pt>
                <c:pt idx="1">
                  <c:v>0.17</c:v>
                </c:pt>
                <c:pt idx="2">
                  <c:v>0.13</c:v>
                </c:pt>
                <c:pt idx="3">
                  <c:v>0.12</c:v>
                </c:pt>
                <c:pt idx="4">
                  <c:v>0.12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8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323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6.xml"/><Relationship Id="rId12" Type="http://schemas.openxmlformats.org/officeDocument/2006/relationships/slide" Target="slide7.xml"/><Relationship Id="rId13" Type="http://schemas.openxmlformats.org/officeDocument/2006/relationships/slide" Target="slide8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1.xml"/><Relationship Id="rId17" Type="http://schemas.openxmlformats.org/officeDocument/2006/relationships/slide" Target="slide12.xml"/><Relationship Id="rId18" Type="http://schemas.openxmlformats.org/officeDocument/2006/relationships/slide" Target="slide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" Target="slide1.xml"/><Relationship Id="rId10" Type="http://schemas.openxmlformats.org/officeDocument/2006/relationships/slide" Target="slide2.xml"/><Relationship Id="rId11" Type="http://schemas.openxmlformats.org/officeDocument/2006/relationships/slide" Target="slide3.xml"/><Relationship Id="rId12" Type="http://schemas.openxmlformats.org/officeDocument/2006/relationships/slide" Target="slide4.xml"/><Relationship Id="rId13" Type="http://schemas.openxmlformats.org/officeDocument/2006/relationships/slide" Target="slide5.xml"/><Relationship Id="rId14" Type="http://schemas.openxmlformats.org/officeDocument/2006/relationships/slide" Target="slide6.xml"/><Relationship Id="rId15" Type="http://schemas.openxmlformats.org/officeDocument/2006/relationships/slide" Target="slide7.xml"/><Relationship Id="rId16" Type="http://schemas.openxmlformats.org/officeDocument/2006/relationships/slide" Target="slide8.xml"/><Relationship Id="rId17" Type="http://schemas.openxmlformats.org/officeDocument/2006/relationships/slide" Target="slide9.xml"/><Relationship Id="rId18" Type="http://schemas.openxmlformats.org/officeDocument/2006/relationships/slide" Target="slide10.xml"/><Relationship Id="rId19" Type="http://schemas.openxmlformats.org/officeDocument/2006/relationships/slide" Target="slide11.xml"/><Relationship Id="rId20" Type="http://schemas.openxmlformats.org/officeDocument/2006/relationships/slide" Target="slide12.xml"/><Relationship Id="rId21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" Target="slide1.xml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5.xml"/><Relationship Id="rId12" Type="http://schemas.openxmlformats.org/officeDocument/2006/relationships/slide" Target="slide6.xml"/><Relationship Id="rId13" Type="http://schemas.openxmlformats.org/officeDocument/2006/relationships/slide" Target="slide7.xml"/><Relationship Id="rId14" Type="http://schemas.openxmlformats.org/officeDocument/2006/relationships/slide" Target="slide8.xml"/><Relationship Id="rId15" Type="http://schemas.openxmlformats.org/officeDocument/2006/relationships/slide" Target="slide9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2.xml"/><Relationship Id="rId19" Type="http://schemas.openxmlformats.org/officeDocument/2006/relationships/slide" Target="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chart" Target="../charts/chart1.xm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8.xml"/><Relationship Id="rId16" Type="http://schemas.openxmlformats.org/officeDocument/2006/relationships/slide" Target="slide9.xml"/><Relationship Id="rId17" Type="http://schemas.openxmlformats.org/officeDocument/2006/relationships/slide" Target="slide10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2.xml"/><Relationship Id="rId14" Type="http://schemas.openxmlformats.org/officeDocument/2006/relationships/slide" Target="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8.xml"/><Relationship Id="rId16" Type="http://schemas.openxmlformats.org/officeDocument/2006/relationships/slide" Target="slide9.xml"/><Relationship Id="rId17" Type="http://schemas.openxmlformats.org/officeDocument/2006/relationships/slide" Target="slide10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hyperlink" Target="https://www.python.org" TargetMode="External"/><Relationship Id="rId8" Type="http://schemas.openxmlformats.org/officeDocument/2006/relationships/image" Target="../media/image18.png"/><Relationship Id="rId9" Type="http://schemas.openxmlformats.org/officeDocument/2006/relationships/hyperlink" Target="https://pandas.pydata.org" TargetMode="External"/><Relationship Id="rId10" Type="http://schemas.openxmlformats.org/officeDocument/2006/relationships/image" Target="../media/image25.png"/><Relationship Id="rId11" Type="http://schemas.openxmlformats.org/officeDocument/2006/relationships/hyperlink" Target="https://scikit-learn.org" TargetMode="External"/><Relationship Id="rId12" Type="http://schemas.openxmlformats.org/officeDocument/2006/relationships/image" Target="../media/image22.png"/><Relationship Id="rId13" Type="http://schemas.openxmlformats.org/officeDocument/2006/relationships/hyperlink" Target="https://lightgbm.readthedocs.io" TargetMode="External"/><Relationship Id="rId14" Type="http://schemas.openxmlformats.org/officeDocument/2006/relationships/image" Target="../media/image20.png"/><Relationship Id="rId15" Type="http://schemas.openxmlformats.org/officeDocument/2006/relationships/hyperlink" Target="https://xgboost.readthedocs.io" TargetMode="External"/><Relationship Id="rId16" Type="http://schemas.openxmlformats.org/officeDocument/2006/relationships/image" Target="../media/image26.png"/><Relationship Id="rId17" Type="http://schemas.openxmlformats.org/officeDocument/2006/relationships/hyperlink" Target="https://pytorch.org" TargetMode="External"/><Relationship Id="rId18" Type="http://schemas.openxmlformats.org/officeDocument/2006/relationships/image" Target="../media/image27.png"/><Relationship Id="rId19" Type="http://schemas.openxmlformats.org/officeDocument/2006/relationships/hyperlink" Target="https://huggingface.co" TargetMode="External"/><Relationship Id="rId20" Type="http://schemas.openxmlformats.org/officeDocument/2006/relationships/slide" Target="slide1.xml"/><Relationship Id="rId21" Type="http://schemas.openxmlformats.org/officeDocument/2006/relationships/slide" Target="slide2.xml"/><Relationship Id="rId22" Type="http://schemas.openxmlformats.org/officeDocument/2006/relationships/slide" Target="slide3.xml"/><Relationship Id="rId23" Type="http://schemas.openxmlformats.org/officeDocument/2006/relationships/slide" Target="slide4.xml"/><Relationship Id="rId24" Type="http://schemas.openxmlformats.org/officeDocument/2006/relationships/slide" Target="slide5.xml"/><Relationship Id="rId25" Type="http://schemas.openxmlformats.org/officeDocument/2006/relationships/slide" Target="slide6.xml"/><Relationship Id="rId26" Type="http://schemas.openxmlformats.org/officeDocument/2006/relationships/slide" Target="slide7.xml"/><Relationship Id="rId27" Type="http://schemas.openxmlformats.org/officeDocument/2006/relationships/slide" Target="slide8.xml"/><Relationship Id="rId28" Type="http://schemas.openxmlformats.org/officeDocument/2006/relationships/slide" Target="slide9.xml"/><Relationship Id="rId29" Type="http://schemas.openxmlformats.org/officeDocument/2006/relationships/slide" Target="slide10.xml"/><Relationship Id="rId30" Type="http://schemas.openxmlformats.org/officeDocument/2006/relationships/slide" Target="slide11.xml"/><Relationship Id="rId31" Type="http://schemas.openxmlformats.org/officeDocument/2006/relationships/slide" Target="slide12.xml"/><Relationship Id="rId32" Type="http://schemas.openxmlformats.org/officeDocument/2006/relationships/slide" Target="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8.xml"/><Relationship Id="rId16" Type="http://schemas.openxmlformats.org/officeDocument/2006/relationships/slide" Target="slide9.xml"/><Relationship Id="rId17" Type="http://schemas.openxmlformats.org/officeDocument/2006/relationships/slide" Target="slide10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slide" Target="slide1.xml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5.xml"/><Relationship Id="rId12" Type="http://schemas.openxmlformats.org/officeDocument/2006/relationships/slide" Target="slide6.xml"/><Relationship Id="rId13" Type="http://schemas.openxmlformats.org/officeDocument/2006/relationships/slide" Target="slide7.xml"/><Relationship Id="rId14" Type="http://schemas.openxmlformats.org/officeDocument/2006/relationships/slide" Target="slide8.xml"/><Relationship Id="rId15" Type="http://schemas.openxmlformats.org/officeDocument/2006/relationships/slide" Target="slide9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2.xml"/><Relationship Id="rId19" Type="http://schemas.openxmlformats.org/officeDocument/2006/relationships/slide" Target="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17.png"/><Relationship Id="rId6" Type="http://schemas.openxmlformats.org/officeDocument/2006/relationships/image" Target="../media/image41.png"/><Relationship Id="rId7" Type="http://schemas.openxmlformats.org/officeDocument/2006/relationships/chart" Target="../charts/chart2.xml"/><Relationship Id="rId8" Type="http://schemas.openxmlformats.org/officeDocument/2006/relationships/slide" Target="slide1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8.xml"/><Relationship Id="rId16" Type="http://schemas.openxmlformats.org/officeDocument/2006/relationships/slide" Target="slide9.xml"/><Relationship Id="rId17" Type="http://schemas.openxmlformats.org/officeDocument/2006/relationships/slide" Target="slide10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554480"/>
            <a:ext cx="5852160" cy="1600200"/>
          </a:xfrm>
        </p:spPr>
        <p:txBody>
          <a:bodyPr wrap="square" lIns="0" tIns="0" rIns="0" bIns="0" anchor="t"/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Can 100% Accuracy
Be Trusted?</a:t>
            </a:r>
          </a:p>
        </p:txBody>
      </p:sp>
      <p:sp>
        <p:nvSpPr>
          <p:cNvPr id="3" name="icon-bg-shield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-shield" descr="shield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480060"/>
            <a:ext cx="265176" cy="2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spc="200">
                <a:solidFill>
                  <a:srgbClr val="FFFFFF"/>
                </a:solidFill>
                <a:latin typeface="Calibri"/>
              </a:rPr>
              <a:t>BEYOND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84048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Calibri"/>
              </a:rPr>
              <a:t>IEEE Access paper audit  ·  Network anomaly detection</a:t>
            </a:r>
          </a:p>
        </p:txBody>
      </p:sp>
      <p:sp>
        <p:nvSpPr>
          <p:cNvPr id="7" name="kicker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2A900"/>
                </a:solidFill>
                <a:latin typeface="Calibri"/>
              </a:rPr>
              <a:t>01  ·  THE PROBLEM</a:t>
            </a:r>
          </a:p>
        </p:txBody>
      </p:sp>
      <p:sp>
        <p:nvSpPr>
          <p:cNvPr id="8" name="icon-bg-warning"/>
          <p:cNvSpPr/>
          <p:nvPr/>
        </p:nvSpPr>
        <p:spPr>
          <a:xfrm>
            <a:off x="548640" y="3246120"/>
            <a:ext cx="512064" cy="512064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-warning" descr="warn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3" y="3353653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3246120"/>
            <a:ext cx="4937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Network attacks are getting harder to detect</a:t>
            </a:r>
          </a:p>
        </p:txBody>
      </p:sp>
      <p:sp>
        <p:nvSpPr>
          <p:cNvPr id="11" name="icon-bg-chip"/>
          <p:cNvSpPr/>
          <p:nvPr/>
        </p:nvSpPr>
        <p:spPr>
          <a:xfrm>
            <a:off x="548640" y="3904487"/>
            <a:ext cx="512064" cy="512064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chip" descr="chi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" y="4012021"/>
            <a:ext cx="296997" cy="2969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3904487"/>
            <a:ext cx="4937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Machine learning can flag unusual traffic</a:t>
            </a:r>
          </a:p>
        </p:txBody>
      </p:sp>
      <p:sp>
        <p:nvSpPr>
          <p:cNvPr id="14" name="icon-bg-paper"/>
          <p:cNvSpPr/>
          <p:nvPr/>
        </p:nvSpPr>
        <p:spPr>
          <a:xfrm>
            <a:off x="548640" y="4562856"/>
            <a:ext cx="512064" cy="512064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-paper" descr="pap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73" y="4670389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4562856"/>
            <a:ext cx="4937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 recent IEEE Access paper tested 7 ML models</a:t>
            </a:r>
          </a:p>
        </p:txBody>
      </p:sp>
      <p:sp>
        <p:nvSpPr>
          <p:cNvPr id="17" name="stat-card"/>
          <p:cNvSpPr/>
          <p:nvPr/>
        </p:nvSpPr>
        <p:spPr>
          <a:xfrm>
            <a:off x="6583680" y="1280160"/>
            <a:ext cx="5056632" cy="3977639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81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3CC"/>
                </a:solidFill>
                <a:latin typeface="Calibri"/>
              </a:rPr>
              <a:t>LightGBM accuracy, as reported in the same paper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874519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READING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874519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3CC"/>
                </a:solidFill>
                <a:latin typeface="Calibri"/>
              </a:rPr>
              <a:t>Abstract · Introduction · Fig. 12 · 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258568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26079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FB3CC"/>
                </a:solidFill>
                <a:latin typeface="Calibri"/>
              </a:rPr>
              <a:t>Train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92440" y="2441448"/>
            <a:ext cx="640080" cy="292608"/>
          </a:xfrm>
          <a:prstGeom prst="rightArrow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258568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2A900"/>
                </a:solidFill>
                <a:latin typeface="Cambria"/>
              </a:rPr>
              <a:t>0.85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926079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FB3CC"/>
                </a:solidFill>
                <a:latin typeface="Calibri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258568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15-pt drop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3832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READING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3832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3CC"/>
                </a:solidFill>
                <a:latin typeface="Calibri"/>
              </a:rPr>
              <a:t>Results text · Tables 5, 6,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67328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0.85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3484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FB3CC"/>
                </a:solidFill>
                <a:latin typeface="Calibri"/>
              </a:rPr>
              <a:t>Train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92440" y="3950208"/>
            <a:ext cx="640080" cy="292608"/>
          </a:xfrm>
          <a:prstGeom prst="rightArrow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767328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2A900"/>
                </a:solidFill>
                <a:latin typeface="Cambria"/>
              </a:rPr>
              <a:t>1.00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43484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FB3CC"/>
                </a:solidFill>
                <a:latin typeface="Calibri"/>
              </a:rPr>
              <a:t>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767328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15-pt gain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54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Source: Ness et al., IEEE Access, vol. 13, pp. 16133–16149, 2025</a:t>
            </a:r>
          </a:p>
        </p:txBody>
      </p:sp>
      <p:sp>
        <p:nvSpPr>
          <p:cNvPr id="36" name="question-bar"/>
          <p:cNvSpPr/>
          <p:nvPr/>
        </p:nvSpPr>
        <p:spPr>
          <a:xfrm>
            <a:off x="548640" y="5440680"/>
            <a:ext cx="11091672" cy="749808"/>
          </a:xfrm>
          <a:prstGeom prst="roundRect">
            <a:avLst>
              <a:gd name="adj" fmla="val 12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0" rIns="182880" bIns="0"/>
          <a:lstStyle/>
          <a:p>
            <a:pPr algn="l"/>
            <a:r>
              <a:rPr sz="1800" b="1" i="0">
                <a:solidFill>
                  <a:srgbClr val="F2A900"/>
                </a:solidFill>
                <a:latin typeface="Calibri"/>
              </a:rPr>
              <a:t>Our question 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number is right, and does it hold on new network traffic?</a:t>
            </a:r>
          </a:p>
        </p:txBody>
      </p:sp>
      <p:sp>
        <p:nvSpPr>
          <p:cNvPr id="37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FB3CC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38" name="nav-1">
            <a:hlinkClick action="ppaction://hlinksldjump" r:id="rId6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39" name="nav-2">
            <a:hlinkClick action="ppaction://hlinksldjump" r:id="rId7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2</a:t>
            </a:r>
          </a:p>
        </p:txBody>
      </p:sp>
      <p:sp>
        <p:nvSpPr>
          <p:cNvPr id="40" name="nav-3">
            <a:hlinkClick action="ppaction://hlinksldjump" r:id="rId8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3</a:t>
            </a:r>
          </a:p>
        </p:txBody>
      </p:sp>
      <p:sp>
        <p:nvSpPr>
          <p:cNvPr id="41" name="nav-4">
            <a:hlinkClick action="ppaction://hlinksldjump" r:id="rId9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4</a:t>
            </a:r>
          </a:p>
        </p:txBody>
      </p:sp>
      <p:sp>
        <p:nvSpPr>
          <p:cNvPr id="42" name="nav-5">
            <a:hlinkClick action="ppaction://hlinksldjump" r:id="rId10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5</a:t>
            </a:r>
          </a:p>
        </p:txBody>
      </p:sp>
      <p:sp>
        <p:nvSpPr>
          <p:cNvPr id="43" name="nav-6">
            <a:hlinkClick action="ppaction://hlinksldjump" r:id="rId11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6</a:t>
            </a:r>
          </a:p>
        </p:txBody>
      </p:sp>
      <p:sp>
        <p:nvSpPr>
          <p:cNvPr id="44" name="nav-7">
            <a:hlinkClick action="ppaction://hlinksldjump" r:id="rId12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7</a:t>
            </a:r>
          </a:p>
        </p:txBody>
      </p:sp>
      <p:sp>
        <p:nvSpPr>
          <p:cNvPr id="45" name="nav-8">
            <a:hlinkClick action="ppaction://hlinksldjump" r:id="rId13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8</a:t>
            </a:r>
          </a:p>
        </p:txBody>
      </p:sp>
      <p:sp>
        <p:nvSpPr>
          <p:cNvPr id="46" name="nav-9">
            <a:hlinkClick action="ppaction://hlinksldjump" r:id="rId14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9</a:t>
            </a:r>
          </a:p>
        </p:txBody>
      </p:sp>
      <p:sp>
        <p:nvSpPr>
          <p:cNvPr id="47" name="nav-10">
            <a:hlinkClick action="ppaction://hlinksldjump" r:id="rId15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10</a:t>
            </a:r>
          </a:p>
        </p:txBody>
      </p:sp>
      <p:sp>
        <p:nvSpPr>
          <p:cNvPr id="48" name="nav-11">
            <a:hlinkClick action="ppaction://hlinksldjump" r:id="rId16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11</a:t>
            </a:r>
          </a:p>
        </p:txBody>
      </p:sp>
      <p:sp>
        <p:nvSpPr>
          <p:cNvPr id="49" name="nav-12">
            <a:hlinkClick action="ppaction://hlinksldjump" r:id="rId17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12</a:t>
            </a:r>
          </a:p>
        </p:txBody>
      </p:sp>
      <p:sp>
        <p:nvSpPr>
          <p:cNvPr id="50" name="nav-13">
            <a:hlinkClick action="ppaction://hlinksldjump" r:id="rId18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What Did the Paper Do?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02  ·  THE PAPER  ·  PAST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A6B80"/>
                </a:solidFill>
                <a:latin typeface="Calibri"/>
              </a:rPr>
              <a:t>S. Ness et al.  ·  Anomaly Detection in Network Traffic Using Advanced Machine Learning Techniques  ·  IEEE Access 13, 16133–16149 (2025)  ·  doi:10.1109/ACCESS.2025.3526988</a:t>
            </a:r>
          </a:p>
        </p:txBody>
      </p:sp>
      <p:sp>
        <p:nvSpPr>
          <p:cNvPr id="5" name="figure-frame"/>
          <p:cNvSpPr/>
          <p:nvPr/>
        </p:nvSpPr>
        <p:spPr>
          <a:xfrm>
            <a:off x="548640" y="1691640"/>
            <a:ext cx="5760720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per-figure" descr="Paper Fig. 1: proposed methodology, from network traffic through preprocessing and feature extraction to ML detection and evalu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737360"/>
            <a:ext cx="560832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66360"/>
            <a:ext cx="5760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B80"/>
                </a:solidFill>
                <a:latin typeface="Calibri"/>
              </a:rPr>
              <a:t>Paper's Fig. 1: proposed methodology</a:t>
            </a:r>
          </a:p>
        </p:txBody>
      </p:sp>
      <p:sp>
        <p:nvSpPr>
          <p:cNvPr id="8" name="icon-bg-db"/>
          <p:cNvSpPr/>
          <p:nvPr/>
        </p:nvSpPr>
        <p:spPr>
          <a:xfrm>
            <a:off x="6583680" y="1746504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-db" descr="d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92" y="1842516"/>
            <a:ext cx="265176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1691640"/>
            <a:ext cx="44165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80">
                <a:solidFill>
                  <a:srgbClr val="0B5CAD"/>
                </a:solidFill>
                <a:latin typeface="Calibri"/>
              </a:rPr>
              <a:t>DATA</a:t>
            </a:r>
          </a:p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KDD'99 from Kaggle · 125,973 records</a:t>
            </a:r>
          </a:p>
        </p:txBody>
      </p:sp>
      <p:sp>
        <p:nvSpPr>
          <p:cNvPr id="11" name="icon-bg-gear"/>
          <p:cNvSpPr/>
          <p:nvPr/>
        </p:nvSpPr>
        <p:spPr>
          <a:xfrm>
            <a:off x="6583680" y="2459736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gear" descr="ge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2555748"/>
            <a:ext cx="265176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2404872"/>
            <a:ext cx="44165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80">
                <a:solidFill>
                  <a:srgbClr val="0B5CAD"/>
                </a:solidFill>
                <a:latin typeface="Calibri"/>
              </a:rPr>
              <a:t>PREPARATION</a:t>
            </a:r>
          </a:p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Imputation, de-duplication, SMOTE, z-score, PCA</a:t>
            </a:r>
          </a:p>
        </p:txBody>
      </p:sp>
      <p:sp>
        <p:nvSpPr>
          <p:cNvPr id="14" name="icon-bg-tree"/>
          <p:cNvSpPr/>
          <p:nvPr/>
        </p:nvSpPr>
        <p:spPr>
          <a:xfrm>
            <a:off x="6583680" y="3172968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-tree" descr="tre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3268980"/>
            <a:ext cx="265176" cy="265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3118104"/>
            <a:ext cx="44165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80">
                <a:solidFill>
                  <a:srgbClr val="0B5CAD"/>
                </a:solidFill>
                <a:latin typeface="Calibri"/>
              </a:rPr>
              <a:t>MODELS (7)</a:t>
            </a:r>
          </a:p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Isolation Forest, Naive Bayes, XGBoost, LightGBM, SVM, Random Forest, Logistic Regression</a:t>
            </a:r>
          </a:p>
        </p:txBody>
      </p:sp>
      <p:sp>
        <p:nvSpPr>
          <p:cNvPr id="17" name="icon-bg-flask"/>
          <p:cNvSpPr/>
          <p:nvPr/>
        </p:nvSpPr>
        <p:spPr>
          <a:xfrm>
            <a:off x="6583680" y="3886199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-flask" descr="flas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3982211"/>
            <a:ext cx="265176" cy="265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23760" y="3831335"/>
            <a:ext cx="44165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80">
                <a:solidFill>
                  <a:srgbClr val="0B5CAD"/>
                </a:solidFill>
                <a:latin typeface="Calibri"/>
              </a:rPr>
              <a:t>TUNING</a:t>
            </a:r>
          </a:p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Grid / random search · 5-fold cross-validation</a:t>
            </a:r>
          </a:p>
        </p:txBody>
      </p:sp>
      <p:sp>
        <p:nvSpPr>
          <p:cNvPr id="20" name="icon-bg-bars"/>
          <p:cNvSpPr/>
          <p:nvPr/>
        </p:nvSpPr>
        <p:spPr>
          <a:xfrm>
            <a:off x="6583680" y="4599432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-bars" descr="bar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692" y="4695444"/>
            <a:ext cx="265176" cy="2651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23760" y="4544568"/>
            <a:ext cx="44165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80">
                <a:solidFill>
                  <a:srgbClr val="0B5CAD"/>
                </a:solidFill>
                <a:latin typeface="Calibri"/>
              </a:rPr>
              <a:t>METRICS</a:t>
            </a:r>
          </a:p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Accuracy, precision, recall, F1, ROC-AUC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-bg-star"/>
          <p:cNvSpPr/>
          <p:nvPr/>
        </p:nvSpPr>
        <p:spPr>
          <a:xfrm>
            <a:off x="731520" y="5669280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-star" descr="sta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" y="5765292"/>
            <a:ext cx="265176" cy="2651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557784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5CAD"/>
                </a:solidFill>
                <a:latin typeface="Calibri"/>
              </a:rPr>
              <a:t>Reported winner  </a:t>
            </a:r>
            <a:r>
              <a:rPr sz="1600" b="0" i="0">
                <a:solidFill>
                  <a:srgbClr val="13233A"/>
                </a:solidFill>
                <a:latin typeface="Calibri"/>
              </a:rPr>
              <a:t>LightGBM is called best, yet the Conclusion says SVM matches it at 0.85 test accuracy.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28" name="nav-1">
            <a:hlinkClick action="ppaction://hlinksldjump" r:id="rId9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29" name="nav-2">
            <a:hlinkClick action="ppaction://hlinksldjump" r:id="rId10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nav-3">
            <a:hlinkClick action="ppaction://hlinksldjump" r:id="rId11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31" name="nav-4">
            <a:hlinkClick action="ppaction://hlinksldjump" r:id="rId12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32" name="nav-5">
            <a:hlinkClick action="ppaction://hlinksldjump" r:id="rId13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33" name="nav-6">
            <a:hlinkClick action="ppaction://hlinksldjump" r:id="rId14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34" name="nav-7">
            <a:hlinkClick action="ppaction://hlinksldjump" r:id="rId15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35" name="nav-8">
            <a:hlinkClick action="ppaction://hlinksldjump" r:id="rId16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36" name="nav-9">
            <a:hlinkClick action="ppaction://hlinksldjump" r:id="rId17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37" name="nav-10">
            <a:hlinkClick action="ppaction://hlinksldjump" r:id="rId18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38" name="nav-11">
            <a:hlinkClick action="ppaction://hlinksldjump" r:id="rId19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39" name="nav-12">
            <a:hlinkClick action="ppaction://hlinksldjump" r:id="rId20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40" name="nav-13">
            <a:hlinkClick action="ppaction://hlinksldjump" r:id="rId21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685800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What Did the Paper Report?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03  ·  THE PAPER'S OWN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368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A6B80"/>
                </a:solidFill>
                <a:latin typeface="Calibri"/>
              </a:rPr>
              <a:t>Appendix:</a:t>
            </a:r>
          </a:p>
        </p:txBody>
      </p:sp>
      <p:sp>
        <p:nvSpPr>
          <p:cNvPr id="5" name="Rounded Rectangle 4">
            <a:hlinkClick action="ppaction://hlinksldjump" r:id="rId17"/>
          </p:cNvPr>
          <p:cNvSpPr/>
          <p:nvPr/>
        </p:nvSpPr>
        <p:spPr>
          <a:xfrm>
            <a:off x="8138160" y="65836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5CAD"/>
                </a:solidFill>
                <a:latin typeface="Calibri"/>
              </a:rPr>
              <a:t>ROC curves ›</a:t>
            </a:r>
          </a:p>
        </p:txBody>
      </p:sp>
      <p:sp>
        <p:nvSpPr>
          <p:cNvPr id="6" name="Rounded Rectangle 5">
            <a:hlinkClick action="ppaction://hlinksldjump" r:id="rId18"/>
          </p:cNvPr>
          <p:cNvSpPr/>
          <p:nvPr/>
        </p:nvSpPr>
        <p:spPr>
          <a:xfrm>
            <a:off x="9418320" y="6583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5CAD"/>
                </a:solidFill>
                <a:latin typeface="Calibri"/>
              </a:rPr>
              <a:t>Matrices ›</a:t>
            </a:r>
          </a:p>
        </p:txBody>
      </p:sp>
      <p:sp>
        <p:nvSpPr>
          <p:cNvPr id="7" name="Rounded Rectangle 6">
            <a:hlinkClick action="ppaction://hlinksldjump" r:id="rId19"/>
          </p:cNvPr>
          <p:cNvSpPr/>
          <p:nvPr/>
        </p:nvSpPr>
        <p:spPr>
          <a:xfrm>
            <a:off x="10561320" y="6583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5CAD"/>
                </a:solidFill>
                <a:latin typeface="Calibri"/>
              </a:rPr>
              <a:t>Fig. 17–18 ›</a:t>
            </a:r>
          </a:p>
        </p:txBody>
      </p:sp>
      <p:sp>
        <p:nvSpPr>
          <p:cNvPr id="8" name="figure-frame"/>
          <p:cNvSpPr/>
          <p:nvPr/>
        </p:nvSpPr>
        <p:spPr>
          <a:xfrm>
            <a:off x="548640" y="1508760"/>
            <a:ext cx="23317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aper-figure" descr="Paper Fig. 2: training vs test accuracy of Isolation For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2449"/>
            <a:ext cx="2240279" cy="12756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0175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Isolation Forest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Train → Test  0.50 → 0.40</a:t>
            </a:r>
          </a:p>
        </p:txBody>
      </p:sp>
      <p:sp>
        <p:nvSpPr>
          <p:cNvPr id="11" name="figure-frame"/>
          <p:cNvSpPr/>
          <p:nvPr/>
        </p:nvSpPr>
        <p:spPr>
          <a:xfrm>
            <a:off x="3063240" y="1508760"/>
            <a:ext cx="23317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aper-figure" descr="Paper Fig. 6: training vs test accuracy of Naive Bay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419" y="1554480"/>
            <a:ext cx="2237361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63240" y="30175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Naive Bayes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Train → Test  0.89 → 0.81</a:t>
            </a:r>
          </a:p>
        </p:txBody>
      </p:sp>
      <p:sp>
        <p:nvSpPr>
          <p:cNvPr id="14" name="figure-frame"/>
          <p:cNvSpPr/>
          <p:nvPr/>
        </p:nvSpPr>
        <p:spPr>
          <a:xfrm>
            <a:off x="5577840" y="1508760"/>
            <a:ext cx="23317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aper-figure" descr="Paper Fig. 8: training vs test accuracy of XGBoo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59" y="1565303"/>
            <a:ext cx="2240279" cy="13499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7840" y="30175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XGBoost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Train → Test  0.99 → 0.83</a:t>
            </a:r>
          </a:p>
        </p:txBody>
      </p:sp>
      <p:sp>
        <p:nvSpPr>
          <p:cNvPr id="17" name="figure-frame"/>
          <p:cNvSpPr/>
          <p:nvPr/>
        </p:nvSpPr>
        <p:spPr>
          <a:xfrm>
            <a:off x="548640" y="3611879"/>
            <a:ext cx="23317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aper-figure" descr="Paper Fig. 12: training vs test accuracy of LightGBM (as draw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28878"/>
            <a:ext cx="2240279" cy="12290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1206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LightGBM (as drawn)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Train → Test  1.00 → 0.85</a:t>
            </a:r>
          </a:p>
        </p:txBody>
      </p:sp>
      <p:sp>
        <p:nvSpPr>
          <p:cNvPr id="20" name="figure-frame"/>
          <p:cNvSpPr/>
          <p:nvPr/>
        </p:nvSpPr>
        <p:spPr>
          <a:xfrm>
            <a:off x="3063240" y="3611879"/>
            <a:ext cx="23317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aper-figure" descr="Paper Fig. 14: training vs test accuracy of SV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066" y="3657600"/>
            <a:ext cx="2162066" cy="1371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63240" y="51206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SVM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Train → Test  0.99 → 0.85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611879"/>
            <a:ext cx="2331720" cy="173736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70332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B5CAD"/>
                </a:solidFill>
                <a:latin typeface="Cambria"/>
              </a:rPr>
              <a:t>6–16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38912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train-to-test drop for every model, on the paper's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1500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Blue = training accuracy, green = test accuracy. Four of five y-axes start at 0.70 (Isolation Forest: 0.30), which magnifies the gaps.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4813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3233A"/>
                </a:solidFill>
                <a:latin typeface="Calibri"/>
              </a:rPr>
              <a:t>Table 5 as printed (p.16145)</a:t>
            </a:r>
          </a:p>
        </p:txBody>
      </p:sp>
      <p:graphicFrame>
        <p:nvGraphicFramePr>
          <p:cNvPr id="28" name="table5"/>
          <p:cNvGraphicFramePr>
            <a:graphicFrameLocks noGrp="1"/>
          </p:cNvGraphicFramePr>
          <p:nvPr/>
        </p:nvGraphicFramePr>
        <p:xfrm>
          <a:off x="8092440" y="1783080"/>
          <a:ext cx="3547872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685800"/>
                <a:gridCol w="667512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3233A"/>
                          </a:solidFill>
                          <a:latin typeface="Calibri"/>
                        </a:rPr>
                        <a:t>Logistic Regr.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3233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8092440" y="5029200"/>
            <a:ext cx="3547872" cy="868680"/>
          </a:xfrm>
          <a:prstGeom prst="roundRect">
            <a:avLst>
              <a:gd name="adj" fmla="val 10000"/>
            </a:avLst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l"/>
            <a:r>
              <a:rPr sz="1300" b="1" i="0">
                <a:solidFill>
                  <a:srgbClr val="13233A"/>
                </a:solidFill>
                <a:latin typeface="Calibri"/>
              </a:rPr>
              <a:t>LightGBM's Test and Train here are the reverse of Fig. 12. Next slide.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31" name="nav-1">
            <a:hlinkClick action="ppaction://hlinksldjump" r:id="rId7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32" name="nav-2">
            <a:hlinkClick action="ppaction://hlinksldjump" r:id="rId8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33" name="nav-3">
            <a:hlinkClick action="ppaction://hlinksldjump" r:id="rId9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nav-4">
            <a:hlinkClick action="ppaction://hlinksldjump" r:id="rId10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35" name="nav-5">
            <a:hlinkClick action="ppaction://hlinksldjump" r:id="rId11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36" name="nav-6">
            <a:hlinkClick action="ppaction://hlinksldjump" r:id="rId12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37" name="nav-7">
            <a:hlinkClick action="ppaction://hlinksldjump" r:id="rId13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38" name="nav-8">
            <a:hlinkClick action="ppaction://hlinksldjump" r:id="rId14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39" name="nav-9">
            <a:hlinkClick action="ppaction://hlinksldjump" r:id="rId15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40" name="nav-10">
            <a:hlinkClick action="ppaction://hlinksldjump" r:id="rId16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41" name="nav-11">
            <a:hlinkClick action="ppaction://hlinksldjump" r:id="rId17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42" name="nav-12">
            <a:hlinkClick action="ppaction://hlinksldjump" r:id="rId18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43" name="nav-13">
            <a:hlinkClick action="ppaction://hlinksldjump" r:id="rId19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Audit 1: Same Model, Two Accuracy Numbers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04  ·  AUDIT  ·  THE HEADLINE NUMBER</a:t>
            </a:r>
          </a:p>
        </p:txBody>
      </p:sp>
      <p:sp>
        <p:nvSpPr>
          <p:cNvPr id="4" name="reading-a"/>
          <p:cNvSpPr/>
          <p:nvPr/>
        </p:nvSpPr>
        <p:spPr>
          <a:xfrm>
            <a:off x="548640" y="146304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READING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002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test 0.85  ·  train 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3233A"/>
                </a:solidFill>
                <a:latin typeface="Calibri"/>
              </a:rPr>
              <a:t>Abstract  (p.16133)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3233A"/>
                </a:solidFill>
                <a:latin typeface="Calibri"/>
              </a:rPr>
              <a:t>Introduction  (p.16134)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3233A"/>
                </a:solidFill>
                <a:latin typeface="Calibri"/>
              </a:rPr>
              <a:t>Fig. 12 bars  (p.16143)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3233A"/>
                </a:solidFill>
                <a:latin typeface="Calibri"/>
              </a:rPr>
              <a:t>Conclusion  (p.16147)</a:t>
            </a:r>
          </a:p>
        </p:txBody>
      </p:sp>
      <p:sp>
        <p:nvSpPr>
          <p:cNvPr id="8" name="figure-frame"/>
          <p:cNvSpPr/>
          <p:nvPr/>
        </p:nvSpPr>
        <p:spPr>
          <a:xfrm>
            <a:off x="3337560" y="2103120"/>
            <a:ext cx="2514600" cy="1234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aper-figure" descr="Paper Fig. 12: LightGBM training accuracy about 1.0, test accuracy about 0.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38" y="2148839"/>
            <a:ext cx="2083443" cy="1143000"/>
          </a:xfrm>
          <a:prstGeom prst="rect">
            <a:avLst/>
          </a:prstGeom>
        </p:spPr>
      </p:pic>
      <p:sp>
        <p:nvSpPr>
          <p:cNvPr id="10" name="reading-b"/>
          <p:cNvSpPr/>
          <p:nvPr/>
        </p:nvSpPr>
        <p:spPr>
          <a:xfrm>
            <a:off x="548640" y="3657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8404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READING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79476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3233A"/>
                </a:solidFill>
                <a:latin typeface="Calibri"/>
              </a:rPr>
              <a:t>test 1.00  ·  train 0.85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3233A"/>
                </a:solidFill>
                <a:latin typeface="Calibri"/>
              </a:rPr>
              <a:t>Results text  (pp.16143–44)  ·  Tables 5 and 6  (p.16145)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3233A"/>
                </a:solidFill>
                <a:latin typeface="Calibri"/>
              </a:rPr>
              <a:t>Table 8  (p.16147)  ·  Figs. 17–18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Table 5 check: test accuracy vs recall</a:t>
            </a:r>
          </a:p>
        </p:txBody>
      </p:sp>
      <p:graphicFrame>
        <p:nvGraphicFramePr>
          <p:cNvPr id="15" name="chart" descr="Clustered bars of test accuracy and recall for 7 models; only LightGBM differs, 1.00 vs 0.85"/>
          <p:cNvGraphicFramePr>
            <a:graphicFrameLocks noGrp="1"/>
          </p:cNvGraphicFramePr>
          <p:nvPr/>
        </p:nvGraphicFramePr>
        <p:xfrm>
          <a:off x="6309360" y="1737360"/>
          <a:ext cx="5330952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55080" y="4864608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3233A"/>
                </a:solidFill>
                <a:latin typeface="Calibri"/>
              </a:rPr>
              <a:t>For six models recall ≈ test accuracy. LightGBM is the only exception, by 15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11091672" cy="74980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0" rIns="228600" bIns="0"/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Why it matters 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Table 8 uses 100% to claim LightGBM beats a CNN-LSTM (99.09%). Under Reading B, test accuracy would be 15 points above training accuracy.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19" name="nav-1">
            <a:hlinkClick action="ppaction://hlinksldjump" r:id="rId4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20" name="nav-2">
            <a:hlinkClick action="ppaction://hlinksldjump" r:id="rId5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21" name="nav-3">
            <a:hlinkClick action="ppaction://hlinksldjump" r:id="rId6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22" name="nav-4">
            <a:hlinkClick action="ppaction://hlinksldjump" r:id="rId7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nav-5">
            <a:hlinkClick action="ppaction://hlinksldjump" r:id="rId8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24" name="nav-6">
            <a:hlinkClick action="ppaction://hlinksldjump" r:id="rId9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25" name="nav-7">
            <a:hlinkClick action="ppaction://hlinksldjump" r:id="rId10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26" name="nav-8">
            <a:hlinkClick action="ppaction://hlinksldjump" r:id="rId11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27" name="nav-9">
            <a:hlinkClick action="ppaction://hlinksldjump" r:id="rId12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28" name="nav-10">
            <a:hlinkClick action="ppaction://hlinksldjump" r:id="rId13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29" name="nav-11">
            <a:hlinkClick action="ppaction://hlinksldjump" r:id="rId14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30" name="nav-12">
            <a:hlinkClick action="ppaction://hlinksldjump" r:id="rId15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31" name="nav-13">
            <a:hlinkClick action="ppaction://hlinksldjump" r:id="rId16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Tie-Breaker: The Paper's Own Confusion Matrices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05  ·  AUDIT  ·  WHAT THE MATRICES SHOW</a:t>
            </a:r>
          </a:p>
        </p:txBody>
      </p:sp>
      <p:sp>
        <p:nvSpPr>
          <p:cNvPr id="4" name="figure-frame"/>
          <p:cNvSpPr/>
          <p:nvPr/>
        </p:nvSpPr>
        <p:spPr>
          <a:xfrm>
            <a:off x="548640" y="1508760"/>
            <a:ext cx="35661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aper-figure" descr="Paper Fig. 11: LightGBM confusion matrix, 51594 / 7036 / 10101 / 57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35" y="1554480"/>
            <a:ext cx="344036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120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B80"/>
                </a:solidFill>
                <a:latin typeface="Calibri"/>
              </a:rPr>
              <a:t>Paper's Fig. 11: LightGBM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463040"/>
            <a:ext cx="7205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Implied by the paper's five matrices (our calculation)</a:t>
            </a:r>
          </a:p>
        </p:txBody>
      </p:sp>
      <p:graphicFrame>
        <p:nvGraphicFramePr>
          <p:cNvPr id="8" name="implied"/>
          <p:cNvGraphicFramePr>
            <a:graphicFrameLocks noGrp="1"/>
          </p:cNvGraphicFramePr>
          <p:nvPr/>
        </p:nvGraphicFramePr>
        <p:xfrm>
          <a:off x="4434840" y="1783080"/>
          <a:ext cx="72054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737360"/>
                <a:gridCol w="199339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Wrong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Implied acc.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Reported test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86,724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31.2%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22,762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81.9%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18,397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85.4%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17,137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86.4%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0.85 or 1.00</a:t>
                      </a:r>
                    </a:p>
                  </a:txBody>
                  <a:tcPr marL="109728" marR="73152" marT="27432" marB="27432" anchor="ctr">
                    <a:solidFill>
                      <a:srgbClr val="FFF1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16,464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86.9%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434840" y="4407408"/>
            <a:ext cx="356616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407408"/>
            <a:ext cx="320040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B5CAD"/>
                </a:solidFill>
                <a:latin typeface="Calibri"/>
              </a:rPr>
              <a:t>Rounded rates. </a:t>
            </a:r>
            <a:r>
              <a:rPr sz="1300" b="0" i="0">
                <a:solidFill>
                  <a:srgbClr val="13233A"/>
                </a:solidFill>
                <a:latin typeface="Calibri"/>
              </a:rPr>
              <a:t>All 20 cells equal class total × a two-decimal rate, e.g. 58,630 × 0.88 = 51,594.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4407408"/>
            <a:ext cx="356616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4407408"/>
            <a:ext cx="320040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B5CAD"/>
                </a:solidFill>
                <a:latin typeface="Calibri"/>
              </a:rPr>
              <a:t>Full dataset. </a:t>
            </a:r>
            <a:r>
              <a:rPr sz="1300" b="0" i="0">
                <a:solidFill>
                  <a:srgbClr val="13233A"/>
                </a:solidFill>
                <a:latin typeface="Calibri"/>
              </a:rPr>
              <a:t>Each matrix totals 125,973 rows, not the ~25,195 of a 20% test split.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96128"/>
            <a:ext cx="11091672" cy="713232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0" rIns="228600" bIns="0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Matrices built from rounded rates are not independent proof, yet even they imply about 0.86, not 1.00. Only an independent reproduction can settle it.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15" name="nav-1">
            <a:hlinkClick action="ppaction://hlinksldjump" r:id="rId3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16" name="nav-2">
            <a:hlinkClick action="ppaction://hlinksldjump" r:id="rId4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17" name="nav-3">
            <a:hlinkClick action="ppaction://hlinksldjump" r:id="rId5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18" name="nav-4">
            <a:hlinkClick action="ppaction://hlinksldjump" r:id="rId6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19" name="nav-5">
            <a:hlinkClick action="ppaction://hlinksldjump" r:id="rId7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nav-6">
            <a:hlinkClick action="ppaction://hlinksldjump" r:id="rId8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21" name="nav-7">
            <a:hlinkClick action="ppaction://hlinksldjump" r:id="rId9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22" name="nav-8">
            <a:hlinkClick action="ppaction://hlinksldjump" r:id="rId10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23" name="nav-9">
            <a:hlinkClick action="ppaction://hlinksldjump" r:id="rId11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24" name="nav-10">
            <a:hlinkClick action="ppaction://hlinksldjump" r:id="rId12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25" name="nav-11">
            <a:hlinkClick action="ppaction://hlinksldjump" r:id="rId13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26" name="nav-12">
            <a:hlinkClick action="ppaction://hlinksldjump" r:id="rId14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27" name="nav-13">
            <a:hlinkClick action="ppaction://hlinksldjump" r:id="rId15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Audit 2: Questions the Setup Leaves Open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06  ·  AUDIT  ·  EVALUATION DESIGN</a:t>
            </a:r>
          </a:p>
        </p:txBody>
      </p:sp>
      <p:sp>
        <p:nvSpPr>
          <p:cNvPr id="4" name="audit-card-1"/>
          <p:cNvSpPr/>
          <p:nvPr/>
        </p:nvSpPr>
        <p:spPr>
          <a:xfrm>
            <a:off x="548640" y="146304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on-bg-grid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-grid" descr="grid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1741932"/>
            <a:ext cx="265176" cy="2651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1645920"/>
            <a:ext cx="2630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Which split?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1790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Table 2 says 70/30; the text says 80/20 with 5-fold CV. Which test set produced the numbers?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pp.16138, 16140</a:t>
            </a:r>
          </a:p>
        </p:txBody>
      </p:sp>
      <p:sp>
        <p:nvSpPr>
          <p:cNvPr id="10" name="audit-card-2"/>
          <p:cNvSpPr/>
          <p:nvPr/>
        </p:nvSpPr>
        <p:spPr>
          <a:xfrm>
            <a:off x="4322064" y="146304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on-bg-flask"/>
          <p:cNvSpPr/>
          <p:nvPr/>
        </p:nvSpPr>
        <p:spPr>
          <a:xfrm>
            <a:off x="4504944" y="164592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flask" descr="flas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956" y="1741932"/>
            <a:ext cx="265176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99304" y="1645920"/>
            <a:ext cx="2630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SMOTE on balanced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4944" y="2212848"/>
            <a:ext cx="31790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Used to fix imbalance, yet the classes are 46.5% / 53.5%. Its order versus the split is not stated.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4944" y="3063240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p.16138</a:t>
            </a:r>
          </a:p>
        </p:txBody>
      </p:sp>
      <p:sp>
        <p:nvSpPr>
          <p:cNvPr id="16" name="audit-card-3"/>
          <p:cNvSpPr/>
          <p:nvPr/>
        </p:nvSpPr>
        <p:spPr>
          <a:xfrm>
            <a:off x="8095488" y="146304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-bg-db"/>
          <p:cNvSpPr/>
          <p:nvPr/>
        </p:nvSpPr>
        <p:spPr>
          <a:xfrm>
            <a:off x="8278367" y="164592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-db" descr="d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380" y="1741932"/>
            <a:ext cx="265176" cy="265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72728" y="1645920"/>
            <a:ext cx="2630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Which dataset file?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7" y="2212848"/>
            <a:ext cx="31790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125,973 rows is NSL-KDD's training-file size, not KDD'99's ~4.9M. Class labels also need checking.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7" y="3063240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p.16138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51592" y="3035808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TO CONFIRM</a:t>
            </a:r>
          </a:p>
        </p:txBody>
      </p:sp>
      <p:sp>
        <p:nvSpPr>
          <p:cNvPr id="23" name="audit-card-4"/>
          <p:cNvSpPr/>
          <p:nvPr/>
        </p:nvSpPr>
        <p:spPr>
          <a:xfrm>
            <a:off x="548640" y="352044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con-bg-layers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-layers" descr="lay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3799332"/>
            <a:ext cx="265176" cy="2651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25880" y="3703320"/>
            <a:ext cx="2630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Ensemble never reported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70248"/>
            <a:ext cx="31790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Table 2 lists a soft-voting ensemble step and the Conclusion expects ensembles to help, but no ensemble result is reported.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pp.16138, 16147</a:t>
            </a:r>
          </a:p>
        </p:txBody>
      </p:sp>
      <p:sp>
        <p:nvSpPr>
          <p:cNvPr id="29" name="audit-card-5"/>
          <p:cNvSpPr/>
          <p:nvPr/>
        </p:nvSpPr>
        <p:spPr>
          <a:xfrm>
            <a:off x="4322064" y="352044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-bg-bars"/>
          <p:cNvSpPr/>
          <p:nvPr/>
        </p:nvSpPr>
        <p:spPr>
          <a:xfrm>
            <a:off x="4504944" y="370332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-bars" descr="bar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956" y="3799332"/>
            <a:ext cx="265176" cy="2651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99304" y="3703320"/>
            <a:ext cx="2630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Cross-study claim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4944" y="4270248"/>
            <a:ext cx="31790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Table 8 sets '100%' beside other papers' own 99.09% and 97.80%, while LightGBM's F1 in that table is 85%.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4944" y="5120640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p.16147</a:t>
            </a:r>
          </a:p>
        </p:txBody>
      </p:sp>
      <p:sp>
        <p:nvSpPr>
          <p:cNvPr id="35" name="audit-card-6"/>
          <p:cNvSpPr/>
          <p:nvPr/>
        </p:nvSpPr>
        <p:spPr>
          <a:xfrm>
            <a:off x="8095488" y="3520440"/>
            <a:ext cx="354482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con-bg-bolt"/>
          <p:cNvSpPr/>
          <p:nvPr/>
        </p:nvSpPr>
        <p:spPr>
          <a:xfrm>
            <a:off x="8278367" y="370332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-bolt" descr="bol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380" y="3799332"/>
            <a:ext cx="265176" cy="2651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72728" y="3703320"/>
            <a:ext cx="26304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3233A"/>
                </a:solidFill>
                <a:latin typeface="Calibri"/>
              </a:rPr>
              <a:t>No deployment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8367" y="4270248"/>
            <a:ext cx="31790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No false-alarm rate, latency or second dataset. The paper lists these as future work.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8367" y="5120640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pp.16146–47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0" rIns="228600" bIns="0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Each point is an open question, not an accusation. Together they motivate an independent, audited reproduction.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43" name="nav-1">
            <a:hlinkClick action="ppaction://hlinksldjump" r:id="rId8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44" name="nav-2">
            <a:hlinkClick action="ppaction://hlinksldjump" r:id="rId9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45" name="nav-3">
            <a:hlinkClick action="ppaction://hlinksldjump" r:id="rId10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46" name="nav-4">
            <a:hlinkClick action="ppaction://hlinksldjump" r:id="rId11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47" name="nav-5">
            <a:hlinkClick action="ppaction://hlinksldjump" r:id="rId12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48" name="nav-6">
            <a:hlinkClick action="ppaction://hlinksldjump" r:id="rId13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nav-7">
            <a:hlinkClick action="ppaction://hlinksldjump" r:id="rId14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50" name="nav-8">
            <a:hlinkClick action="ppaction://hlinksldjump" r:id="rId15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51" name="nav-9">
            <a:hlinkClick action="ppaction://hlinksldjump" r:id="rId16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52" name="nav-10">
            <a:hlinkClick action="ppaction://hlinksldjump" r:id="rId17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53" name="nav-11">
            <a:hlinkClick action="ppaction://hlinksldjump" r:id="rId18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54" name="nav-12">
            <a:hlinkClick action="ppaction://hlinksldjump" r:id="rId19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55" name="nav-13">
            <a:hlinkClick action="ppaction://hlinksldjump" r:id="rId20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Past Approach vs Our Approach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07  ·  WHAT CHANGES</a:t>
            </a:r>
          </a:p>
        </p:txBody>
      </p:sp>
      <p:graphicFrame>
        <p:nvGraphicFramePr>
          <p:cNvPr id="4" name="compare-table"/>
          <p:cNvGraphicFramePr>
            <a:graphicFrameLocks noGrp="1"/>
          </p:cNvGraphicFramePr>
          <p:nvPr/>
        </p:nvGraphicFramePr>
        <p:xfrm>
          <a:off x="548640" y="1417320"/>
          <a:ext cx="110916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206240"/>
                <a:gridCol w="533095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Past approach (the paper)</a:t>
                      </a:r>
                    </a:p>
                  </a:txBody>
                  <a:tcPr marL="109728" marR="73152" marT="27432" marB="27432" anchor="ctr">
                    <a:solidFill>
                      <a:srgbClr val="5A6B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Our approach</a:t>
                      </a:r>
                    </a:p>
                  </a:txBody>
                  <a:tcPr marL="109728" marR="73152" marT="27432" marB="27432" anchor="ctr">
                    <a:solidFill>
                      <a:srgbClr val="0B5CA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Which ML model scores best?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Does the best model stay reliable when traffic changes?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One dataset: KDD'99, 125,973 rows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7F73"/>
                          </a:solidFill>
                          <a:latin typeface="Calibri"/>
                        </a:rPr>
                        <a:t>+ </a:t>
                      </a:r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Same data, audited, plus newer datasets (e.g. CICIDS2017, UNSW‑NB15)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One random split (70/30 or 80/20, unclear)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7F73"/>
                          </a:solidFill>
                          <a:latin typeface="Calibri"/>
                        </a:rPr>
                        <a:t>+ </a:t>
                      </a:r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Documented split, plus time, new-dataset, unseen-attack and missing-feature tests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Accuracy, precision, recall, F1, ROC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7F73"/>
                          </a:solidFill>
                          <a:latin typeface="Calibri"/>
                        </a:rPr>
                        <a:t>+ </a:t>
                      </a:r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False-alarm rate, calibration and speed, in one consistent table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Model use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One model scores every flow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7F73"/>
                          </a:solidFill>
                          <a:latin typeface="Calibri"/>
                        </a:rPr>
                        <a:t>+ </a:t>
                      </a:r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LightGBM first; modern AI only when LightGBM is unsure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Uncertainty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None: every flow gets an answer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7F73"/>
                          </a:solidFill>
                          <a:latin typeface="Calibri"/>
                        </a:rPr>
                        <a:t>+ </a:t>
                      </a:r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Confidence gate: accept, escalate or abstain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Not measured (left as future work)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7F73"/>
                          </a:solidFill>
                          <a:latin typeface="Calibri"/>
                        </a:rPr>
                        <a:t>+ </a:t>
                      </a:r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Measure speed and the share of flows escalated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7F73"/>
                </a:solidFill>
                <a:latin typeface="Calibri"/>
              </a:rPr>
              <a:t>+</a:t>
            </a:r>
            <a:r>
              <a:rPr sz="1300" b="0" i="0">
                <a:solidFill>
                  <a:srgbClr val="5A6B80"/>
                </a:solidFill>
                <a:latin typeface="Calibri"/>
              </a:rPr>
              <a:t>  = additional, beyond what the paper did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7" name="nav-1">
            <a:hlinkClick action="ppaction://hlinksldjump" r:id="rId2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8" name="nav-2">
            <a:hlinkClick action="ppaction://hlinksldjump" r:id="rId3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9" name="nav-3">
            <a:hlinkClick action="ppaction://hlinksldjump" r:id="rId4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10" name="nav-4">
            <a:hlinkClick action="ppaction://hlinksldjump" r:id="rId5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11" name="nav-5">
            <a:hlinkClick action="ppaction://hlinksldjump" r:id="rId6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12" name="nav-6">
            <a:hlinkClick action="ppaction://hlinksldjump" r:id="rId7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13" name="nav-7">
            <a:hlinkClick action="ppaction://hlinksldjump" r:id="rId8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4" name="nav-8">
            <a:hlinkClick action="ppaction://hlinksldjump" r:id="rId9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15" name="nav-9">
            <a:hlinkClick action="ppaction://hlinksldjump" r:id="rId10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16" name="nav-10">
            <a:hlinkClick action="ppaction://hlinksldjump" r:id="rId11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17" name="nav-11">
            <a:hlinkClick action="ppaction://hlinksldjump" r:id="rId12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18" name="nav-12">
            <a:hlinkClick action="ppaction://hlinksldjump" r:id="rId13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19" name="nav-13">
            <a:hlinkClick action="ppaction://hlinksldjump" r:id="rId14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Our Idea: Beyond 100%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08  ·  OUR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5A6B80"/>
                </a:solidFill>
                <a:latin typeface="Calibri"/>
              </a:rPr>
              <a:t>Instead of replacing LightGBM, we make it smarter.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3716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-bg-network"/>
          <p:cNvSpPr/>
          <p:nvPr/>
        </p:nvSpPr>
        <p:spPr>
          <a:xfrm>
            <a:off x="676656" y="2459736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-network" descr="networ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06" y="2540386"/>
            <a:ext cx="222747" cy="2227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144" y="2194560"/>
            <a:ext cx="6583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3233A"/>
                </a:solidFill>
                <a:latin typeface="Calibri"/>
              </a:rPr>
              <a:t>Network flow</a:t>
            </a:r>
          </a:p>
        </p:txBody>
      </p:sp>
      <p:cxnSp>
        <p:nvCxnSpPr>
          <p:cNvPr id="9" name="flow-arrow"/>
          <p:cNvCxnSpPr/>
          <p:nvPr/>
        </p:nvCxnSpPr>
        <p:spPr>
          <a:xfrm>
            <a:off x="1965960" y="2651760"/>
            <a:ext cx="27432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219456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on-bg-leaf"/>
          <p:cNvSpPr/>
          <p:nvPr/>
        </p:nvSpPr>
        <p:spPr>
          <a:xfrm>
            <a:off x="2414016" y="2459736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leaf" descr="lea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666" y="2540386"/>
            <a:ext cx="222747" cy="222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89504" y="2194560"/>
            <a:ext cx="8412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LightGBM</a:t>
            </a:r>
          </a:p>
          <a:p>
            <a:pPr algn="l"/>
            <a:r>
              <a:rPr sz="1100" b="0" i="0">
                <a:solidFill>
                  <a:srgbClr val="5A6B80"/>
                </a:solidFill>
                <a:latin typeface="Calibri"/>
              </a:rPr>
              <a:t>fast first pass</a:t>
            </a:r>
          </a:p>
        </p:txBody>
      </p:sp>
      <p:cxnSp>
        <p:nvCxnSpPr>
          <p:cNvPr id="14" name="flow-arrow"/>
          <p:cNvCxnSpPr/>
          <p:nvPr/>
        </p:nvCxnSpPr>
        <p:spPr>
          <a:xfrm>
            <a:off x="3886200" y="2651760"/>
            <a:ext cx="274320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"/>
          <p:cNvSpPr/>
          <p:nvPr/>
        </p:nvSpPr>
        <p:spPr>
          <a:xfrm>
            <a:off x="4206240" y="1920240"/>
            <a:ext cx="1920240" cy="1463040"/>
          </a:xfrm>
          <a:prstGeom prst="flowChartDecisi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B1F3A"/>
                </a:solidFill>
                <a:latin typeface="Calibri"/>
              </a:rPr>
              <a:t>Confident?</a:t>
            </a:r>
          </a:p>
        </p:txBody>
      </p:sp>
      <p:cxnSp>
        <p:nvCxnSpPr>
          <p:cNvPr id="16" name="flow-arrow"/>
          <p:cNvCxnSpPr/>
          <p:nvPr/>
        </p:nvCxnSpPr>
        <p:spPr>
          <a:xfrm>
            <a:off x="6144768" y="2651760"/>
            <a:ext cx="329184" cy="0"/>
          </a:xfrm>
          <a:prstGeom prst="line">
            <a:avLst/>
          </a:prstGeom>
          <a:ln w="25400">
            <a:solidFill>
              <a:srgbClr val="0B7F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08192" y="228600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194560"/>
            <a:ext cx="1508760" cy="914400"/>
          </a:xfrm>
          <a:prstGeom prst="roundRect">
            <a:avLst>
              <a:gd name="adj" fmla="val 14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-bg-bolt"/>
          <p:cNvSpPr/>
          <p:nvPr/>
        </p:nvSpPr>
        <p:spPr>
          <a:xfrm>
            <a:off x="6620255" y="245973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-bolt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906" y="2540386"/>
            <a:ext cx="222747" cy="2227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95743" y="2194560"/>
            <a:ext cx="7955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Fast result</a:t>
            </a:r>
          </a:p>
        </p:txBody>
      </p:sp>
      <p:cxnSp>
        <p:nvCxnSpPr>
          <p:cNvPr id="22" name="flow-arrow"/>
          <p:cNvCxnSpPr/>
          <p:nvPr/>
        </p:nvCxnSpPr>
        <p:spPr>
          <a:xfrm>
            <a:off x="5166360" y="3401568"/>
            <a:ext cx="0" cy="804672"/>
          </a:xfrm>
          <a:prstGeom prst="line">
            <a:avLst/>
          </a:prstGeom>
          <a:ln w="25400">
            <a:solidFill>
              <a:srgbClr val="B97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85232" y="361188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0B1F3A"/>
                </a:solidFill>
                <a:latin typeface="Calibri"/>
              </a:rPr>
              <a:t>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25196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on-bg-layers"/>
          <p:cNvSpPr/>
          <p:nvPr/>
        </p:nvSpPr>
        <p:spPr>
          <a:xfrm>
            <a:off x="4288536" y="4517136"/>
            <a:ext cx="384048" cy="384048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-layers" descr="lay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186" y="4597786"/>
            <a:ext cx="222747" cy="2227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4023" y="4251960"/>
            <a:ext cx="129844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Modern AI encoder</a:t>
            </a:r>
          </a:p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deeper analysis</a:t>
            </a:r>
          </a:p>
        </p:txBody>
      </p:sp>
      <p:cxnSp>
        <p:nvCxnSpPr>
          <p:cNvPr id="28" name="flow-arrow"/>
          <p:cNvCxnSpPr/>
          <p:nvPr/>
        </p:nvCxnSpPr>
        <p:spPr>
          <a:xfrm>
            <a:off x="6217920" y="4709160"/>
            <a:ext cx="256032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92240" y="4251960"/>
            <a:ext cx="1508760" cy="914400"/>
          </a:xfrm>
          <a:prstGeom prst="roundRect">
            <a:avLst>
              <a:gd name="adj" fmla="val 14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-bg-check"/>
          <p:cNvSpPr/>
          <p:nvPr/>
        </p:nvSpPr>
        <p:spPr>
          <a:xfrm>
            <a:off x="6620255" y="4517136"/>
            <a:ext cx="384048" cy="384048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con-check" descr="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906" y="4597786"/>
            <a:ext cx="222747" cy="22274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95743" y="4251960"/>
            <a:ext cx="79552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Final decision</a:t>
            </a:r>
          </a:p>
        </p:txBody>
      </p:sp>
      <p:sp>
        <p:nvSpPr>
          <p:cNvPr id="33" name="why-card"/>
          <p:cNvSpPr/>
          <p:nvPr/>
        </p:nvSpPr>
        <p:spPr>
          <a:xfrm>
            <a:off x="548640" y="3977639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14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Why LightGBM first?</a:t>
            </a:r>
          </a:p>
        </p:txBody>
      </p:sp>
      <p:sp>
        <p:nvSpPr>
          <p:cNvPr id="35" name="icon-bg-bolt"/>
          <p:cNvSpPr/>
          <p:nvPr/>
        </p:nvSpPr>
        <p:spPr>
          <a:xfrm>
            <a:off x="777240" y="4526280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-bolt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09" y="4599249"/>
            <a:ext cx="201533" cy="20153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80160" y="45262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Fast</a:t>
            </a:r>
          </a:p>
        </p:txBody>
      </p:sp>
      <p:sp>
        <p:nvSpPr>
          <p:cNvPr id="38" name="icon-bg-leaf"/>
          <p:cNvSpPr/>
          <p:nvPr/>
        </p:nvSpPr>
        <p:spPr>
          <a:xfrm>
            <a:off x="777240" y="5001768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icon-leaf" descr="lea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" y="5074737"/>
            <a:ext cx="201533" cy="20153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80160" y="500176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Lightweight</a:t>
            </a:r>
          </a:p>
        </p:txBody>
      </p:sp>
      <p:sp>
        <p:nvSpPr>
          <p:cNvPr id="41" name="icon-bg-grid"/>
          <p:cNvSpPr/>
          <p:nvPr/>
        </p:nvSpPr>
        <p:spPr>
          <a:xfrm>
            <a:off x="777240" y="5477256"/>
            <a:ext cx="347472" cy="347472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-grid" descr="gri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09" y="5550225"/>
            <a:ext cx="201533" cy="20153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80160" y="547725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3233A"/>
                </a:solidFill>
                <a:latin typeface="Calibri"/>
              </a:rPr>
              <a:t>Good for network-flow data</a:t>
            </a:r>
          </a:p>
        </p:txBody>
      </p:sp>
      <p:sp>
        <p:nvSpPr>
          <p:cNvPr id="44" name="case-card-0"/>
          <p:cNvSpPr/>
          <p:nvPr/>
        </p:nvSpPr>
        <p:spPr>
          <a:xfrm>
            <a:off x="8321040" y="1920240"/>
            <a:ext cx="331927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49640" y="212140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SIMPLE CASES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2514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3233A"/>
                </a:solidFill>
                <a:latin typeface="Cambria"/>
              </a:rPr>
              <a:t>LightGBM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1089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A6B80"/>
                </a:solidFill>
                <a:latin typeface="Calibri"/>
              </a:rPr>
              <a:t>Handles the easy flows quickly.</a:t>
            </a:r>
          </a:p>
        </p:txBody>
      </p:sp>
      <p:sp>
        <p:nvSpPr>
          <p:cNvPr id="48" name="case-card-1"/>
          <p:cNvSpPr/>
          <p:nvPr/>
        </p:nvSpPr>
        <p:spPr>
          <a:xfrm>
            <a:off x="8321040" y="4160520"/>
            <a:ext cx="331927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49640" y="436168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DIFFICULT CASES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754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3233A"/>
                </a:solidFill>
                <a:latin typeface="Cambria"/>
              </a:rPr>
              <a:t>Modern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3492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A6B80"/>
                </a:solidFill>
                <a:latin typeface="Calibri"/>
              </a:rPr>
              <a:t>Deeper analysis, only when LightGBM is unsure.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53" name="nav-1">
            <a:hlinkClick action="ppaction://hlinksldjump" r:id="rId8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54" name="nav-2">
            <a:hlinkClick action="ppaction://hlinksldjump" r:id="rId9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55" name="nav-3">
            <a:hlinkClick action="ppaction://hlinksldjump" r:id="rId10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56" name="nav-4">
            <a:hlinkClick action="ppaction://hlinksldjump" r:id="rId11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57" name="nav-5">
            <a:hlinkClick action="ppaction://hlinksldjump" r:id="rId12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58" name="nav-6">
            <a:hlinkClick action="ppaction://hlinksldjump" r:id="rId13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59" name="nav-7">
            <a:hlinkClick action="ppaction://hlinksldjump" r:id="rId14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0" name="nav-8">
            <a:hlinkClick action="ppaction://hlinksldjump" r:id="rId15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1" name="nav-9">
            <a:hlinkClick action="ppaction://hlinksldjump" r:id="rId16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2" name="nav-10">
            <a:hlinkClick action="ppaction://hlinksldjump" r:id="rId17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3" name="nav-11">
            <a:hlinkClick action="ppaction://hlinksldjump" r:id="rId18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4" name="nav-12">
            <a:hlinkClick action="ppaction://hlinksldjump" r:id="rId19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5" name="nav-13">
            <a:hlinkClick action="ppaction://hlinksldjump" r:id="rId20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685800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How Will We Prove It?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09  ·  THE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640080"/>
            <a:ext cx="3822191" cy="38404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1F3A"/>
                </a:solidFill>
                <a:latin typeface="Calibri"/>
              </a:rPr>
              <a:t>Results: to be measured — none claimed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-bg-flask"/>
          <p:cNvSpPr/>
          <p:nvPr/>
        </p:nvSpPr>
        <p:spPr>
          <a:xfrm>
            <a:off x="676656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-flask" descr="flas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1787652"/>
            <a:ext cx="265176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1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Reproduce the paper's LightGBM</a:t>
            </a:r>
          </a:p>
        </p:txBody>
      </p:sp>
      <p:cxnSp>
        <p:nvCxnSpPr>
          <p:cNvPr id="9" name="flow-arrow"/>
          <p:cNvCxnSpPr/>
          <p:nvPr/>
        </p:nvCxnSpPr>
        <p:spPr>
          <a:xfrm>
            <a:off x="3063240" y="1920240"/>
            <a:ext cx="313944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2904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on-bg-db"/>
          <p:cNvSpPr/>
          <p:nvPr/>
        </p:nvSpPr>
        <p:spPr>
          <a:xfrm>
            <a:off x="3550920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db" descr="d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932" y="1787652"/>
            <a:ext cx="265176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36136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2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Test on newer datasets</a:t>
            </a:r>
          </a:p>
        </p:txBody>
      </p:sp>
      <p:cxnSp>
        <p:nvCxnSpPr>
          <p:cNvPr id="14" name="flow-arrow"/>
          <p:cNvCxnSpPr/>
          <p:nvPr/>
        </p:nvCxnSpPr>
        <p:spPr>
          <a:xfrm>
            <a:off x="5937504" y="1920240"/>
            <a:ext cx="313944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97168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-bg-warning"/>
          <p:cNvSpPr/>
          <p:nvPr/>
        </p:nvSpPr>
        <p:spPr>
          <a:xfrm>
            <a:off x="6425184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-warning" descr="warn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196" y="1787652"/>
            <a:ext cx="265176" cy="265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400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3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Test different situations</a:t>
            </a:r>
          </a:p>
        </p:txBody>
      </p:sp>
      <p:cxnSp>
        <p:nvCxnSpPr>
          <p:cNvPr id="19" name="flow-arrow"/>
          <p:cNvCxnSpPr/>
          <p:nvPr/>
        </p:nvCxnSpPr>
        <p:spPr>
          <a:xfrm>
            <a:off x="8811768" y="1920240"/>
            <a:ext cx="313943" cy="0"/>
          </a:xfrm>
          <a:prstGeom prst="line">
            <a:avLst/>
          </a:prstGeom>
          <a:ln w="25400">
            <a:solidFill>
              <a:srgbClr val="5A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71432" y="14630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on-bg-bars"/>
          <p:cNvSpPr/>
          <p:nvPr/>
        </p:nvSpPr>
        <p:spPr>
          <a:xfrm>
            <a:off x="9299448" y="1691640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-bars" descr="ba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5460" y="1787652"/>
            <a:ext cx="265176" cy="2651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84663" y="1463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B5CAD"/>
                </a:solidFill>
                <a:latin typeface="Calibri"/>
              </a:rPr>
              <a:t>STEP 4</a:t>
            </a:r>
          </a:p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Compare three systems</a:t>
            </a:r>
          </a:p>
        </p:txBody>
      </p:sp>
      <p:graphicFrame>
        <p:nvGraphicFramePr>
          <p:cNvPr id="24" name="test-table"/>
          <p:cNvGraphicFramePr>
            <a:graphicFrameLocks noGrp="1"/>
          </p:cNvGraphicFramePr>
          <p:nvPr/>
        </p:nvGraphicFramePr>
        <p:xfrm>
          <a:off x="548640" y="2651760"/>
          <a:ext cx="667512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Question we answer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Same dataset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Reproduce it, and settle 1.00 vs 0.85?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New dataset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Does it generalize?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Different time period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Does it handle changing traffic?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New attack type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Can it detect unfamiliar attacks?</a:t>
                      </a:r>
                    </a:p>
                  </a:txBody>
                  <a:tcPr marL="109728" marR="73152" marT="27432" marB="27432" anchor="ctr">
                    <a:solidFill>
                      <a:srgbClr val="E6EE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3233A"/>
                          </a:solidFill>
                          <a:latin typeface="Calibri"/>
                        </a:rPr>
                        <a:t>Reduced features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3233A"/>
                          </a:solidFill>
                          <a:latin typeface="Calibri"/>
                        </a:rPr>
                        <a:t>How dependent is it on specific features?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compare-card"/>
          <p:cNvSpPr/>
          <p:nvPr/>
        </p:nvSpPr>
        <p:spPr>
          <a:xfrm>
            <a:off x="7498079" y="2651760"/>
            <a:ext cx="4142232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7889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5A6B80"/>
                </a:solidFill>
                <a:latin typeface="Calibri"/>
              </a:rPr>
              <a:t>COMPARE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090672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13233A"/>
                </a:solidFill>
                <a:latin typeface="Calibri"/>
              </a:rPr>
              <a:t>LightGBM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3090672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Modern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3090672"/>
            <a:ext cx="1097280" cy="566928"/>
          </a:xfrm>
          <a:prstGeom prst="roundRect">
            <a:avLst>
              <a:gd name="adj" fmla="val 50000"/>
            </a:avLst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Combined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913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5A6B80"/>
                </a:solidFill>
                <a:latin typeface="Calibri"/>
              </a:rPr>
              <a:t>MEASURE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2062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Accuracy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1" y="42062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Precision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0424" y="42062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Recall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681727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F1-score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551" y="4681727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False alarms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50424" y="4681727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13233A"/>
                </a:solidFill>
                <a:latin typeface="Calibri"/>
              </a:rPr>
              <a:t>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">
                <a:solidFill>
                  <a:srgbClr val="5A6B80"/>
                </a:solidFill>
                <a:latin typeface="Calibri"/>
              </a:rPr>
              <a:t>TECH STACK  ·  click to open docs</a:t>
            </a:r>
          </a:p>
        </p:txBody>
      </p:sp>
      <p:sp>
        <p:nvSpPr>
          <p:cNvPr id="38" name="Rounded Rectangle 37">
            <a:hlinkClick r:id="rId7"/>
          </p:cNvPr>
          <p:cNvSpPr/>
          <p:nvPr/>
        </p:nvSpPr>
        <p:spPr>
          <a:xfrm>
            <a:off x="548640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con-bg-code"/>
          <p:cNvSpPr/>
          <p:nvPr/>
        </p:nvSpPr>
        <p:spPr>
          <a:xfrm>
            <a:off x="640080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icon-code" descr="cod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68" y="5876300"/>
            <a:ext cx="180319" cy="18031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Python</a:t>
            </a:r>
          </a:p>
        </p:txBody>
      </p:sp>
      <p:sp>
        <p:nvSpPr>
          <p:cNvPr id="42" name="Rounded Rectangle 41">
            <a:hlinkClick r:id="rId9"/>
          </p:cNvPr>
          <p:cNvSpPr/>
          <p:nvPr/>
        </p:nvSpPr>
        <p:spPr>
          <a:xfrm>
            <a:off x="2153412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con-bg-grid"/>
          <p:cNvSpPr/>
          <p:nvPr/>
        </p:nvSpPr>
        <p:spPr>
          <a:xfrm>
            <a:off x="2244852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icon-grid" descr="gri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0140" y="5876300"/>
            <a:ext cx="180319" cy="18031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628900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pandas</a:t>
            </a:r>
          </a:p>
        </p:txBody>
      </p:sp>
      <p:sp>
        <p:nvSpPr>
          <p:cNvPr id="46" name="Rounded Rectangle 45">
            <a:hlinkClick r:id="rId11"/>
          </p:cNvPr>
          <p:cNvSpPr/>
          <p:nvPr/>
        </p:nvSpPr>
        <p:spPr>
          <a:xfrm>
            <a:off x="3758184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con-bg-scatter"/>
          <p:cNvSpPr/>
          <p:nvPr/>
        </p:nvSpPr>
        <p:spPr>
          <a:xfrm>
            <a:off x="3849624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icon-scatter" descr="scatter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4912" y="5876300"/>
            <a:ext cx="180319" cy="18031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33672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scikit-learn</a:t>
            </a:r>
          </a:p>
        </p:txBody>
      </p:sp>
      <p:sp>
        <p:nvSpPr>
          <p:cNvPr id="50" name="Rounded Rectangle 49">
            <a:hlinkClick r:id="rId13"/>
          </p:cNvPr>
          <p:cNvSpPr/>
          <p:nvPr/>
        </p:nvSpPr>
        <p:spPr>
          <a:xfrm>
            <a:off x="5362956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con-bg-leaf"/>
          <p:cNvSpPr/>
          <p:nvPr/>
        </p:nvSpPr>
        <p:spPr>
          <a:xfrm>
            <a:off x="5454396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icon-leaf" descr="leaf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9684" y="5876300"/>
            <a:ext cx="180319" cy="18031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38444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LightGBM</a:t>
            </a:r>
          </a:p>
        </p:txBody>
      </p:sp>
      <p:sp>
        <p:nvSpPr>
          <p:cNvPr id="54" name="Rounded Rectangle 53">
            <a:hlinkClick r:id="rId15"/>
          </p:cNvPr>
          <p:cNvSpPr/>
          <p:nvPr/>
        </p:nvSpPr>
        <p:spPr>
          <a:xfrm>
            <a:off x="6967728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con-bg-bolt"/>
          <p:cNvSpPr/>
          <p:nvPr/>
        </p:nvSpPr>
        <p:spPr>
          <a:xfrm>
            <a:off x="7059168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icon-bolt" descr="bolt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4456" y="5876300"/>
            <a:ext cx="180319" cy="18031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443216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XGBoost</a:t>
            </a:r>
          </a:p>
        </p:txBody>
      </p:sp>
      <p:sp>
        <p:nvSpPr>
          <p:cNvPr id="58" name="Rounded Rectangle 57">
            <a:hlinkClick r:id="rId17"/>
          </p:cNvPr>
          <p:cNvSpPr/>
          <p:nvPr/>
        </p:nvSpPr>
        <p:spPr>
          <a:xfrm>
            <a:off x="8572500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con-bg-flame"/>
          <p:cNvSpPr/>
          <p:nvPr/>
        </p:nvSpPr>
        <p:spPr>
          <a:xfrm>
            <a:off x="8663940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icon-flame" descr="flame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29228" y="5876300"/>
            <a:ext cx="180319" cy="18031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047988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PyTorch</a:t>
            </a:r>
          </a:p>
        </p:txBody>
      </p:sp>
      <p:sp>
        <p:nvSpPr>
          <p:cNvPr id="62" name="Rounded Rectangle 61">
            <a:hlinkClick r:id="rId19"/>
          </p:cNvPr>
          <p:cNvSpPr/>
          <p:nvPr/>
        </p:nvSpPr>
        <p:spPr>
          <a:xfrm>
            <a:off x="10177272" y="571500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icon-bg-smile"/>
          <p:cNvSpPr/>
          <p:nvPr/>
        </p:nvSpPr>
        <p:spPr>
          <a:xfrm>
            <a:off x="10268712" y="5811012"/>
            <a:ext cx="310896" cy="310896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icon-smile" descr="smile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34000" y="5876300"/>
            <a:ext cx="180319" cy="18031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652760" y="5715000"/>
            <a:ext cx="969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3233A"/>
                </a:solidFill>
                <a:latin typeface="Calibri"/>
              </a:rPr>
              <a:t>Hugging Face</a:t>
            </a:r>
          </a:p>
        </p:txBody>
      </p:sp>
      <p:sp>
        <p:nvSpPr>
          <p:cNvPr id="66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67" name="nav-1">
            <a:hlinkClick action="ppaction://hlinksldjump" r:id="rId20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68" name="nav-2">
            <a:hlinkClick action="ppaction://hlinksldjump" r:id="rId21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9" name="nav-3">
            <a:hlinkClick action="ppaction://hlinksldjump" r:id="rId22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70" name="nav-4">
            <a:hlinkClick action="ppaction://hlinksldjump" r:id="rId23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71" name="nav-5">
            <a:hlinkClick action="ppaction://hlinksldjump" r:id="rId24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72" name="nav-6">
            <a:hlinkClick action="ppaction://hlinksldjump" r:id="rId25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73" name="nav-7">
            <a:hlinkClick action="ppaction://hlinksldjump" r:id="rId26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74" name="nav-8">
            <a:hlinkClick action="ppaction://hlinksldjump" r:id="rId27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75" name="nav-9">
            <a:hlinkClick action="ppaction://hlinksldjump" r:id="rId28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6" name="nav-10">
            <a:hlinkClick action="ppaction://hlinksldjump" r:id="rId29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77" name="nav-11">
            <a:hlinkClick action="ppaction://hlinksldjump" r:id="rId30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78" name="nav-12">
            <a:hlinkClick action="ppaction://hlinksldjump" r:id="rId31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79" name="nav-13">
            <a:hlinkClick action="ppaction://hlinksldjump" r:id="rId32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From High Accuracy to Reliable Detection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F2A900"/>
                </a:solidFill>
                <a:latin typeface="Calibri"/>
              </a:rPr>
              <a:t>10  ·  THE GOAL</a:t>
            </a:r>
          </a:p>
        </p:txBody>
      </p:sp>
      <p:sp>
        <p:nvSpPr>
          <p:cNvPr id="4" name="goal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0" rIns="274320" bIns="0"/>
          <a:lstStyle/>
          <a:p>
            <a:pPr algn="l"/>
            <a:r>
              <a:rPr sz="2200" b="0" i="1">
                <a:solidFill>
                  <a:srgbClr val="FFFFFF"/>
                </a:solidFill>
                <a:latin typeface="Cambria"/>
              </a:rPr>
              <a:t>A network detector that knows when it is confident — and when it needs deeper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4206240" cy="315468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2A900"/>
                </a:solidFill>
                <a:latin typeface="Calibri"/>
              </a:rPr>
              <a:t>EXPECTED BENEFITS  (TO VALIDATE)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5755" y="2651760"/>
            <a:ext cx="3657600" cy="315468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5" y="2788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2A900"/>
                </a:solidFill>
                <a:latin typeface="Calibri"/>
              </a:rPr>
              <a:t>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4232" y="2651760"/>
            <a:ext cx="2926080" cy="3154680"/>
          </a:xfrm>
          <a:prstGeom prst="roundRect">
            <a:avLst>
              <a:gd name="adj" fmla="val 5000"/>
            </a:avLst>
          </a:prstGeom>
          <a:solidFill>
            <a:srgbClr val="13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2A900"/>
                </a:solidFill>
                <a:latin typeface="Calibri"/>
              </a:rPr>
              <a:t>FUTURE WORK</a:t>
            </a:r>
          </a:p>
        </p:txBody>
      </p:sp>
      <p:sp>
        <p:nvSpPr>
          <p:cNvPr id="11" name="icon-bg-check"/>
          <p:cNvSpPr/>
          <p:nvPr/>
        </p:nvSpPr>
        <p:spPr>
          <a:xfrm>
            <a:off x="822959" y="320040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3265688"/>
            <a:ext cx="180319" cy="1803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320040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Better performance on new traffic</a:t>
            </a:r>
          </a:p>
        </p:txBody>
      </p:sp>
      <p:sp>
        <p:nvSpPr>
          <p:cNvPr id="14" name="icon-bg-check"/>
          <p:cNvSpPr/>
          <p:nvPr/>
        </p:nvSpPr>
        <p:spPr>
          <a:xfrm>
            <a:off x="822959" y="370332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3768608"/>
            <a:ext cx="180319" cy="1803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370332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Fewer false alarms</a:t>
            </a:r>
          </a:p>
        </p:txBody>
      </p:sp>
      <p:sp>
        <p:nvSpPr>
          <p:cNvPr id="17" name="icon-bg-check"/>
          <p:cNvSpPr/>
          <p:nvPr/>
        </p:nvSpPr>
        <p:spPr>
          <a:xfrm>
            <a:off x="822959" y="420624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4271528"/>
            <a:ext cx="180319" cy="1803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80160" y="420624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Better handling of unfamiliar attacks</a:t>
            </a:r>
          </a:p>
        </p:txBody>
      </p:sp>
      <p:sp>
        <p:nvSpPr>
          <p:cNvPr id="20" name="icon-bg-check"/>
          <p:cNvSpPr/>
          <p:nvPr/>
        </p:nvSpPr>
        <p:spPr>
          <a:xfrm>
            <a:off x="822959" y="470916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4774448"/>
            <a:ext cx="180319" cy="1803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470916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Faster detection for normal cases</a:t>
            </a:r>
          </a:p>
        </p:txBody>
      </p:sp>
      <p:sp>
        <p:nvSpPr>
          <p:cNvPr id="23" name="icon-bg-check"/>
          <p:cNvSpPr/>
          <p:nvPr/>
        </p:nvSpPr>
        <p:spPr>
          <a:xfrm>
            <a:off x="822959" y="5212080"/>
            <a:ext cx="310896" cy="310896"/>
          </a:xfrm>
          <a:prstGeom prst="ellipse">
            <a:avLst/>
          </a:prstGeom>
          <a:solidFill>
            <a:srgbClr val="0B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-check" descr="che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48" y="5277368"/>
            <a:ext cx="180319" cy="1803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80160" y="521208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Deeper analysis only when necessary</a:t>
            </a:r>
          </a:p>
        </p:txBody>
      </p:sp>
      <p:sp>
        <p:nvSpPr>
          <p:cNvPr id="26" name="icon-bg-building"/>
          <p:cNvSpPr/>
          <p:nvPr/>
        </p:nvSpPr>
        <p:spPr>
          <a:xfrm>
            <a:off x="5180075" y="317296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-building" descr="build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885" y="3249777"/>
            <a:ext cx="212140" cy="2121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82995" y="31729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Enterprise networks</a:t>
            </a:r>
          </a:p>
        </p:txBody>
      </p:sp>
      <p:sp>
        <p:nvSpPr>
          <p:cNvPr id="29" name="icon-bg-server"/>
          <p:cNvSpPr/>
          <p:nvPr/>
        </p:nvSpPr>
        <p:spPr>
          <a:xfrm>
            <a:off x="5180075" y="367588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-server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885" y="3752697"/>
            <a:ext cx="212140" cy="2121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82995" y="36758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 centers</a:t>
            </a:r>
          </a:p>
        </p:txBody>
      </p:sp>
      <p:sp>
        <p:nvSpPr>
          <p:cNvPr id="32" name="icon-bg-cloud"/>
          <p:cNvSpPr/>
          <p:nvPr/>
        </p:nvSpPr>
        <p:spPr>
          <a:xfrm>
            <a:off x="5180075" y="417880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-cloud" descr="clou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885" y="4255617"/>
            <a:ext cx="212140" cy="2121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82995" y="41788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Cloud networks</a:t>
            </a:r>
          </a:p>
        </p:txBody>
      </p:sp>
      <p:sp>
        <p:nvSpPr>
          <p:cNvPr id="35" name="icon-bg-eye"/>
          <p:cNvSpPr/>
          <p:nvPr/>
        </p:nvSpPr>
        <p:spPr>
          <a:xfrm>
            <a:off x="5180075" y="468172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-eye" descr="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885" y="4758537"/>
            <a:ext cx="212140" cy="2121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82995" y="46817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Security monitoring</a:t>
            </a:r>
          </a:p>
        </p:txBody>
      </p:sp>
      <p:sp>
        <p:nvSpPr>
          <p:cNvPr id="38" name="icon-bg-wifi"/>
          <p:cNvSpPr/>
          <p:nvPr/>
        </p:nvSpPr>
        <p:spPr>
          <a:xfrm>
            <a:off x="5180075" y="5184648"/>
            <a:ext cx="365760" cy="365760"/>
          </a:xfrm>
          <a:prstGeom prst="ellipse">
            <a:avLst/>
          </a:prstGeom>
          <a:solidFill>
            <a:srgbClr val="2D7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icon-wifi" descr="wifi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885" y="5261457"/>
            <a:ext cx="212140" cy="2121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82995" y="5184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IoT environments</a:t>
            </a:r>
          </a:p>
        </p:txBody>
      </p:sp>
      <p:sp>
        <p:nvSpPr>
          <p:cNvPr id="41" name="Oval 40"/>
          <p:cNvSpPr/>
          <p:nvPr/>
        </p:nvSpPr>
        <p:spPr>
          <a:xfrm>
            <a:off x="9006840" y="331012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32004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Real-time deployment</a:t>
            </a:r>
          </a:p>
        </p:txBody>
      </p:sp>
      <p:sp>
        <p:nvSpPr>
          <p:cNvPr id="43" name="Oval 42"/>
          <p:cNvSpPr/>
          <p:nvPr/>
        </p:nvSpPr>
        <p:spPr>
          <a:xfrm>
            <a:off x="9006840" y="381304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62872" y="370332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More datasets</a:t>
            </a:r>
          </a:p>
        </p:txBody>
      </p:sp>
      <p:sp>
        <p:nvSpPr>
          <p:cNvPr id="45" name="Oval 44"/>
          <p:cNvSpPr/>
          <p:nvPr/>
        </p:nvSpPr>
        <p:spPr>
          <a:xfrm>
            <a:off x="9006840" y="431596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420624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Online learning</a:t>
            </a:r>
          </a:p>
        </p:txBody>
      </p:sp>
      <p:sp>
        <p:nvSpPr>
          <p:cNvPr id="47" name="Oval 46"/>
          <p:cNvSpPr/>
          <p:nvPr/>
        </p:nvSpPr>
        <p:spPr>
          <a:xfrm>
            <a:off x="9006840" y="4818888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2872" y="47091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Zero-day attack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mbria"/>
              </a:rPr>
              <a:t>Accuracy alone isn't enough.</a:t>
            </a:r>
          </a:p>
        </p:txBody>
      </p:sp>
      <p:sp>
        <p:nvSpPr>
          <p:cNvPr id="50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FB3CC"/>
                </a:solidFill>
                <a:latin typeface="Calibri"/>
              </a:rPr>
              <a:t>Beyond 100%  ·  Testing and Improving ML-Based Network Attack Detection</a:t>
            </a:r>
          </a:p>
        </p:txBody>
      </p:sp>
      <p:sp>
        <p:nvSpPr>
          <p:cNvPr id="51" name="nav-1">
            <a:hlinkClick action="ppaction://hlinksldjump" r:id="rId8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</a:t>
            </a:r>
          </a:p>
        </p:txBody>
      </p:sp>
      <p:sp>
        <p:nvSpPr>
          <p:cNvPr id="52" name="nav-2">
            <a:hlinkClick action="ppaction://hlinksldjump" r:id="rId9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2</a:t>
            </a:r>
          </a:p>
        </p:txBody>
      </p:sp>
      <p:sp>
        <p:nvSpPr>
          <p:cNvPr id="53" name="nav-3">
            <a:hlinkClick action="ppaction://hlinksldjump" r:id="rId10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3</a:t>
            </a:r>
          </a:p>
        </p:txBody>
      </p:sp>
      <p:sp>
        <p:nvSpPr>
          <p:cNvPr id="54" name="nav-4">
            <a:hlinkClick action="ppaction://hlinksldjump" r:id="rId11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4</a:t>
            </a:r>
          </a:p>
        </p:txBody>
      </p:sp>
      <p:sp>
        <p:nvSpPr>
          <p:cNvPr id="55" name="nav-5">
            <a:hlinkClick action="ppaction://hlinksldjump" r:id="rId12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5</a:t>
            </a:r>
          </a:p>
        </p:txBody>
      </p:sp>
      <p:sp>
        <p:nvSpPr>
          <p:cNvPr id="56" name="nav-6">
            <a:hlinkClick action="ppaction://hlinksldjump" r:id="rId13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6</a:t>
            </a:r>
          </a:p>
        </p:txBody>
      </p:sp>
      <p:sp>
        <p:nvSpPr>
          <p:cNvPr id="57" name="nav-7">
            <a:hlinkClick action="ppaction://hlinksldjump" r:id="rId14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7</a:t>
            </a:r>
          </a:p>
        </p:txBody>
      </p:sp>
      <p:sp>
        <p:nvSpPr>
          <p:cNvPr id="58" name="nav-8">
            <a:hlinkClick action="ppaction://hlinksldjump" r:id="rId15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8</a:t>
            </a:r>
          </a:p>
        </p:txBody>
      </p:sp>
      <p:sp>
        <p:nvSpPr>
          <p:cNvPr id="59" name="nav-9">
            <a:hlinkClick action="ppaction://hlinksldjump" r:id="rId16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9</a:t>
            </a:r>
          </a:p>
        </p:txBody>
      </p:sp>
      <p:sp>
        <p:nvSpPr>
          <p:cNvPr id="60" name="nav-10">
            <a:hlinkClick action="ppaction://hlinksldjump" r:id="rId17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61" name="nav-11">
            <a:hlinkClick action="ppaction://hlinksldjump" r:id="rId18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11</a:t>
            </a:r>
          </a:p>
        </p:txBody>
      </p:sp>
      <p:sp>
        <p:nvSpPr>
          <p:cNvPr id="62" name="nav-12">
            <a:hlinkClick action="ppaction://hlinksldjump" r:id="rId19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12</a:t>
            </a:r>
          </a:p>
        </p:txBody>
      </p:sp>
      <p:sp>
        <p:nvSpPr>
          <p:cNvPr id="63" name="nav-13">
            <a:hlinkClick action="ppaction://hlinksldjump" r:id="rId20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9FB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9FB3C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Paper's ROC Curves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APPENDIX A  ·  FIGS. 3, 7, 9, 13, 15</a:t>
            </a:r>
          </a:p>
        </p:txBody>
      </p:sp>
      <p:sp>
        <p:nvSpPr>
          <p:cNvPr id="4" name="Rounded Rectangle 3">
            <a:hlinkClick action="ppaction://hlinksldjump" r:id="rId9"/>
          </p:cNvPr>
          <p:cNvSpPr/>
          <p:nvPr/>
        </p:nvSpPr>
        <p:spPr>
          <a:xfrm>
            <a:off x="10058400" y="658368"/>
            <a:ext cx="158191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5CAD"/>
                </a:solidFill>
                <a:latin typeface="Calibri"/>
              </a:rPr>
              <a:t>‹ Back to slide 3</a:t>
            </a:r>
          </a:p>
        </p:txBody>
      </p:sp>
      <p:sp>
        <p:nvSpPr>
          <p:cNvPr id="5" name="figure-frame"/>
          <p:cNvSpPr/>
          <p:nvPr/>
        </p:nvSpPr>
        <p:spPr>
          <a:xfrm>
            <a:off x="548640" y="1463040"/>
            <a:ext cx="233172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per-figure" descr="Paper Fig. 3: ROC training and test curves of Isolation For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1595"/>
            <a:ext cx="2240279" cy="1465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91839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Isolation Forest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AUC 0.53 / 0.61  (train / test)</a:t>
            </a:r>
          </a:p>
        </p:txBody>
      </p:sp>
      <p:sp>
        <p:nvSpPr>
          <p:cNvPr id="8" name="figure-frame"/>
          <p:cNvSpPr/>
          <p:nvPr/>
        </p:nvSpPr>
        <p:spPr>
          <a:xfrm>
            <a:off x="3063240" y="1463040"/>
            <a:ext cx="233172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aper-figure" descr="Paper Fig. 7: ROC training and test curves of Naive Bay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529009"/>
            <a:ext cx="2240279" cy="1651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63240" y="3291839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Naive Bayes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AUC 0.97 / 0.90  (train / test)</a:t>
            </a:r>
          </a:p>
        </p:txBody>
      </p:sp>
      <p:sp>
        <p:nvSpPr>
          <p:cNvPr id="11" name="figure-frame"/>
          <p:cNvSpPr/>
          <p:nvPr/>
        </p:nvSpPr>
        <p:spPr>
          <a:xfrm>
            <a:off x="5577840" y="1463040"/>
            <a:ext cx="233172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aper-figure" descr="Paper Fig. 9: ROC training and test curves of XGBoo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29" y="1508760"/>
            <a:ext cx="2148940" cy="1691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7840" y="3291839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XGBoost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AUC 1.00 / 0.98  (train / test)</a:t>
            </a:r>
          </a:p>
        </p:txBody>
      </p:sp>
      <p:sp>
        <p:nvSpPr>
          <p:cNvPr id="14" name="figure-frame"/>
          <p:cNvSpPr/>
          <p:nvPr/>
        </p:nvSpPr>
        <p:spPr>
          <a:xfrm>
            <a:off x="548640" y="3886200"/>
            <a:ext cx="233172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aper-figure" descr="Paper Fig. 13: ROC training and test curves of LightGB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29" y="3931920"/>
            <a:ext cx="2148940" cy="1691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15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LightGBM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AUC 1.00 / 0.98  (train / test)</a:t>
            </a:r>
          </a:p>
        </p:txBody>
      </p:sp>
      <p:sp>
        <p:nvSpPr>
          <p:cNvPr id="17" name="figure-frame"/>
          <p:cNvSpPr/>
          <p:nvPr/>
        </p:nvSpPr>
        <p:spPr>
          <a:xfrm>
            <a:off x="3063240" y="3886200"/>
            <a:ext cx="233172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aper-figure" descr="Paper Fig. 15: ROC training and test curves of SV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29" y="3931920"/>
            <a:ext cx="2148940" cy="16916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63240" y="5715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SVM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AUC 1.00 / 0.98  (train / 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06908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Orange = train curve, green = test curve, dashed = chance.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63040"/>
            <a:ext cx="35478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600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5CAD"/>
                </a:solidFill>
                <a:latin typeface="Calibri"/>
              </a:rPr>
              <a:t>Good ranking, weaker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96596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XGBoost, LightGBM and SVM all reach test AUC 0.98, yet test accuracy is only 0.83–0.85. The ranking is good; the default threshold may not carry over. That is a calibration question.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749039"/>
            <a:ext cx="354787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886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5CAD"/>
                </a:solidFill>
                <a:latin typeface="Calibri"/>
              </a:rPr>
              <a:t>A curious 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51959"/>
            <a:ext cx="3200400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Isolation Forest's test AUC (0.61) is above its train AUC (0.53), while its test accuracy (0.40) is below train (0.50).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28" name="nav-1">
            <a:hlinkClick action="ppaction://hlinksldjump" r:id="rId7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29" name="nav-2">
            <a:hlinkClick action="ppaction://hlinksldjump" r:id="rId8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30" name="nav-3">
            <a:hlinkClick action="ppaction://hlinksldjump" r:id="rId9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31" name="nav-4">
            <a:hlinkClick action="ppaction://hlinksldjump" r:id="rId10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32" name="nav-5">
            <a:hlinkClick action="ppaction://hlinksldjump" r:id="rId11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33" name="nav-6">
            <a:hlinkClick action="ppaction://hlinksldjump" r:id="rId12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34" name="nav-7">
            <a:hlinkClick action="ppaction://hlinksldjump" r:id="rId13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35" name="nav-8">
            <a:hlinkClick action="ppaction://hlinksldjump" r:id="rId14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36" name="nav-9">
            <a:hlinkClick action="ppaction://hlinksldjump" r:id="rId15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37" name="nav-10">
            <a:hlinkClick action="ppaction://hlinksldjump" r:id="rId16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38" name="nav-11">
            <a:hlinkClick action="ppaction://hlinksldjump" r:id="rId17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9" name="nav-12">
            <a:hlinkClick action="ppaction://hlinksldjump" r:id="rId18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40" name="nav-13">
            <a:hlinkClick action="ppaction://hlinksldjump" r:id="rId19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Paper's Confusion Matrices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APPENDIX B  ·  FIGS. 4, 5, 10, 11, 16</a:t>
            </a:r>
          </a:p>
        </p:txBody>
      </p:sp>
      <p:sp>
        <p:nvSpPr>
          <p:cNvPr id="4" name="Rounded Rectangle 3">
            <a:hlinkClick action="ppaction://hlinksldjump" r:id="rId12"/>
          </p:cNvPr>
          <p:cNvSpPr/>
          <p:nvPr/>
        </p:nvSpPr>
        <p:spPr>
          <a:xfrm>
            <a:off x="10058400" y="658368"/>
            <a:ext cx="158191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5CAD"/>
                </a:solidFill>
                <a:latin typeface="Calibri"/>
              </a:rPr>
              <a:t>‹ Back to slide 5</a:t>
            </a:r>
          </a:p>
        </p:txBody>
      </p:sp>
      <p:sp>
        <p:nvSpPr>
          <p:cNvPr id="5" name="figure-frame"/>
          <p:cNvSpPr/>
          <p:nvPr/>
        </p:nvSpPr>
        <p:spPr>
          <a:xfrm>
            <a:off x="548640" y="1417320"/>
            <a:ext cx="2130552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per-figure" descr="Paper Fig. 4: confusion matrix of Isolation For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86610"/>
            <a:ext cx="2039112" cy="14273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429000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Isolation Forest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86,724 wrong</a:t>
            </a:r>
          </a:p>
        </p:txBody>
      </p:sp>
      <p:sp>
        <p:nvSpPr>
          <p:cNvPr id="8" name="figure-frame"/>
          <p:cNvSpPr/>
          <p:nvPr/>
        </p:nvSpPr>
        <p:spPr>
          <a:xfrm>
            <a:off x="2788920" y="1417320"/>
            <a:ext cx="2130552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aper-figure" descr="Paper Fig. 5: confusion matrix of Naive Bay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261" y="1463040"/>
            <a:ext cx="1941868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8920" y="3429000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Naive Bayes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22,762 wrong</a:t>
            </a:r>
          </a:p>
        </p:txBody>
      </p:sp>
      <p:sp>
        <p:nvSpPr>
          <p:cNvPr id="11" name="figure-frame"/>
          <p:cNvSpPr/>
          <p:nvPr/>
        </p:nvSpPr>
        <p:spPr>
          <a:xfrm>
            <a:off x="5029200" y="1417320"/>
            <a:ext cx="2130552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aper-figure" descr="Paper Fig. 10: confusion matrix of XGBoo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637" y="1463040"/>
            <a:ext cx="1915677" cy="1874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3429000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XGBoost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18,397 wrong</a:t>
            </a:r>
          </a:p>
        </p:txBody>
      </p:sp>
      <p:sp>
        <p:nvSpPr>
          <p:cNvPr id="14" name="figure-frame"/>
          <p:cNvSpPr/>
          <p:nvPr/>
        </p:nvSpPr>
        <p:spPr>
          <a:xfrm>
            <a:off x="7269480" y="1417320"/>
            <a:ext cx="2130552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aper-figure" descr="Paper Fig. 11: confusion matrix of LightGB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556" y="1463040"/>
            <a:ext cx="1808399" cy="18745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9480" y="3429000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LightGBM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17,137 wrong</a:t>
            </a:r>
          </a:p>
        </p:txBody>
      </p:sp>
      <p:sp>
        <p:nvSpPr>
          <p:cNvPr id="17" name="figure-frame"/>
          <p:cNvSpPr/>
          <p:nvPr/>
        </p:nvSpPr>
        <p:spPr>
          <a:xfrm>
            <a:off x="9509760" y="1417320"/>
            <a:ext cx="2130552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aper-figure" descr="Paper Fig. 16: confusion matrix of SV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7843" y="1463040"/>
            <a:ext cx="1934384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9760" y="3429000"/>
            <a:ext cx="2130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SVM</a:t>
            </a:r>
          </a:p>
          <a:p>
            <a:pPr algn="l"/>
            <a:r>
              <a:rPr sz="1200" b="0" i="0">
                <a:solidFill>
                  <a:srgbClr val="5A6B80"/>
                </a:solidFill>
                <a:latin typeface="Calibri"/>
              </a:rPr>
              <a:t>16,464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3233A"/>
                </a:solidFill>
                <a:latin typeface="Calibri"/>
              </a:rPr>
              <a:t>Share of normal flows raised as false alarms (computed from the matrices)</a:t>
            </a:r>
          </a:p>
        </p:txBody>
      </p:sp>
      <p:graphicFrame>
        <p:nvGraphicFramePr>
          <p:cNvPr id="21" name="chart" descr="False-alarm rate by model: 79%, 17%, 13%, 12%, 12%"/>
          <p:cNvGraphicFramePr>
            <a:graphicFrameLocks noGrp="1"/>
          </p:cNvGraphicFramePr>
          <p:nvPr/>
        </p:nvGraphicFramePr>
        <p:xfrm>
          <a:off x="548640" y="4297680"/>
          <a:ext cx="6766560" cy="19202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7635240" y="4114800"/>
            <a:ext cx="400507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25196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5CAD"/>
                </a:solidFill>
                <a:latin typeface="Calibri"/>
              </a:rPr>
              <a:t>Never reported. </a:t>
            </a:r>
            <a:r>
              <a:rPr sz="1400" b="0" i="0">
                <a:solidFill>
                  <a:srgbClr val="13233A"/>
                </a:solidFill>
                <a:latin typeface="Calibri"/>
              </a:rPr>
              <a:t>The paper calls false positives a significant problem (p.16146) but gives no false-alarm rate. From its own Fig. 11, LightGBM raises 7,036 false alarms on 58,630 normal flows (12%).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25" name="nav-1">
            <a:hlinkClick action="ppaction://hlinksldjump" r:id="rId8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26" name="nav-2">
            <a:hlinkClick action="ppaction://hlinksldjump" r:id="rId9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27" name="nav-3">
            <a:hlinkClick action="ppaction://hlinksldjump" r:id="rId10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28" name="nav-4">
            <a:hlinkClick action="ppaction://hlinksldjump" r:id="rId11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29" name="nav-5">
            <a:hlinkClick action="ppaction://hlinksldjump" r:id="rId12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30" name="nav-6">
            <a:hlinkClick action="ppaction://hlinksldjump" r:id="rId13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31" name="nav-7">
            <a:hlinkClick action="ppaction://hlinksldjump" r:id="rId14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32" name="nav-8">
            <a:hlinkClick action="ppaction://hlinksldjump" r:id="rId15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33" name="nav-9">
            <a:hlinkClick action="ppaction://hlinksldjump" r:id="rId16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34" name="nav-10">
            <a:hlinkClick action="ppaction://hlinksldjump" r:id="rId17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35" name="nav-11">
            <a:hlinkClick action="ppaction://hlinksldjump" r:id="rId18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36" name="nav-12">
            <a:hlinkClick action="ppaction://hlinksldjump" r:id="rId19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7" name="nav-13">
            <a:hlinkClick action="ppaction://hlinksldjump" r:id="rId20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731520"/>
          </a:xfrm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B1F3A"/>
                </a:solidFill>
                <a:latin typeface="Cambria"/>
              </a:rPr>
              <a:t>Paper's Comparison Charts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48640" y="3017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B5CAD"/>
                </a:solidFill>
                <a:latin typeface="Calibri"/>
              </a:rPr>
              <a:t>APPENDIX C  ·  FIGS. 17–18  ·  TABLES 6–8</a:t>
            </a:r>
          </a:p>
        </p:txBody>
      </p:sp>
      <p:sp>
        <p:nvSpPr>
          <p:cNvPr id="4" name="Rounded Rectangle 3">
            <a:hlinkClick action="ppaction://hlinksldjump" r:id="rId7"/>
          </p:cNvPr>
          <p:cNvSpPr/>
          <p:nvPr/>
        </p:nvSpPr>
        <p:spPr>
          <a:xfrm>
            <a:off x="10058400" y="658368"/>
            <a:ext cx="158191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0B5CAD"/>
                </a:solidFill>
                <a:latin typeface="Calibri"/>
              </a:rPr>
              <a:t>‹ Back to slide 4</a:t>
            </a:r>
          </a:p>
        </p:txBody>
      </p:sp>
      <p:sp>
        <p:nvSpPr>
          <p:cNvPr id="5" name="figure-frame"/>
          <p:cNvSpPr/>
          <p:nvPr/>
        </p:nvSpPr>
        <p:spPr>
          <a:xfrm>
            <a:off x="548640" y="1463040"/>
            <a:ext cx="54406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aper-figure" descr="Paper Fig. 17: accuracy, F1, recall and precision for the 7 mod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577865"/>
            <a:ext cx="5349240" cy="2604989"/>
          </a:xfrm>
          <a:prstGeom prst="rect">
            <a:avLst/>
          </a:prstGeom>
        </p:spPr>
      </p:pic>
      <p:sp>
        <p:nvSpPr>
          <p:cNvPr id="7" name="figure-frame"/>
          <p:cNvSpPr/>
          <p:nvPr/>
        </p:nvSpPr>
        <p:spPr>
          <a:xfrm>
            <a:off x="6199632" y="1463040"/>
            <a:ext cx="54406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aper-figure" descr="Paper Fig. 18: accuracy and F1 versus existing stud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66107"/>
            <a:ext cx="5349240" cy="2628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34340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Fig. 17: seven models, four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34340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33A"/>
                </a:solidFill>
                <a:latin typeface="Calibri"/>
              </a:rPr>
              <a:t>Fig. 18: versus existing studies (Halbouni et al., Xu et al.)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354482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64608"/>
            <a:ext cx="3179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5CAD"/>
                </a:solidFill>
                <a:latin typeface="Calibri"/>
              </a:rPr>
              <a:t>Table 6 · confidence 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17906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LightGBM test accuracy 100.0%, 95% CI [99.8, 100.0]. The interval is built on the disputed figure.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2064" y="4754880"/>
            <a:ext cx="354482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4944" y="4864608"/>
            <a:ext cx="3179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5CAD"/>
                </a:solidFill>
                <a:latin typeface="Calibri"/>
              </a:rPr>
              <a:t>Table 7 · p-values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4944" y="5212080"/>
            <a:ext cx="317906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LightGBM vs Logistic Regression and Random Forest: p &lt; 0.001 (paired t-tests on test accuracy).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4754880"/>
            <a:ext cx="354482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8367" y="4864608"/>
            <a:ext cx="3179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5CAD"/>
                </a:solidFill>
                <a:latin typeface="Calibri"/>
              </a:rPr>
              <a:t>Table 8 · other studies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367" y="5212080"/>
            <a:ext cx="317906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3233A"/>
                </a:solidFill>
                <a:latin typeface="Calibri"/>
              </a:rPr>
              <a:t>CNN-LSTM 99.09% and GRU 97.80% vs 'our' LightGBM 100.00% accuracy, but only 85.00% F1.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48640" y="64282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A6B80"/>
                </a:solidFill>
                <a:latin typeface="Calibri"/>
              </a:rPr>
              <a:t>Figures: S. Ness et al., IEEE Access 13 (2025), CC BY 4.0  ·  Beyond 100%</a:t>
            </a:r>
          </a:p>
        </p:txBody>
      </p:sp>
      <p:sp>
        <p:nvSpPr>
          <p:cNvPr id="21" name="nav-1">
            <a:hlinkClick action="ppaction://hlinksldjump" r:id="rId4"/>
          </p:cNvPr>
          <p:cNvSpPr/>
          <p:nvPr/>
        </p:nvSpPr>
        <p:spPr>
          <a:xfrm>
            <a:off x="788212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</a:t>
            </a:r>
          </a:p>
        </p:txBody>
      </p:sp>
      <p:sp>
        <p:nvSpPr>
          <p:cNvPr id="22" name="nav-2">
            <a:hlinkClick action="ppaction://hlinksldjump" r:id="rId5"/>
          </p:cNvPr>
          <p:cNvSpPr/>
          <p:nvPr/>
        </p:nvSpPr>
        <p:spPr>
          <a:xfrm>
            <a:off x="817473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23" name="nav-3">
            <a:hlinkClick action="ppaction://hlinksldjump" r:id="rId6"/>
          </p:cNvPr>
          <p:cNvSpPr/>
          <p:nvPr/>
        </p:nvSpPr>
        <p:spPr>
          <a:xfrm>
            <a:off x="846734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24" name="nav-4">
            <a:hlinkClick action="ppaction://hlinksldjump" r:id="rId7"/>
          </p:cNvPr>
          <p:cNvSpPr/>
          <p:nvPr/>
        </p:nvSpPr>
        <p:spPr>
          <a:xfrm>
            <a:off x="875995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25" name="nav-5">
            <a:hlinkClick action="ppaction://hlinksldjump" r:id="rId8"/>
          </p:cNvPr>
          <p:cNvSpPr/>
          <p:nvPr/>
        </p:nvSpPr>
        <p:spPr>
          <a:xfrm>
            <a:off x="905256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26" name="nav-6">
            <a:hlinkClick action="ppaction://hlinksldjump" r:id="rId9"/>
          </p:cNvPr>
          <p:cNvSpPr/>
          <p:nvPr/>
        </p:nvSpPr>
        <p:spPr>
          <a:xfrm>
            <a:off x="934516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27" name="nav-7">
            <a:hlinkClick action="ppaction://hlinksldjump" r:id="rId10"/>
          </p:cNvPr>
          <p:cNvSpPr/>
          <p:nvPr/>
        </p:nvSpPr>
        <p:spPr>
          <a:xfrm>
            <a:off x="963777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28" name="nav-8">
            <a:hlinkClick action="ppaction://hlinksldjump" r:id="rId11"/>
          </p:cNvPr>
          <p:cNvSpPr/>
          <p:nvPr/>
        </p:nvSpPr>
        <p:spPr>
          <a:xfrm>
            <a:off x="9930384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29" name="nav-9">
            <a:hlinkClick action="ppaction://hlinksldjump" r:id="rId12"/>
          </p:cNvPr>
          <p:cNvSpPr/>
          <p:nvPr/>
        </p:nvSpPr>
        <p:spPr>
          <a:xfrm>
            <a:off x="10222992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30" name="nav-10">
            <a:hlinkClick action="ppaction://hlinksldjump" r:id="rId13"/>
          </p:cNvPr>
          <p:cNvSpPr/>
          <p:nvPr/>
        </p:nvSpPr>
        <p:spPr>
          <a:xfrm>
            <a:off x="10515600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31" name="nav-11">
            <a:hlinkClick action="ppaction://hlinksldjump" r:id="rId14"/>
          </p:cNvPr>
          <p:cNvSpPr/>
          <p:nvPr/>
        </p:nvSpPr>
        <p:spPr>
          <a:xfrm>
            <a:off x="10808208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32" name="nav-12">
            <a:hlinkClick action="ppaction://hlinksldjump" r:id="rId15"/>
          </p:cNvPr>
          <p:cNvSpPr/>
          <p:nvPr/>
        </p:nvSpPr>
        <p:spPr>
          <a:xfrm>
            <a:off x="11100816" y="6400800"/>
            <a:ext cx="246888" cy="246888"/>
          </a:xfrm>
          <a:prstGeom prst="ellipse">
            <a:avLst/>
          </a:prstGeom>
          <a:noFill/>
          <a:ln w="12700">
            <a:solidFill>
              <a:srgbClr val="5A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33" name="nav-13">
            <a:hlinkClick action="ppaction://hlinksldjump" r:id="rId16"/>
          </p:cNvPr>
          <p:cNvSpPr/>
          <p:nvPr/>
        </p:nvSpPr>
        <p:spPr>
          <a:xfrm>
            <a:off x="11393424" y="6400800"/>
            <a:ext cx="246888" cy="24688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100% - Testing and Improving ML-Based Network Attack Detection</dc:title>
  <dc:subject>Audit of Ness et al. (IEEE Access 2025) and research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